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309" autoAdjust="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51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652760" y="502920"/>
            <a:ext cx="868680" cy="201168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921240" y="804672"/>
            <a:ext cx="1600200" cy="10972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731520"/>
            <a:ext cx="7315200" cy="41148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РО 4.3. Интегрировать серверные приложения с реляционными базами данных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9784080" cy="15087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600" b="1" i="0">
                <a:solidFill>
                  <a:srgbClr val="172033"/>
                </a:solidFill>
                <a:latin typeface="Aptos"/>
              </a:rPr>
              <a:t>Проектирование реляционной базы данных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926080"/>
            <a:ext cx="93268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От предметной области интернет-магазина к таблицам, ключам и ограничениям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Проектирование реляционной базы данных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Результаты занятия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435608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408176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Выделять сущности предметной области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2066544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039112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Определять атрибуты сущностей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2697479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670048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Преобразовывать сущности в таблицы PostgreSQL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3328416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300984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Выбирать подходящие типы данных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8" y="1435608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1408176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Использовать PRIMARY KEY, NOT NULL, UNIQUE и CHECK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2066544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2039112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Объяснять назначение FOREIGN KEY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6208" y="2697479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670048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Уменьшать дублирование данных через разделение таблиц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8" y="3328416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3300984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Проектировать базовую схему базы данных интернет-магазина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Проектирование реляционной базы данных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Учебные вопросы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04672" y="1408176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335024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От предметной области к сущностям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51960" y="1316736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Что хранит приложение и какие объекты нужно представить в базе данных</a:t>
            </a:r>
          </a:p>
        </p:txBody>
      </p:sp>
      <p:sp>
        <p:nvSpPr>
          <p:cNvPr id="8" name="Oval 7"/>
          <p:cNvSpPr/>
          <p:nvPr/>
        </p:nvSpPr>
        <p:spPr>
          <a:xfrm>
            <a:off x="804672" y="2392070"/>
            <a:ext cx="420624" cy="420624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318918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Таблицы, столбцы и типы данных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2300630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Как представить свойства сущности средствами PostgreSQL</a:t>
            </a:r>
          </a:p>
        </p:txBody>
      </p:sp>
      <p:sp>
        <p:nvSpPr>
          <p:cNvPr id="11" name="Oval 10"/>
          <p:cNvSpPr/>
          <p:nvPr/>
        </p:nvSpPr>
        <p:spPr>
          <a:xfrm>
            <a:off x="804672" y="3375964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302812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Ключи и ограничения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3284524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PRIMARY KEY, FOREIGN KEY, NOT NULL, UNIQUE и CHECK</a:t>
            </a:r>
          </a:p>
        </p:txBody>
      </p:sp>
      <p:sp>
        <p:nvSpPr>
          <p:cNvPr id="14" name="Oval 13"/>
          <p:cNvSpPr/>
          <p:nvPr/>
        </p:nvSpPr>
        <p:spPr>
          <a:xfrm>
            <a:off x="804672" y="4359859"/>
            <a:ext cx="420624" cy="420624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286707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Устранение дублирования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4268419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Почему повторяющиеся данные следует выносить в отдельные таблицы</a:t>
            </a:r>
          </a:p>
        </p:txBody>
      </p:sp>
      <p:sp>
        <p:nvSpPr>
          <p:cNvPr id="17" name="Oval 16"/>
          <p:cNvSpPr/>
          <p:nvPr/>
        </p:nvSpPr>
        <p:spPr>
          <a:xfrm>
            <a:off x="804672" y="5343753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5270601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Проектирование схемы Internet Shop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60" y="5252313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Пошаговый алгоритм создания структуры базы данных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Проектирование реляционной базы данных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033"/>
                </a:solidFill>
                <a:latin typeface="Aptos"/>
              </a:rPr>
              <a:t>Учебный вопрос 1. От предметной области к сущностям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Сначала определяем, какие данные нужны приложению, и только потом создаём таблицы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Проектирование реляционной базы данных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Что такое предметная область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Предметная область — часть реального мира, информацию о которой должно хранить и обрабатывать приложение.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Для интернет-магазина предметная область включает товары, категории, покупателей и заказы.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Каждый объект имеет собственные свойства.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Некоторые объекты связаны друг с другом.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Проектирование базы начинается с анализа этих объектов и правил работы приложения.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Названия таблиц не следует придумывать раньше, чем понятен смысл хранимых данных.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Проектирование реляционной базы данных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Что такое сущность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Сущность — тип объекта предметной области, экземпляры которого необходимо хранить в базе данных.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Product — товар интернет-магазина.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Category — категория товаров.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User — пользователь или покупатель.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Order — заказ.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Каждая сущность обычно становится отдельной таблицей.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Проектирование реляционной базы данных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Сущности Internet Shop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353312"/>
            <a:ext cx="5248655" cy="146913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50976" y="1554480"/>
            <a:ext cx="256032" cy="25603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98448" y="1481328"/>
            <a:ext cx="4517136" cy="420624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Product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" y="2066543"/>
            <a:ext cx="4809744" cy="573024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Товар: название, цена, наличие и категория.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1" y="1353312"/>
            <a:ext cx="5248655" cy="146913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400799" y="1554480"/>
            <a:ext cx="256032" cy="25603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748271" y="1481328"/>
            <a:ext cx="4517136" cy="420624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Category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066543"/>
            <a:ext cx="4809744" cy="573024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Категория, к которой относится товар.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3041904"/>
            <a:ext cx="5248655" cy="146913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950976" y="3243072"/>
            <a:ext cx="256032" cy="256032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98448" y="3169920"/>
            <a:ext cx="4517136" cy="420624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User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" y="3755136"/>
            <a:ext cx="4809744" cy="573024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Пользователь приложения: имя, email и другие данные.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1" y="3041904"/>
            <a:ext cx="5248655" cy="146913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400799" y="3243072"/>
            <a:ext cx="256032" cy="25603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748271" y="3169920"/>
            <a:ext cx="4517136" cy="420624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Order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3755136"/>
            <a:ext cx="4809744" cy="573024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Заказ, созданный пользователем.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8" y="4730496"/>
            <a:ext cx="5248655" cy="146913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950976" y="4931664"/>
            <a:ext cx="256032" cy="25603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298448" y="4858512"/>
            <a:ext cx="4517136" cy="420624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Order Item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" y="5443728"/>
            <a:ext cx="4809744" cy="573024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Позиция заказа: товар, количество и цена.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Проектирование реляционной базы данных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От предметной области к сущностям базы данных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3C46EB5-0D50-7E7E-6DC3-71E2E50074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Что такое атрибут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Атрибут — характеристика сущности, значение которой необходимо хранить.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Для Product атрибутами могут быть name, price и inStock.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Для Category нужен атрибут name.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Для User могут использоваться name и email.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Каждый атрибут обычно становится столбцом таблицы.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Не следует добавлять столбец, если приложение не понимает его назначение.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Проектирование реляционной базы данных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Сущности и их атрибуты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49808" y="1417320"/>
          <a:ext cx="10680192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00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400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Сущность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Возможные атрибуты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Product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id, name, price, in_stock, category_id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Category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id, name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User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id, name, email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Order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id, user_id, status, created_at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Order Item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order_id, product_id, quantity, price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Проектирование реляционной базы данных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Сущность и атрибут — не одно и то же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353312"/>
            <a:ext cx="5248655" cy="4864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5248655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50976" y="1517904"/>
            <a:ext cx="4846319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Сущность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76272"/>
            <a:ext cx="4919471" cy="38587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Самостоятельный объект предметной области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Имеет собственные экземпляры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Обычно становится таблицей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Пример: Category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1" y="1353312"/>
            <a:ext cx="5248655" cy="4864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99631" y="1353312"/>
            <a:ext cx="5248655" cy="6400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799" y="1517904"/>
            <a:ext cx="4846319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Атрибут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4223" y="2176272"/>
            <a:ext cx="4919471" cy="38587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Свойство сущности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Описывает один экземпляр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Обычно становится столбцом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Пример: category.name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Проектирование реляционной базы данных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033"/>
                </a:solidFill>
                <a:latin typeface="Aptos"/>
              </a:rPr>
              <a:t>Учебный вопрос 2. Таблицы, столбцы и типы данных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Переводим модель предметной области в структуру PostgreSQL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Проектирование реляционной базы данных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Сущность превращается в таблицу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Таблица хранит множество экземпляров одной сущности.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Каждая строка представляет один объект.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Каждый столбец представляет один атрибут.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Структура таблицы определяется командой CREATE TABLE.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Для каждого столбца необходимо выбрать имя и тип данных.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Проектирование реляционной базы данных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Сущность → таблица → строка → столбец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01046E7-41EE-9631-D320-1DE9E500A3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Типы данных для Internet Shop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49808" y="1417320"/>
          <a:ext cx="10680192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00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0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00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Тип PostgreSQL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Что хранить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Пример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INTEGER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Целые числа, id, цена в целых тенге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45000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VARCHAR(n)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Строки ограниченной длины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Keyboard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TEXT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Текст без заранее заданной длины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Описание товара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BOOLEAN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Логические значения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true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TIMESTAMPTZ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Дата и время события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Время создания заказа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Проектирование реляционной базы данных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Как выбирать тип данных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Тип должен соответствовать смыслу значения.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id удобно хранить как INTEGER identity.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Логическое состояние следует хранить BOOLEAN, а не строками yes/no.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Цена в текущем учебном проекте хранится как INTEGER в тенге.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Если приложение требует дробные денежные значения, можно использовать NUMERIC.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Дата и время должны храниться специальным типом, а не произвольной строкой.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Проектирование реляционной базы данных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Удачный и неудачный выбор типов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353312"/>
            <a:ext cx="5248655" cy="4864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5248655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50976" y="1517904"/>
            <a:ext cx="4846319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Неудачно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76272"/>
            <a:ext cx="4919471" cy="38587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price VARCHAR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in_stock VARCHAR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created_at VARCHAR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Все данные хранятся как строки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Сложнее проверять и обрабатывать значения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1" y="1353312"/>
            <a:ext cx="5248655" cy="4864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99631" y="1353312"/>
            <a:ext cx="5248655" cy="6400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799" y="1517904"/>
            <a:ext cx="4846319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Лучше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4223" y="2176272"/>
            <a:ext cx="4919471" cy="38587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price INTEGER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in_stock BOOLEAN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created_at TIMESTAMPTZ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Тип отражает смысл значения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PostgreSQL помогает контролировать данные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Проектирование реляционной базы данных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Соглашения об именовании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Имена таблиц и столбцов должны быть понятными и последовательными.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В PostgreSQL удобно использовать нижний регистр и snake_case.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Например: category_id, in_stock, created_at.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Одинаковые понятия должны называться одинаково во всей схеме.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Не следует использовать непонятные сокращения вроде catid или prodnm.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Проектирование реляционной базы данных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Первая таблица categories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lang="en-US" sz="1800" b="1" i="0" dirty="0">
                <a:solidFill>
                  <a:srgbClr val="14B8A6"/>
                </a:solidFill>
                <a:latin typeface="Consolas"/>
              </a:rPr>
              <a:t>SQL</a:t>
            </a:r>
            <a:endParaRPr sz="1800" b="1" i="0" dirty="0">
              <a:solidFill>
                <a:srgbClr val="14B8A6"/>
              </a:solidFill>
              <a:latin typeface="Consolas"/>
            </a:endParaRPr>
          </a:p>
          <a:p>
            <a:pPr algn="l">
              <a:lnSpc>
                <a:spcPct val="88000"/>
              </a:lnSpc>
            </a:pPr>
            <a:r>
              <a:rPr sz="1800" b="0" i="0" dirty="0">
                <a:solidFill>
                  <a:srgbClr val="F8FAFC"/>
                </a:solidFill>
                <a:latin typeface="Consolas"/>
              </a:rPr>
              <a:t>CREATE TABLE categories (
  id INTEGER GENERATED ALWAYS AS IDENTITY PRIMARY KEY,
  name VARCHAR(100) NOT NULL UNIQUE
);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Каждая категория получает собственный id.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name обязательно должно быть заполнено.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UNIQUE запрещает две категории с одинаковым названием.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Таблица хранит категории независимо от товаров.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Проектирование реляционной базы данных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033"/>
                </a:solidFill>
                <a:latin typeface="Aptos"/>
              </a:rPr>
              <a:t>Учебный вопрос 3. Ключи и ограничения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База данных должна сама защищать важные правила целостности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Проектирование реляционной базы данных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Первичный ключ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PRIMARY KEY — столбец или набор столбцов, однозначно идентифицирующий каждую строку таблицы.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Значение первичного ключа должно быть уникальным.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PRIMARY KEY не допускает NULL.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Через id приложение может обратиться к конкретной строке.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Другие таблицы могут ссылаться на первичный ключ.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В нашем проекте большинство таблиц получает числовой id.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Проектирование реляционной базы данных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Естественный и искусственный идентификатор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353312"/>
            <a:ext cx="5248655" cy="4864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5248655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50976" y="1517904"/>
            <a:ext cx="4846319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Естественный ключ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76272"/>
            <a:ext cx="4919471" cy="38587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Использует существующее бизнес-значение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Например, email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Значение может измениться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Может быть длинным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1" y="1353312"/>
            <a:ext cx="5248655" cy="4864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99631" y="1353312"/>
            <a:ext cx="5248655" cy="6400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799" y="1517904"/>
            <a:ext cx="4846319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Искусственный 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4223" y="2176272"/>
            <a:ext cx="4919471" cy="38587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Создаётся специально для идентификации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Не зависит от бизнес-значения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Удобен для внешних ключей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В проекте используем INTEGER identity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Проектирование реляционной базы данных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Основные ограничения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49808" y="1417320"/>
          <a:ext cx="10680192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00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400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Ограничение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Что гарантирует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PRIMARY KEY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Строка имеет уникальный идентификатор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NOT NULL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Значение обязательно присутствует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UNIQUE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Значение или комбинация значений не повторяется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CHECK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Значение соответствует заданному условию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FOREIGN KEY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Ссылка указывает на существующую строку другой таблицы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Проектирование реляционной базы данных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Ограничения защищают Product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 dirty="0">
                <a:solidFill>
                  <a:srgbClr val="14B8A6"/>
                </a:solidFill>
                <a:latin typeface="Consolas"/>
              </a:rPr>
              <a:t>SQL</a:t>
            </a:r>
          </a:p>
          <a:p>
            <a:pPr algn="l">
              <a:lnSpc>
                <a:spcPct val="88000"/>
              </a:lnSpc>
            </a:pPr>
            <a:r>
              <a:rPr sz="1800" b="0" i="0" dirty="0">
                <a:solidFill>
                  <a:srgbClr val="F8FAFC"/>
                </a:solidFill>
                <a:latin typeface="Consolas"/>
              </a:rPr>
              <a:t>CREATE TABLE products (
  id INTEGER GENERATED ALWAYS AS IDENTITY PRIMARY KEY,
  name VARCHAR(150) NOT NULL,
  price INTEGER NOT NULL CHECK (price &gt; 0),
  </a:t>
            </a:r>
            <a:r>
              <a:rPr sz="1800" b="0" i="0" dirty="0" err="1">
                <a:solidFill>
                  <a:srgbClr val="F8FAFC"/>
                </a:solidFill>
                <a:latin typeface="Consolas"/>
              </a:rPr>
              <a:t>in_stock</a:t>
            </a:r>
            <a:r>
              <a:rPr sz="1800" b="0" i="0" dirty="0">
                <a:solidFill>
                  <a:srgbClr val="F8FAFC"/>
                </a:solidFill>
                <a:latin typeface="Consolas"/>
              </a:rPr>
              <a:t> BOOLEAN NOT NULL DEFAULT true
);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PRIMARY KEY гарантирует уникальный id.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NOT NULL запрещает отсутствие name и price.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CHECK не позволяет сохранить неположительную цену.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DEFAULT true задаёт значение наличия по умолчанию.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Правила действуют независимо от того, какое приложение выполняет INSERT.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Проектирование реляционной базы данных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Что такое внешний ключ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FOREIGN KEY — ограничение, которое связывает значение столбца одной таблицы с существующей строкой другой таблицы.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В products можно хранить category_id.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category_id должен ссылаться на существующую category.id.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PostgreSQL не позволит сослаться на несуществующую категорию.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Внешний ключ поддерживает ссылочную целостность.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Подробно типы связей между таблицами рассмотрим в следующей лекции.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Проектирование реляционной базы данных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Связываем Product с Category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B8A6"/>
                </a:solidFill>
                <a:latin typeface="Consolas"/>
              </a:rPr>
              <a:t>SQL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CREATE TABLE products (
  id INTEGER GENERATED ALWAYS AS IDENTITY PRIMARY KEY,
  name VARCHAR(150) NOT NULL,
  price INTEGER NOT NULL CHECK (price &gt; 0),
  category_id INTEGER NOT NULL REFERENCES categories(id),
  in_stock BOOLEAN NOT NULL DEFAULT true
);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category_id хранит числовой идентификатор категории.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REFERENCES categories(id) создаёт внешний ключ.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Каждый ненулевой category_id должен существовать в categories.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Название категории больше не требуется повторять в каждой строке products.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Проектирование реляционной базы данных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PRIMARY KEY и FOREIGN KEY связывают таблицы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AE6996B-B79C-30DF-45C2-62B3AE2028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PostgreSQL защищает ссылочную целостность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80192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371600"/>
            <a:ext cx="10195560" cy="31089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Запрос: Добавить товар с category_id = 999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956816"/>
            <a:ext cx="6446520" cy="429768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09728" bIns="91440" rtlCol="0" anchor="ctr"/>
          <a:lstStyle/>
          <a:p>
            <a:pPr algn="ctr">
              <a:spcAft>
                <a:spcPts val="500"/>
              </a:spcAft>
            </a:pPr>
            <a:r>
              <a:rPr sz="1800" b="1" i="0">
                <a:solidFill>
                  <a:srgbClr val="14B8A6"/>
                </a:solidFill>
                <a:latin typeface="Consolas"/>
              </a:rPr>
              <a:t>Код • SQL</a:t>
            </a:r>
          </a:p>
          <a:p>
            <a:pPr>
              <a:lnSpc>
                <a:spcPct val="100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INSERT INTO products
  (name, price, category_id, in_stock)
VALUES
  ('SSD 2TB', 65000, 999, true);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1956816"/>
            <a:ext cx="4023360" cy="150876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09728" bIns="91440" rtlCol="0" anchor="ctr"/>
          <a:lstStyle/>
          <a:p>
            <a:pPr algn="ctr">
              <a:spcAft>
                <a:spcPts val="500"/>
              </a:spcAft>
            </a:pPr>
            <a:r>
              <a:rPr sz="1800" b="1" i="0">
                <a:solidFill>
                  <a:srgbClr val="14B8A6"/>
                </a:solidFill>
                <a:latin typeface="Consolas"/>
              </a:rPr>
              <a:t>Результат • TEXT</a:t>
            </a:r>
          </a:p>
          <a:p>
            <a:pPr>
              <a:lnSpc>
                <a:spcPct val="100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ERROR: insert or update on table products violates foreign key constraint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3666744"/>
            <a:ext cx="4023360" cy="25877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89519" y="3794759"/>
            <a:ext cx="3657600" cy="34747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1" i="0">
                <a:solidFill>
                  <a:srgbClr val="14B8A6"/>
                </a:solidFill>
                <a:latin typeface="Aptos"/>
              </a:rPr>
              <a:t>Пояснение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52944" y="4251959"/>
            <a:ext cx="3730752" cy="189280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Если категории 999 нет в categories, PostgreSQL отклоняет вставку и не создаёт некорректную ссылку.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Проектирование реляционной базы данных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Где должны проверяться правила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353312"/>
            <a:ext cx="6995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Frontend может проверять форму для удобства пользователя.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Validation middleware проверяет HTTP-запрос до Controller.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Service выполняет бизнес-операции.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PostgreSQL дополнительно защищает данные ограничениями таблицы.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Критичные правила целостности нельзя оставлять только на уровне frontend.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28431" y="1490472"/>
            <a:ext cx="3337560" cy="187451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2563EB"/>
                </a:solidFill>
                <a:latin typeface="Aptos"/>
              </a:rPr>
              <a:t>Главная идея</a:t>
            </a:r>
          </a:p>
          <a:p>
            <a:pPr>
              <a:spcBef>
                <a:spcPts val="600"/>
              </a:spcBef>
            </a:pPr>
            <a:r>
              <a:rPr sz="1800" b="1" i="0">
                <a:solidFill>
                  <a:srgbClr val="172033"/>
                </a:solidFill>
                <a:latin typeface="Aptos"/>
              </a:rPr>
              <a:t>Валидация приложения и ограничения базы дополняют друг друга, а не заменяют друг друга.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Проектирование реляционной базы данных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033"/>
                </a:solidFill>
                <a:latin typeface="Aptos"/>
              </a:rPr>
              <a:t>Учебный вопрос 4. Устранение дублирования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Повторяющиеся данные приводят к несогласованности и усложняют изменения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Проектирование реляционной базы данных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Проблема текущей таблицы products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49808" y="1417320"/>
          <a:ext cx="10680192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00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700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700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700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id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name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price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category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Keyboard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15000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Accessories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Mouse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8000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Accessories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Web Camera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22000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Accessories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32688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4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Monitor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85000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Monitors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Проектирование реляционной базы данных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Почему повторение category неудобно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Название Accessories повторяется во многих строках.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Можно случайно получить Accessories, Accessory и accessories.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Переименование категории потребует изменения множества товаров.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Нельзя удобно хранить дополнительные свойства категории.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Одни и те же данные занимают место во многих строках.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Проектирование реляционной базы данных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Категория строкой и отдельная таблица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353312"/>
            <a:ext cx="5248655" cy="4864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5248655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50976" y="1517904"/>
            <a:ext cx="4846319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category VARCHAR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76272"/>
            <a:ext cx="4919471" cy="38587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Название повторяется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Возможны разные варианты написания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Сложнее переименовать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Нет единого объекта Category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Дополнительные свойства хранить неудобно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1" y="1353312"/>
            <a:ext cx="5248655" cy="4864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99631" y="1353312"/>
            <a:ext cx="5248655" cy="6400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799" y="1517904"/>
            <a:ext cx="4846319" cy="5029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category_id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4223" y="2176272"/>
            <a:ext cx="4919471" cy="38587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Категория хранится один раз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Товар хранит только ссылку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Название меняется в одном месте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PostgreSQL проверяет ссылку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000" b="1" i="0">
                <a:solidFill>
                  <a:srgbClr val="14B8A6"/>
                </a:solidFill>
                <a:latin typeface="Aptos"/>
              </a:rPr>
              <a:t>• </a:t>
            </a:r>
            <a:r>
              <a:rPr sz="2000" b="0" i="0">
                <a:solidFill>
                  <a:srgbClr val="172033"/>
                </a:solidFill>
                <a:latin typeface="Aptos"/>
              </a:rPr>
              <a:t>Category можно расширять новыми полями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Проектирование реляционной базы данных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Как разделить Product и Category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04672" y="1408176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335024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Выделить сущность Category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51960" y="1316736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Категория является самостоятельным объектом и получает таблицу categories.</a:t>
            </a:r>
          </a:p>
        </p:txBody>
      </p:sp>
      <p:sp>
        <p:nvSpPr>
          <p:cNvPr id="8" name="Oval 7"/>
          <p:cNvSpPr/>
          <p:nvPr/>
        </p:nvSpPr>
        <p:spPr>
          <a:xfrm>
            <a:off x="804672" y="2392070"/>
            <a:ext cx="420624" cy="420624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318918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Создать category.id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2300630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Каждая категория получает уникальный первичный ключ.</a:t>
            </a:r>
          </a:p>
        </p:txBody>
      </p:sp>
      <p:sp>
        <p:nvSpPr>
          <p:cNvPr id="11" name="Oval 10"/>
          <p:cNvSpPr/>
          <p:nvPr/>
        </p:nvSpPr>
        <p:spPr>
          <a:xfrm>
            <a:off x="804672" y="3375964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302812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Хранить название в categories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3284524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Название категории больше не повторяется в каждой строке products.</a:t>
            </a:r>
          </a:p>
        </p:txBody>
      </p:sp>
      <p:sp>
        <p:nvSpPr>
          <p:cNvPr id="14" name="Oval 13"/>
          <p:cNvSpPr/>
          <p:nvPr/>
        </p:nvSpPr>
        <p:spPr>
          <a:xfrm>
            <a:off x="804672" y="4359859"/>
            <a:ext cx="420624" cy="420624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286707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Добавить products.category_id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4268419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Product хранит идентификатор категории вместо её названия.</a:t>
            </a:r>
          </a:p>
        </p:txBody>
      </p:sp>
      <p:sp>
        <p:nvSpPr>
          <p:cNvPr id="17" name="Oval 16"/>
          <p:cNvSpPr/>
          <p:nvPr/>
        </p:nvSpPr>
        <p:spPr>
          <a:xfrm>
            <a:off x="804672" y="5343753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5270601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Создать FOREIGN KEY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60" y="5252313"/>
            <a:ext cx="6995160" cy="947318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category_id связывается с categories.id и контролируется PostgreSQL.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Проектирование реляционной базы данных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От дублирования category к таблице categories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79D6F60-9595-B17C-152D-CACE04D262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Что такое нормализация в практическом смысле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Нормализация — организация структуры таблиц так, чтобы уменьшить лишнее дублирование и зависимости данных.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Каждая таблица должна описывать понятную сущность.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Одно значение не следует без необходимости повторять во множестве строк.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Данные одной сущности желательно хранить в одном месте.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Связанные сущности соединяются ключами.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Цель — уменьшить вероятность противоречивых данных и упростить изменение информации.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Проектирование реляционной базы данных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097280"/>
            <a:ext cx="118872" cy="4343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828800"/>
            <a:ext cx="9692640" cy="12344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4200" b="1" i="0">
                <a:solidFill>
                  <a:srgbClr val="172033"/>
                </a:solidFill>
                <a:latin typeface="Aptos"/>
              </a:rPr>
              <a:t>Учебный вопрос 5. Проектирование схемы Internet Shop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3246120"/>
            <a:ext cx="8869680" cy="960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Aptos"/>
              </a:rPr>
              <a:t>Проектируем структуру до реализации новых REST endpoints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Проектирование реляционной базы данных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Базовые таблицы Internet Shop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353312"/>
            <a:ext cx="5248655" cy="146913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50976" y="1554480"/>
            <a:ext cx="256032" cy="25603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98448" y="1481328"/>
            <a:ext cx="4517136" cy="420624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categories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" y="2066543"/>
            <a:ext cx="4809744" cy="573024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Справочник категорий товаров.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1" y="1353312"/>
            <a:ext cx="5248655" cy="146913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400799" y="1554480"/>
            <a:ext cx="256032" cy="25603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748271" y="1481328"/>
            <a:ext cx="4517136" cy="420624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products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066543"/>
            <a:ext cx="4809744" cy="573024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Каталог товаров со ссылкой на категорию.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3041904"/>
            <a:ext cx="5248655" cy="146913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950976" y="3243072"/>
            <a:ext cx="256032" cy="256032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98448" y="3169920"/>
            <a:ext cx="4517136" cy="420624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users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" y="3755136"/>
            <a:ext cx="4809744" cy="573024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Пользователи и покупатели интернет-магазина.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1" y="3041904"/>
            <a:ext cx="5248655" cy="146913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400799" y="3243072"/>
            <a:ext cx="256032" cy="25603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748271" y="3169920"/>
            <a:ext cx="4517136" cy="420624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orders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3755136"/>
            <a:ext cx="4809744" cy="573024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Заказы пользователей.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8" y="4730496"/>
            <a:ext cx="5248655" cy="146913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950976" y="4931664"/>
            <a:ext cx="256032" cy="25603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298448" y="4858512"/>
            <a:ext cx="4517136" cy="420624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order_items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" y="5443728"/>
            <a:ext cx="4809744" cy="573024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Конкретные товары и количество внутри заказа.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Проектирование реляционной базы данных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Предварительная схема базы данных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49808" y="1417320"/>
          <a:ext cx="10680192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00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400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Таблица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Основные столбцы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categories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id, name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products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id, name, price, category_id, in_stock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users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id, name, email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orders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id, user_id, status, created_at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order_items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order_id, product_id, quantity, price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Проектирование реляционной базы данных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Предварительная схема базы Internet Shop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A5D2ACD-FF5C-AE13-8892-582D32F4DD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Алгоритм проектирования таблицы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04672" y="1408176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335024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Определить сущность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51960" y="1316736"/>
            <a:ext cx="6995160" cy="783335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Понять, какой самостоятельный объект нужно хранить.</a:t>
            </a:r>
          </a:p>
        </p:txBody>
      </p:sp>
      <p:sp>
        <p:nvSpPr>
          <p:cNvPr id="8" name="Oval 7"/>
          <p:cNvSpPr/>
          <p:nvPr/>
        </p:nvSpPr>
        <p:spPr>
          <a:xfrm>
            <a:off x="804672" y="2228088"/>
            <a:ext cx="420624" cy="420624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154936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Определить атрибуты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2136648"/>
            <a:ext cx="6995160" cy="783335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Записать свойства объекта, необходимые приложению.</a:t>
            </a:r>
          </a:p>
        </p:txBody>
      </p:sp>
      <p:sp>
        <p:nvSpPr>
          <p:cNvPr id="11" name="Oval 10"/>
          <p:cNvSpPr/>
          <p:nvPr/>
        </p:nvSpPr>
        <p:spPr>
          <a:xfrm>
            <a:off x="804672" y="3047999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974847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Выбрать первичный ключ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2956559"/>
            <a:ext cx="6995160" cy="783335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Определить способ однозначной идентификации строки.</a:t>
            </a:r>
          </a:p>
        </p:txBody>
      </p:sp>
      <p:sp>
        <p:nvSpPr>
          <p:cNvPr id="14" name="Oval 13"/>
          <p:cNvSpPr/>
          <p:nvPr/>
        </p:nvSpPr>
        <p:spPr>
          <a:xfrm>
            <a:off x="804672" y="3867911"/>
            <a:ext cx="420624" cy="420624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794759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Выбрать типы данных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3776471"/>
            <a:ext cx="6995160" cy="783335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Для каждого столбца выбрать подходящий тип PostgreSQL.</a:t>
            </a:r>
          </a:p>
        </p:txBody>
      </p:sp>
      <p:sp>
        <p:nvSpPr>
          <p:cNvPr id="17" name="Oval 16"/>
          <p:cNvSpPr/>
          <p:nvPr/>
        </p:nvSpPr>
        <p:spPr>
          <a:xfrm>
            <a:off x="804672" y="4687823"/>
            <a:ext cx="420624" cy="420624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4614671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Добавить ограничения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60" y="4596383"/>
            <a:ext cx="6995160" cy="783335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Определить NOT NULL, UNIQUE, CHECK и внешние ключи.</a:t>
            </a:r>
          </a:p>
        </p:txBody>
      </p:sp>
      <p:sp>
        <p:nvSpPr>
          <p:cNvPr id="20" name="Oval 19"/>
          <p:cNvSpPr/>
          <p:nvPr/>
        </p:nvSpPr>
        <p:spPr>
          <a:xfrm>
            <a:off x="804672" y="5507736"/>
            <a:ext cx="420624" cy="420624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5434584"/>
            <a:ext cx="278892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172033"/>
                </a:solidFill>
                <a:latin typeface="Aptos"/>
              </a:rPr>
              <a:t>Проверить дублирование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51960" y="5416296"/>
            <a:ext cx="6995160" cy="783335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0" i="0">
                <a:solidFill>
                  <a:srgbClr val="64748B"/>
                </a:solidFill>
                <a:latin typeface="Aptos"/>
              </a:rPr>
              <a:t>Убедиться, что данные разных сущностей не смешаны в одной таблице без необходимости.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Проектирование реляционной базы данных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2057400"/>
            <a:ext cx="1062532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77240" y="2057400"/>
            <a:ext cx="109728" cy="20574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2331720"/>
            <a:ext cx="9646920" cy="1417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000" b="1" i="0">
                <a:solidFill>
                  <a:srgbClr val="172033"/>
                </a:solidFill>
                <a:latin typeface="Aptos"/>
              </a:rPr>
              <a:t>Алгоритм проектирования реляционной таблицы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4F41B00-10C4-70AE-0C90-A2CD545345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Целевая таблица categories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B8A6"/>
                </a:solidFill>
                <a:latin typeface="Consolas"/>
              </a:rPr>
              <a:t>SQL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CREATE TABLE categories (
  id INTEGER GENERATED ALWAYS AS IDENTITY PRIMARY KEY,
  name VARCHAR(100) NOT NULL UNIQUE
);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Category стала самостоятельной сущностью.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id используется как стабильный идентификатор.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name обязательно и уникально.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В дальнейшем products будет ссылаться на categories.id.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Проектирование реляционной базы данных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Целевая таблица products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6784848" cy="504748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201168" tIns="146304" rIns="146304" bIns="109728" rtlCol="0" anchor="t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4B8A6"/>
                </a:solidFill>
                <a:latin typeface="Consolas"/>
              </a:rPr>
              <a:t>SQL</a:t>
            </a:r>
          </a:p>
          <a:p>
            <a:pPr algn="l">
              <a:lnSpc>
                <a:spcPct val="88000"/>
              </a:lnSpc>
            </a:pPr>
            <a:r>
              <a:rPr sz="1800" b="0" i="0">
                <a:solidFill>
                  <a:srgbClr val="F8FAFC"/>
                </a:solidFill>
                <a:latin typeface="Consolas"/>
              </a:rPr>
              <a:t>CREATE TABLE products (
  id INTEGER GENERATED ALWAYS AS IDENTITY PRIMARY KEY,
  name VARCHAR(150) NOT NULL,
  price INTEGER NOT NULL CHECK (price &gt; 0),
  category_id INTEGER NOT NULL REFERENCES categories(id),
  in_stock BOOLEAN NOT NULL DEFAULT true
);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90688" y="1261872"/>
            <a:ext cx="3611880" cy="5047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91856" y="1463040"/>
            <a:ext cx="3209544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Что важно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6992" y="1975104"/>
            <a:ext cx="3319272" cy="40690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Product имеет собственный первичный ключ.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Цена защищена CHECK.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category_id заменяет текстовый столбец category.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FOREIGN KEY предотвращает ссылку на отсутствующую категорию.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Структура готова к дальнейшему изучению связей между таблицами.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Проектирование реляционной базы данных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Схема базы и REST API — разные уровни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2" y="1353312"/>
            <a:ext cx="10424160" cy="4773168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Структура таблицы не обязана полностью совпадать со структурой JSON.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В базе может использоваться category_id.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REST API может возвращать клиенту categoryId и название категории.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Service преобразует результат SQL в данные, необходимые Controller.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22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2200" b="0" i="0">
                <a:solidFill>
                  <a:srgbClr val="172033"/>
                </a:solidFill>
                <a:latin typeface="Aptos"/>
              </a:rPr>
              <a:t>Frontend не должен знать внутренние детали хранения данных.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Проектирование реляционной базы данных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Проверка качества схемы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49808" y="1417320"/>
          <a:ext cx="10680192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00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400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2930"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Вопрос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900" b="1">
                          <a:solidFill>
                            <a:srgbClr val="FFFFFF"/>
                          </a:solidFill>
                          <a:latin typeface="Aptos"/>
                        </a:rPr>
                        <a:t>Что проверить</a:t>
                      </a:r>
                    </a:p>
                  </a:txBody>
                  <a:tcPr marL="73152" marR="73152"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Что хранит таблица?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Одна понятная сущность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Как определяется строка?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Есть PRIMARY KEY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Какие поля обязательны?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Использован NOT NULL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Что не должно повторяться?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Использован UNIQUE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Какие значения недопустимы?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Использован CHECK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Есть ссылка на другую сущность?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Использован FOREIGN KEY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Есть лишнее дублирование?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>
                          <a:solidFill>
                            <a:srgbClr val="172033"/>
                          </a:solidFill>
                          <a:latin typeface="Aptos"/>
                        </a:rPr>
                        <a:t>Повторяющиеся сущности вынесены отдельно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Проектирование реляционной базы данных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Мини-практика: спроектируйте Category и Product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261872"/>
            <a:ext cx="10680192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371600"/>
            <a:ext cx="10195560" cy="31089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Переработайте текущую структуру Internet Shop так, чтобы категории хранились отдельно от товаров.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956816"/>
            <a:ext cx="5230368" cy="4297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2084832"/>
            <a:ext cx="4864607" cy="34747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Aptos"/>
              </a:rPr>
              <a:t>Задание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542032"/>
            <a:ext cx="4937759" cy="3602736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Определить атрибуты Category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Создать таблицу categories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Добавить PRIMARY KEY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Добавить UNIQUE для названия категории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Определить category_id в Product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Создать FOREIGN KEY на categories(id)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Перенести существующие категории из products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Проверить корректность ссылок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956816"/>
            <a:ext cx="5230368" cy="4297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9E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82512" y="2084832"/>
            <a:ext cx="4864607" cy="347472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1" i="0">
                <a:solidFill>
                  <a:srgbClr val="14B8A6"/>
                </a:solidFill>
                <a:latin typeface="Aptos"/>
              </a:rPr>
              <a:t>Критерии проверки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5936" y="2542032"/>
            <a:ext cx="4937759" cy="3602736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Категория является отдельной таблицей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Название категории не дублируется в products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Каждый товар связан с существующей категорией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Некорректный category_id отклоняется PostgreSQL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800" b="1" i="0">
                <a:solidFill>
                  <a:srgbClr val="2563EB"/>
                </a:solidFill>
                <a:latin typeface="Aptos"/>
              </a:rPr>
              <a:t>• </a:t>
            </a:r>
            <a:r>
              <a:rPr sz="1800" b="0" i="0">
                <a:solidFill>
                  <a:srgbClr val="172033"/>
                </a:solidFill>
                <a:latin typeface="Aptos"/>
              </a:rPr>
              <a:t>Исходные товары сохраняются после переработки схемы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Проектирование реляционной базы данных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Контрольные вопросы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9808" y="1435608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408176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1. Что такое предметная область?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2066544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039112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2. Чем сущность отличается от атрибута?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2697479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670048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3. Как сущность представляется в реляционной базе?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3328416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300984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4. Зачем каждому столбцу задаётся тип данных?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3959351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931920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5. Что гарантирует PRIMARY KEY?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435608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1408176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6. Чем UNIQUE отличается от PRIMARY KEY?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6208" y="2066544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039112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7. Для чего используется CHECK?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8" y="2697479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2670048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8. Что проверяет FOREIGN KEY?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6208" y="3328416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3300984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9. Почему хранить название категории в каждой строке products неудобно?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6208" y="3959351"/>
            <a:ext cx="36576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3931920"/>
            <a:ext cx="4572000" cy="63093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800" b="0" i="0">
                <a:solidFill>
                  <a:srgbClr val="172033"/>
                </a:solidFill>
                <a:latin typeface="Aptos"/>
              </a:rPr>
              <a:t>10. Какие шаги нужно выполнить перед созданием новой таблицы?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Проектирование реляционной базы данных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38912" y="411480"/>
            <a:ext cx="91440" cy="5303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607040" cy="6583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Итоги занятия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14984"/>
            <a:ext cx="10835640" cy="13716"/>
          </a:xfrm>
          <a:prstGeom prst="rect">
            <a:avLst/>
          </a:prstGeom>
          <a:solidFill>
            <a:srgbClr val="D9E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49808" y="1399032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399032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Проектирование базы начинается с анализа предметной области.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328062"/>
            <a:ext cx="438912" cy="43891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328062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Самостоятельные объекты становятся сущностями и таблицами.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257092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57092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Свойства сущностей становятся столбцами.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186123"/>
            <a:ext cx="438912" cy="43891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186123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Для каждого столбца выбирается тип данных, соответствующий смыслу значения.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115153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5115153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PRIMARY KEY однозначно идентифицирует строки.</a:t>
            </a:r>
          </a:p>
        </p:txBody>
      </p:sp>
      <p:sp>
        <p:nvSpPr>
          <p:cNvPr id="15" name="Oval 14"/>
          <p:cNvSpPr/>
          <p:nvPr/>
        </p:nvSpPr>
        <p:spPr>
          <a:xfrm>
            <a:off x="6199632" y="1399032"/>
            <a:ext cx="438912" cy="43891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21424" y="1399032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NOT NULL, UNIQUE и CHECK защищают правила целостности.</a:t>
            </a:r>
          </a:p>
        </p:txBody>
      </p:sp>
      <p:sp>
        <p:nvSpPr>
          <p:cNvPr id="17" name="Oval 16"/>
          <p:cNvSpPr/>
          <p:nvPr/>
        </p:nvSpPr>
        <p:spPr>
          <a:xfrm>
            <a:off x="6199632" y="2560320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21424" y="2560320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FOREIGN KEY поддерживает корректные ссылки между таблицами.</a:t>
            </a:r>
          </a:p>
        </p:txBody>
      </p:sp>
      <p:sp>
        <p:nvSpPr>
          <p:cNvPr id="19" name="Oval 18"/>
          <p:cNvSpPr/>
          <p:nvPr/>
        </p:nvSpPr>
        <p:spPr>
          <a:xfrm>
            <a:off x="6199632" y="3721608"/>
            <a:ext cx="438912" cy="438912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21424" y="3721608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Повторяющиеся данные следует анализировать и при необходимости выносить в отдельные сущности.</a:t>
            </a:r>
          </a:p>
        </p:txBody>
      </p:sp>
      <p:sp>
        <p:nvSpPr>
          <p:cNvPr id="21" name="Oval 20"/>
          <p:cNvSpPr/>
          <p:nvPr/>
        </p:nvSpPr>
        <p:spPr>
          <a:xfrm>
            <a:off x="6199632" y="4882896"/>
            <a:ext cx="438912" cy="43891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Aptos"/>
              </a:rPr>
              <a:t>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21424" y="4882896"/>
            <a:ext cx="4544568" cy="47548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2000" b="1" i="0">
                <a:solidFill>
                  <a:srgbClr val="172033"/>
                </a:solidFill>
                <a:latin typeface="Aptos"/>
              </a:rPr>
              <a:t>Хорошая схема базы упрощает дальнейшую разработку REST API.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492240"/>
            <a:ext cx="9784080" cy="201168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РО 4.3 • PostgreSQL • Проектирование реляционной базы данных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428232"/>
            <a:ext cx="566928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000" b="1" i="0">
                <a:solidFill>
                  <a:srgbClr val="64748B"/>
                </a:solidFill>
                <a:latin typeface="Aptos"/>
              </a:rPr>
              <a:t>49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2973</Words>
  <Application>Microsoft Office PowerPoint</Application>
  <PresentationFormat>Широкоэкранный</PresentationFormat>
  <Paragraphs>527</Paragraphs>
  <Slides>49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49</vt:i4>
      </vt:variant>
    </vt:vector>
  </HeadingPairs>
  <TitlesOfParts>
    <vt:vector size="54" baseType="lpstr">
      <vt:lpstr>Aptos</vt:lpstr>
      <vt:lpstr>Arial</vt:lpstr>
      <vt:lpstr>Calibri</vt:lpstr>
      <vt:lpstr>Consolas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Проектирование реляционной базы данных</dc:title>
  <dc:subject>Переход от предметной области интернет-магазина к структуре таблиц PostgreSQL</dc:subject>
  <dc:creator/>
  <cp:keywords/>
  <dc:description>generated using python-pptx</dc:description>
  <cp:lastModifiedBy>user</cp:lastModifiedBy>
  <cp:revision>2</cp:revision>
  <dcterms:created xsi:type="dcterms:W3CDTF">2013-01-27T09:14:16Z</dcterms:created>
  <dcterms:modified xsi:type="dcterms:W3CDTF">2026-09-20T16:29:16Z</dcterms:modified>
  <cp:category/>
</cp:coreProperties>
</file>