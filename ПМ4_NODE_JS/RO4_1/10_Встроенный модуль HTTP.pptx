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63" r:id="rId3"/>
    <p:sldId id="262" r:id="rId4"/>
    <p:sldId id="264" r:id="rId5"/>
    <p:sldId id="265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296" r:id="rId17"/>
    <p:sldId id="308" r:id="rId18"/>
    <p:sldId id="311" r:id="rId19"/>
    <p:sldId id="312" r:id="rId20"/>
    <p:sldId id="310" r:id="rId21"/>
    <p:sldId id="313" r:id="rId22"/>
    <p:sldId id="314" r:id="rId23"/>
    <p:sldId id="309" r:id="rId24"/>
    <p:sldId id="316" r:id="rId25"/>
    <p:sldId id="317" r:id="rId26"/>
    <p:sldId id="319" r:id="rId27"/>
    <p:sldId id="320" r:id="rId28"/>
    <p:sldId id="321" r:id="rId29"/>
    <p:sldId id="322" r:id="rId30"/>
    <p:sldId id="318" r:id="rId31"/>
    <p:sldId id="323" r:id="rId32"/>
    <p:sldId id="324" r:id="rId33"/>
    <p:sldId id="326" r:id="rId34"/>
    <p:sldId id="327" r:id="rId35"/>
    <p:sldId id="328" r:id="rId36"/>
    <p:sldId id="329" r:id="rId37"/>
    <p:sldId id="330" r:id="rId38"/>
    <p:sldId id="331" r:id="rId39"/>
    <p:sldId id="332" r:id="rId40"/>
    <p:sldId id="335" r:id="rId41"/>
    <p:sldId id="333" r:id="rId42"/>
    <p:sldId id="336" r:id="rId43"/>
    <p:sldId id="334" r:id="rId44"/>
    <p:sldId id="337" r:id="rId45"/>
    <p:sldId id="325" r:id="rId46"/>
    <p:sldId id="338" r:id="rId47"/>
    <p:sldId id="339" r:id="rId48"/>
    <p:sldId id="340" r:id="rId49"/>
    <p:sldId id="297" r:id="rId50"/>
  </p:sldIdLst>
  <p:sldSz cx="9144000" cy="5143500" type="screen16x9"/>
  <p:notesSz cx="6858000" cy="9144000"/>
  <p:embeddedFontLst>
    <p:embeddedFont>
      <p:font typeface="Mulish Black" panose="020B0604020202020204" charset="-52"/>
      <p:bold r:id="rId52"/>
      <p:boldItalic r:id="rId53"/>
    </p:embeddedFont>
    <p:embeddedFont>
      <p:font typeface="Mulish ExtraBold" panose="020B0604020202020204" charset="-52"/>
      <p:bold r:id="rId54"/>
      <p:boldItalic r:id="rId55"/>
    </p:embeddedFont>
    <p:embeddedFont>
      <p:font typeface="Mulish SemiBold" panose="020B0604020202020204" charset="-52"/>
      <p:regular r:id="rId56"/>
      <p:bold r:id="rId57"/>
      <p:italic r:id="rId58"/>
      <p:boldItalic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2" roundtripDataSignature="AMtx7miJQyI2npMiufbLtMTLZXKhjf0i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1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72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DAFB3B4-A6E1-27FF-8B6C-9E40294AF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FDA7AD0-34A6-33DA-4F4A-36A4D6BF75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AE18F91-DCA6-3D83-956D-0E4D9AD34F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73423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D941BEB-544D-4C7F-AB84-40777C546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BCEB855-C630-8AC8-5683-AFBCAFD155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A07A61D-02CE-7DD4-CD80-D605E40607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66291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EE044EC-29C7-3CDD-429A-8357606D4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248B09F-DFB1-377F-EA2C-6757B0737D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836A5C5-16BD-7FC7-7F6F-4851AD2FDA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27105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13211A7-4021-13BA-0F5C-962DD5B71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2D9551C-3857-4CC1-F644-12A929969D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778D12E-2568-EF62-123A-3DF2CCC70C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75162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EC05758C-8A88-B597-1D29-0EBA28740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DD63E9F5-24E1-4E58-871B-7267E8F7B3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09C250F9-4E0E-521E-5E6B-A0D45F732F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061539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B255CD4-FD5B-62B9-C1BA-2C8FCD546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E054D4C-6756-9A28-86A6-26E802CE38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3967519-46E8-EB27-1AC7-F591A62BA4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0358284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F580849-1467-05C5-7691-8D54E08EA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15BCE25-2930-789B-FC1A-F44A2A7E69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F6320554-DABD-6E7A-2A7E-E5BF9E7E28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592848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50A882D-FEB1-E81E-80BD-0129D634C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8CBC216-A29E-D010-7977-C5C4BE7F51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4F142041-BDA5-109D-F3A6-950F3A57E3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74900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CCEBFCA-D3E4-D84A-CF56-C4BF08538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FBD8E4C-5892-B231-711E-A73AC92E38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7CBDAE5-5D4C-5BC0-850E-77C19D7B79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9708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9C1A090-3DC8-627B-9FAC-4BE078571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AE5BD4E-197E-89B6-E014-5C6449FFB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E60DC9AD-5CA1-146C-8B7C-DA8856CC44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464767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FEB5A60-DE38-E717-27EB-B9CFCB1D3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EEA5D34-73ED-786B-D1E1-0763FA7B2B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49145ADA-9B9A-7B3B-BFB3-CCB389437E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97159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18B7FA3-E6CA-8F3F-C6ED-5354E0517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7B172963-2D55-2187-7802-36CDE0E746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E9167D06-A45B-4937-922D-305B461723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4066641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FE900F23-BB2A-DF69-512B-B7F86E80F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A187EE0D-9A38-BD3F-7CA7-C800A51583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CC8E316B-BFDA-262C-02A3-5E1171A13B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659234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17E1C49-3313-6E58-F661-2A86CC9FD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A3CD291-2D23-6E61-2B18-1E4E2785E8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B2FD83A-D393-289C-1025-37482C8787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128438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7C65A5D-2A6D-BFBB-2C47-02C72AE9A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557E9D2-7533-E2C9-C22D-1E471BA018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A3D45EA5-EEAE-1AC8-DD97-38055D5F0F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753306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9C78C79-9864-8B47-D1F0-321C284FD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FA48FC4-37DB-9845-9F3D-344B2DCA6F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C359CB16-B123-233F-FC5F-8AB13A1474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476198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1658882-17CB-6841-449D-F9664BE06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D973F28-69B7-E5C5-7F9F-20A1AD0451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6B862DBA-57C5-2DEC-C7D4-674B2A9CE8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914665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3B1E1FA-598A-5848-DEF3-DD65C3B48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96553F8A-6BD1-2962-27E5-5591F1CAF5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0D3FD023-05C4-D193-EEFE-7D4BBC30A2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046298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9EFE293-64FA-54A1-C971-C11ACB960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948597F5-38DF-D2F2-000A-339B68EAC0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0896EA27-D891-54E3-62FF-E857551248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0893602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7C15212-CF6D-AA60-AD0D-FF82E7931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B4EDC4C-1C82-03EF-293D-A2DF5B1715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ED98F4F3-8EEB-E9E7-CCD6-41C7796BA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0696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1C95C5E-CE23-A499-8D3C-B5194C2C6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C1AC1E12-E382-E2D8-9599-B4813513DE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2B8FA86-39DD-735F-F50F-0DA22E0925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6774227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9D389177-9197-6EC4-B047-2A9F9B072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F900981-8D7F-E856-F872-3B260DA772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C3ADA25-8B0D-96F2-44C0-6DD09CE47A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3676034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5F9EF00-DE70-ECBB-2AD7-4CF3222E0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240153BF-2A62-63CA-C778-5913F4AB15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F60E178C-83AC-C479-C071-92604E0D00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79618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7F662E03-4655-3868-3770-2964DA620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23DC0010-18E8-EB6A-CC71-6E8EC81930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D5B608F4-C528-2D4F-4C55-A85B84D17F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728852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20CB423-C79D-3D1B-F018-38F310D62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A8144D48-965C-F796-490F-7220C897EA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27C73C3-171A-A885-B7E0-27EC629909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46766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6FD3C8B-56C4-150E-DD8C-7DF711C90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3C98FCE-4B2C-E745-8356-E4697350B7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118D41C-E15E-D2D9-FA60-285E3D166B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3052003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56B9E78-7F84-8370-454E-612718D8E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9A7FB89D-C117-134F-2AEA-0AE9F694F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82E29BD-E8EC-4DD2-1AFB-95D8A90BC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375892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FEA08B6-FFDE-3C05-0EA7-26C766AFD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C4191BD-EF69-DF03-71CB-C024B347D2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F45FDCB-8538-2CB3-552F-B25EC9DABB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517900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944111D-1B6F-474D-5975-037DE1FDE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981DE641-6205-C2C8-4C61-CD85BE72A2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CD2DAE6C-6F56-2527-70B3-CF5B384E2B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109905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13A9043-0EA4-D5DC-EA5C-45E36294C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CCF0D36-03BE-F29E-A4D9-9E828FEA96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30C3CCD-07A0-4C5F-3C94-71B533B4EA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665586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FFDD8E5-C684-2E8C-182F-60304CAA5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AF0ED25-AFAC-140B-DBA9-20A203E126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43613761-CED0-07BB-2675-AF49A0F84B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131085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694AACC0-27DA-9194-8756-8CEA6E78D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0795AFC-5721-6A4B-E748-5F8A811E34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96BCD835-F06A-A761-F121-F536E2AC90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931856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64241B1C-36D6-17BC-46AE-F2AA0C7D8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8D894A6-BC17-DCA6-C988-4642EAED04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27B3EAF-09FA-1C31-E57D-ECC834F1F9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340966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BCC73EE-1D4E-6978-2031-8097DBF83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2346B4B8-9BF4-D1D2-D974-C8BB232344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0DDC4FD2-D0E3-A689-10D8-54D0454B09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648338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C082DE9-789D-8BE5-EEA4-EFE68542E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9609318-B0E2-E27E-177D-00114D419A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6F43256E-79DF-6CD4-8BFA-94901A672F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8945070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7327D26A-5D6F-E4F2-7712-64664BD9A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6A857AD-99B0-469B-1E13-CF54F36D1B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38E600B-CF5A-0989-C7DB-0F0F828B30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3078163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F318C62D-FC4E-FF20-82C5-098F9EE5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2C5DEE69-078C-63D8-997B-2CC2E606E1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3974243-ABAD-B880-43D2-832602B957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2740087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7512C1E-540A-ECA1-CBD6-69BB7ADE4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4D2EA2C-48F9-2ABF-3934-9DC5698C2C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A210F96F-B437-3593-0596-679ED2AC5C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8400623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0FA9702-3DA9-DE1A-50C7-AF643D9C4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0221B1A-914C-B0BF-8B64-B526972D44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9EC2CF77-5FE2-B7B6-F7CD-7E291CBBE3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2046766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C5CE0AB-170A-2BAC-A125-9EB31B799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A00061D8-DF49-AD1C-3ACD-88F3106BFE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EFEDB75A-C38B-2B09-5E0A-FA8C261C80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1716113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3E9EFF9-8002-313C-155B-31C7144AE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5C49A5A-30BB-940A-5270-11685028CF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EB572E6D-E79F-AD79-EB52-154EBA8D24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7388132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E377C74-2C9A-BBCE-8842-665D976E4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99A7CFF-1DB0-0FEC-4836-233E757E13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B046F394-C3BD-F354-BAF1-2CEDF43AC4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164348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0954EC3-FF75-AD0B-CBCD-1B8289367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DC94B130-1229-FF46-644F-26FF86DD0D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BC69A30A-F68C-CC96-2362-21C2E06E14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3244064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5240C33-9502-878C-947A-8FB703215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2772D42F-D92D-08FF-5A93-D57D970B61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62BA2186-6BD5-C293-4D12-87E249BC1C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2961322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145F27E-EAF4-1D68-09F2-1EFACE407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22FE5AD-0B75-AB37-6984-C31C10ECC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C5A67F3F-6101-57F9-8F01-112E9A7633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6481025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9B140EC-6DE8-AE6A-0452-760B5094A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F7EE76B-D66C-0B72-3AB1-9C29BEA56B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F34762F-417D-5125-899D-3950785713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3694547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C3C8252-301C-5851-DD96-CB0B3D1E0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D08F3A7-AE80-143C-600B-4627A889B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B5399B4-772E-8DAE-581C-EE42F1B256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55993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6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4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5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7"/>
          <p:cNvSpPr txBox="1">
            <a:spLocks noGrp="1"/>
          </p:cNvSpPr>
          <p:nvPr>
            <p:ph type="subTitle" idx="1"/>
          </p:nvPr>
        </p:nvSpPr>
        <p:spPr>
          <a:xfrm>
            <a:off x="311760" y="744480"/>
            <a:ext cx="8520120" cy="9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7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8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8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8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8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8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9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9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9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9"/>
          <p:cNvSpPr txBox="1">
            <a:spLocks noGrp="1"/>
          </p:cNvSpPr>
          <p:nvPr>
            <p:ph type="body" idx="3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9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0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0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0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0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0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1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1"/>
          <p:cNvSpPr txBox="1">
            <a:spLocks noGrp="1"/>
          </p:cNvSpPr>
          <p:nvPr>
            <p:ph type="body" idx="2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2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2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2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2"/>
          <p:cNvSpPr txBox="1">
            <a:spLocks noGrp="1"/>
          </p:cNvSpPr>
          <p:nvPr>
            <p:ph type="body" idx="4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3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3"/>
          <p:cNvSpPr txBox="1">
            <a:spLocks noGrp="1"/>
          </p:cNvSpPr>
          <p:nvPr>
            <p:ph type="body" idx="2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3"/>
          <p:cNvSpPr txBox="1">
            <a:spLocks noGrp="1"/>
          </p:cNvSpPr>
          <p:nvPr>
            <p:ph type="body" idx="3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73"/>
          <p:cNvSpPr txBox="1">
            <a:spLocks noGrp="1"/>
          </p:cNvSpPr>
          <p:nvPr>
            <p:ph type="body" idx="4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3"/>
          <p:cNvSpPr txBox="1">
            <a:spLocks noGrp="1"/>
          </p:cNvSpPr>
          <p:nvPr>
            <p:ph type="body" idx="5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3"/>
          <p:cNvSpPr txBox="1">
            <a:spLocks noGrp="1"/>
          </p:cNvSpPr>
          <p:nvPr>
            <p:ph type="body" idx="6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p4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>
            <a:spLocks noGrp="1"/>
          </p:cNvSpPr>
          <p:nvPr>
            <p:ph type="title"/>
          </p:nvPr>
        </p:nvSpPr>
        <p:spPr>
          <a:xfrm>
            <a:off x="311760" y="2170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1DD"/>
              </a:buClr>
              <a:buSzPts val="4600"/>
              <a:buFont typeface="Mulish ExtraBold"/>
              <a:buNone/>
            </a:pPr>
            <a:r>
              <a:rPr lang="ru" sz="4600" b="0" strike="noStrike">
                <a:solidFill>
                  <a:srgbClr val="7F61DD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ДЕНЬ ОТКРЫТЫХ ДВЕРЕЙ</a:t>
            </a:r>
            <a:endParaRPr sz="4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" y="275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"/>
          <p:cNvSpPr txBox="1">
            <a:spLocks noGrp="1"/>
          </p:cNvSpPr>
          <p:nvPr>
            <p:ph type="title"/>
          </p:nvPr>
        </p:nvSpPr>
        <p:spPr>
          <a:xfrm>
            <a:off x="311760" y="255061"/>
            <a:ext cx="4813200" cy="26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lvl="0" algn="ctr">
              <a:buClr>
                <a:srgbClr val="FFFFFF"/>
              </a:buClr>
              <a:buSzPts val="5200"/>
            </a:pPr>
            <a:r>
              <a:rPr lang="ru-RU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Тема 10. </a:t>
            </a:r>
            <a:r>
              <a:rPr lang="ru-RU" sz="4000" dirty="0">
                <a:solidFill>
                  <a:srgbClr val="FFFFFF"/>
                </a:solidFill>
                <a:latin typeface="Mulish Black"/>
              </a:rPr>
              <a:t>Встроенный модуль HTTP. Основы сетевого взаимодействия</a:t>
            </a:r>
            <a:endParaRPr sz="4000" dirty="0">
              <a:solidFill>
                <a:srgbClr val="FFFFFF"/>
              </a:solidFill>
              <a:latin typeface="Mulish Black"/>
            </a:endParaRPr>
          </a:p>
        </p:txBody>
      </p:sp>
      <p:pic>
        <p:nvPicPr>
          <p:cNvPr id="144" name="Google Shape;14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6040" y="4295880"/>
            <a:ext cx="3405960" cy="347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 descr="Picture background">
            <a:extLst>
              <a:ext uri="{FF2B5EF4-FFF2-40B4-BE49-F238E27FC236}">
                <a16:creationId xmlns:a16="http://schemas.microsoft.com/office/drawing/2014/main" id="{3605D530-78B4-D96B-5E5D-8AD558CBA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860" y="2651632"/>
            <a:ext cx="2619000" cy="261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661189C-46F6-4CD9-DDDE-0B2E5FF5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DB4BADD6-2AE5-D570-8470-5225E44704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Цель занятия: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067664F-4901-0A1E-CE0D-48ECCE427D2C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</a:rPr>
              <a:t>Сформировать у студентов понимание принципов работы клиент-серверной архитектуры и научить их создавать базовый веб-сервер, способный принимать сетевые запросы и отправлять корректные ответы.</a:t>
            </a:r>
            <a:endParaRPr sz="30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8A47345-2906-5DA2-08C2-6D36778F9F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3246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2C321365-8BB3-751B-D626-A8C38FD08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Учебные вопросы: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C3C143E-0B54-BCC4-7C01-340D803FF658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Как работает HTTP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 Статус-коды: Язык сервера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3. Первый сервер на Node.js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4. Разбор объектов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F77FDE5-30BB-2C80-0149-A5DF95C8B0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6A9EA9D-1834-3F87-97B3-C8D3490C6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05BCE706-32DC-49BF-5BEF-B7F6F1A62F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1. Как работает </a:t>
            </a:r>
            <a:r>
              <a:rPr lang="en-US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HTTP</a:t>
            </a: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35EFA4D-36CB-FFB1-B428-A3FE2F4BEECA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HTTP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HyperText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Transfer Protocol) - это главный «язык» общения в интернете.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 нем браузеры общаются с сайтами, а мобильные приложения - с серверами.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6E7D912-FA7F-2A52-855B-84A9B7456D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3062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0BF6BB5-4D44-092C-CB17-AB7FE8B66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B6B94BE-9935-740D-1677-3A6C3470B8DC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Основной принцип: 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Request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Response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HTTP общение всегда строится по схеме «Запрос - Ответ».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Клиент (браузер, мобильное приложение) всегда выступает инициатором: он задает вопрос.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Сервер (ваша программа на Node.js) всегда ждет и отвечает.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Важно: Сервер не может сам отправить данные клиенту, если тот их не попросил (в рамках классического HTTP).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E2E7FB7-A9C9-18AF-D5E5-AD0C9A6AAF3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3579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66ED7FF-6A75-0C40-7DFA-06000ABFB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EE7F9C6C-A6FA-2B6C-34B2-FFFA6B02BC67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Структура сетевого сообщения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«разрезать» HTTP-сообщение, мы увидим три четких слоя: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А. Стартовая строка (Start Line)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Это краткое содержание того, что происходит.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Для запроса: Метод (GET/POST) + Путь (/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about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+ Версия протокола.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Для ответа: Версия протокола + Статус-код (200 OK).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CFE9647-0761-8B04-D5E1-D4884DAC48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6826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57E941CC-81DF-62DE-782E-71FF9EC69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5C2DD57A-779A-6DB9-4819-32054B16C324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Б. Заголовки (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Headers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Это «метаданные» или технические детали сообщения. Они записываются в формате Ключ: Значение.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Пример: Content-Type: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text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html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сообщает браузеру, что сервер прислал веб-страницу, а не картинку.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Пример: User-Agent рассказывает серверу, с какого устройства зашел пользователь.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6C357C36-8431-D586-73F9-4FE4E614127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9603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A38C2DF2-79F6-F183-D4AB-B37950E8C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3A399A28-79D9-9818-97C3-9037EAC0A573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В. Тело сообщения (Body)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Сами данные.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запросе (POST) здесь может быть логин и пароль пользователя.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ответе здесь находится HTML-код страницы или данные в формате JSON.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612E3A10-8AF0-ECE0-8F53-2B9E40372A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1294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A517FBEE-8D2E-48D5-1924-6581FDA75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B9892250-2849-BFD8-9619-4484FC073828}"/>
              </a:ext>
            </a:extLst>
          </p:cNvPr>
          <p:cNvSpPr/>
          <p:nvPr/>
        </p:nvSpPr>
        <p:spPr>
          <a:xfrm>
            <a:off x="320399" y="191911"/>
            <a:ext cx="8359961" cy="4951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Аналогия из жизни: «Заказ в ресторане»</a:t>
            </a:r>
            <a:endParaRPr lang="en-US" sz="3000" b="1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Запрос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Request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): Вы подзываете официанта (Клиент -&gt; Сервер) и говорите: «Дай мне меню» (Метод GET, путь /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menu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Заголовки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Вы уточняете: «Я говорю на русском»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Accept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-Language: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ru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Обработка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Официант идет на кухню (Сервер выполняет ваш код на Node.js).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Ответ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(Response): Официант приносит меню (Статус 200 OK).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Тело ответа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Сама книжка с меню (Body).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меню нет: Официант возвращается и говорит «404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Found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».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на кухне пожар: Официант говорит «500 Server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Error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».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2DA74C8-0856-CC11-39EE-AD32B722D7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4498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7174C42-94FA-21AC-FA97-7B7C921EE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9F7B07B-58F3-154F-3F2A-E870C7CFCDDF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Практическая демонстрация через терминал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curl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Чтобы увидеть всё (и запрос, и ответ), используйте флаг -v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verbose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«подробно»).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Изучаем стартовую строку и заголовки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введите в терминале: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curl</a:t>
            </a: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-v http://google.com</a:t>
            </a:r>
            <a:endParaRPr sz="3000" b="1" i="0" u="none" strike="noStrike" cap="none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78BE9E2-3A8E-7B12-8083-0633103B23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2228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5ADE3DE-591B-FBAE-BD2D-803ACE602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1FFA7CA-2E33-9A39-DA11-F5215791C16D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вы увидите в выводе: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Линии со знаком </a:t>
            </a: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&gt;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это Запрос (то, что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curl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отправил серверу).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Линии со знаком </a:t>
            </a: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&lt;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это Ответ (то, что прислал сервер).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63501FA9-DA91-8A53-7302-924DE69CDF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3906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526C0E1D-EB2A-66AB-4322-B5A994941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577A48A8-58D1-CFD7-EF9F-7411001200E3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89AFFB06-8252-5F66-7AB7-8B8BA1795F8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E40C165-C605-06A6-5613-A4FBA0866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768" y="332403"/>
            <a:ext cx="8074464" cy="259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40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9E21038-9288-5ADF-9E90-69FDF24BB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0BA58A3-6F11-D87D-66B8-E6EF90DD3A7B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EEE0566-B499-3C6F-54CC-8B0F54BEB1D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1E08C5-07D4-7165-50D4-2A4868868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11" y="1293991"/>
            <a:ext cx="8716977" cy="203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645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9718ECF7-0B48-4B8A-8462-948927612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9C959A8-E7C9-0EB2-B6B5-25F15F44381E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Body (тело сообщения) - это всё, что идет после последней пустой строки и знака </a:t>
            </a: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&lt;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CF713F27-7280-013B-33C2-D83C92D854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EEE85B9-8C00-6686-7DFB-26DD970AA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39" y="1840265"/>
            <a:ext cx="8153615" cy="258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397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2E3812BE-0502-3C7F-DA6A-2FB71326B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17552495-3596-1F73-CF1E-2A523B1E54A3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итог: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HTTP - это безобъектный протокол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stateless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 Сервер не «помнит» клиента после того, как отправил ему ответ. Каждый запрос - как первый раз.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Всё общение - это текст. Node.js просто считывает этот текст и превращает его в объекты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с которыми мы работаем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870A7A80-B3AE-0FCF-FDC2-383557D744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2857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7E1C49C-1938-F461-02A6-5F1E1699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96A145A8-17DA-5B1A-46E6-702E9E0073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2. Статус-коды: Язык сервера</a:t>
            </a: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D864CD3-DB4C-A805-18F7-32D8CDDCBE88}"/>
              </a:ext>
            </a:extLst>
          </p:cNvPr>
          <p:cNvSpPr/>
          <p:nvPr/>
        </p:nvSpPr>
        <p:spPr>
          <a:xfrm>
            <a:off x="320400" y="767644"/>
            <a:ext cx="8150700" cy="4160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Когда сервер отправляет ответ, он обязан указать числовой код. Это быстрый способ сказать клиенту: «Всё прошло успешно», «Ты ошибся» или «У меня проблемы».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Все коды делятся на 5 групп по первой цифре. Для профессиональной разработки в Node.js нужно знать «золотой стандарт» из каждой группы.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F399CAB-9F97-1E8C-7DF2-41B62C6C3A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2745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C0C5F87D-AE52-B411-36EE-2ECB7D028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4EE5C1AE-BDFF-742E-FF5D-BBAC628E83D5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1xx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Информационные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Почти не используются в обычном веб-программировании.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Сообщают, что запрос принят и обработка продолжается.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66C90BB5-2078-90BA-89A5-92F9781A95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3712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FB14AAC5-82D5-7E75-0AE9-E77A80A76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FCA19D85-AB17-7EE5-2F6A-3C174A2D6805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2xx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Успех (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Success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✅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200 OK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Самый частый код. Всё прошло идеально, данные отправлены.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201 </a:t>
            </a:r>
            <a:r>
              <a:rPr lang="ru-RU" sz="3000" b="1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Created</a:t>
            </a: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Используется, когда клиент что-то отправил (например, зарегистрировал нового студента), и сервер успешно создал эту запись в базе.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D88BA14C-6F85-88EF-B121-3A2D499D02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7324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D248661-AF37-D0CD-DA64-73B13D3D5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3CDBEFAE-A856-C19A-DE62-AC4CD15B0C46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3xx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Перенаправление (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Redirection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↪️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301 </a:t>
            </a:r>
            <a:r>
              <a:rPr lang="ru-RU" sz="3000" b="1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Moved</a:t>
            </a: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b="1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Permanently</a:t>
            </a: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Страница переехала навсегда. Браузер запомнит это и в следующий раз пойдет сразу по новому адресу.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304 </a:t>
            </a:r>
            <a:r>
              <a:rPr lang="ru-RU" sz="3000" b="1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Not</a:t>
            </a: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b="1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Modified</a:t>
            </a: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«Ничего не изменилось». Используется для кэширования. Сервер говорит браузеру: «Используй ту версию, что у тебя уже есть, она актуальна».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6945837-5EF5-0D7F-95AD-88A6666783F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8318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81B31C5-496F-9B7A-7D13-C4E202E33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84E61AB-9678-1C5E-58B2-43ECC00E7EDC}"/>
              </a:ext>
            </a:extLst>
          </p:cNvPr>
          <p:cNvSpPr/>
          <p:nvPr/>
        </p:nvSpPr>
        <p:spPr>
          <a:xfrm>
            <a:off x="320399" y="502276"/>
            <a:ext cx="8359961" cy="4641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4xx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Ошибка клиента (Client 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Error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❌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400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Bad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Request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«Я тебя не понимаю». Клиент прислал данные в неверном формате (например, вместо JSON прислал просто текст).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401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Unauthorized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«Кто ты?». Требуется логин или токен доступа.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403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Forbidden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«Тебе сюда нельзя». Мы знаем, кто ты, но у тебя нет прав доступа к этой папке или файлу.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404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Found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Самый знаменитый код. Ресурс по указанному адресу не существует.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9583714-3036-1869-C980-4931785ACB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6846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9D61DFBD-E32B-3D3B-5207-A09713E16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6C9EEFF-C6B4-4B65-EAC4-91AED0059E72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5xx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Ошибка сервера (Server 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Error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🔥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500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Internal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Server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Error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«Упс, мой код сломался». Обычно это происходит, когда в вашем Node.js скрипте возникла ошибка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Exception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), которую вы не обработали.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503 Service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Unavailable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Сервер перегружен или на нем ведутся технические работы.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C7C2C0A8-7167-347A-D9A0-D3FCEA381DB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0782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C447F145-C99B-2491-853B-DB926718C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8913AA4-12D2-F47C-E8DA-42C1DC25BA3F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Тезисы для запоминания: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200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праздник, 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400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ошибка в запросе, 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500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ошибка в коде.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Статус-код всегда идет в стартовой строке ответа, до заголовков и данных.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17BCEEB-DF48-5BAB-61B1-E8D52A39DBB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92751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2A050E15-125D-23E0-3481-4193AEE44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4AB504E5-6E8B-81A5-5C57-E9FFC4FEE6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3. Первый сервер на Node.js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B07EA2E-EBCC-DD9D-26E3-AAFA48357A22}"/>
              </a:ext>
            </a:extLst>
          </p:cNvPr>
          <p:cNvSpPr/>
          <p:nvPr/>
        </p:nvSpPr>
        <p:spPr>
          <a:xfrm>
            <a:off x="320400" y="767644"/>
            <a:ext cx="8150700" cy="4160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Для работы с сетью в Node.js не нужно устанавливать сторонние библиотеки. Всё необходимое уже есть во встроенном модуле </a:t>
            </a:r>
            <a:r>
              <a:rPr lang="ru-RU" sz="3000" b="1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http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Пошаговый алгоритм создания сервера: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b="1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Подключение модуля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Нам нужен инструмент для работы с протоколом.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b="1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Создание «слушателя»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Мы создаем функцию, которая будет срабатывать каждый раз, когда кто-то постучится на наш адрес.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b="1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Назначение порта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Мы должны сказать серверу, какой «вход» (порт) в компьютере ему занять.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59A04A5-0791-DA0D-FF21-51FE1705640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2552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003E43A-6114-590E-8DC5-78F211052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35E4A4AF-C5F8-0BCA-E13C-CBA1AD72FA99}"/>
              </a:ext>
            </a:extLst>
          </p:cNvPr>
          <p:cNvSpPr/>
          <p:nvPr/>
        </p:nvSpPr>
        <p:spPr>
          <a:xfrm>
            <a:off x="320399" y="237068"/>
            <a:ext cx="8359961" cy="469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Код простейшего сервера: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AED00731-8EB6-7394-A358-04CCF3B6CF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D245207-76EB-3B21-793C-B4F8C4955C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72" y="816504"/>
            <a:ext cx="7426855" cy="421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9379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F04DBFD-9836-2055-A2B9-683247A52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40AA14DF-DC2C-1F62-E9C8-FD370626CEAD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Разбор ключевых понятий: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такое </a:t>
            </a:r>
            <a:r>
              <a:rPr lang="ru-RU" sz="3000" b="1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localhost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Это стандартное имя для вашего собственного компьютера.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Когда вы вводите его в браузере, запрос не уходит в интернет, а возвращается обратно вам же.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Технический адрес (IP) локальной петли - 127.0.0.1.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656E3ED6-9CF1-50BB-A405-BCEF3F6BE7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19978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A393E79-C075-80A9-745A-6A8FFF21F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BE5F8DB-FD77-90FB-7084-06BFA28E5106}"/>
              </a:ext>
            </a:extLst>
          </p:cNvPr>
          <p:cNvSpPr/>
          <p:nvPr/>
        </p:nvSpPr>
        <p:spPr>
          <a:xfrm>
            <a:off x="320399" y="191911"/>
            <a:ext cx="8359961" cy="4951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такое </a:t>
            </a: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Порт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</a:t>
            </a: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Port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Представьте, что IP-адрес - это адрес многоквартирного дома. Тогда порт - это номер квартиры.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 одном компьютере могут работать десятки серверов одновременно.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Чтобы они не мешали друг другу, каждый занимает свой порт (например: 3000, 8080, 5000).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 умолчанию сайты в интернете работают на порту 80 (HTTP) или 443 (HTTPS)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A50932F-63F8-6E1C-B869-26169743569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14849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05BA0571-A216-4153-C23A-462CFF4A4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57C2B665-2160-6C30-BFA1-81E295CA25A1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Почему сервер не закрывается сам?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отличие от обычных скриптов, которые мы писали раньше (выполнил и вышел), сервер - это бесконечный цикл событий. 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Он входит в режим ожидания и будет работать до тех пор, пока вы не остановите его вручную в терминале или не выключите компьютер.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6CD46731-C94D-7943-4EB0-3C5042C042E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01586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706448A1-E503-A16F-546E-C5FB7300F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E5DDD58E-C6FA-9835-FAA9-E06C84A7B5FF}"/>
              </a:ext>
            </a:extLst>
          </p:cNvPr>
          <p:cNvSpPr/>
          <p:nvPr/>
        </p:nvSpPr>
        <p:spPr>
          <a:xfrm>
            <a:off x="320399" y="237068"/>
            <a:ext cx="8359961" cy="469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Демонстрация:</a:t>
            </a:r>
          </a:p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b="1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Запуск: Напишите код и запустите его.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Проверка через браузер: Откройте http://localhost:3000. Убедитесь, что страница загрузилась.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Проверка через терминал: Откройте второе окно терминала и введите: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curl</a:t>
            </a: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http://localhost:3000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DD1A9F0-968A-0654-A934-4B506C109A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83684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70AF0A0-2E9D-1859-A5C6-796C32541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639FEA0-028D-45EB-D11D-D253C1BADF8D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Остановка: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Нажмите Ctrl + C в терминале с сервером. 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Попробуйте обновить страницу в браузере - она выдаст ошибку «Не удается получить доступ к сайту». 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Это доказывает, что страницу генерировал именно ваш код, а не «магия интернета»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CBDB63B2-1166-22E4-19F1-66273D82C8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96611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01E6D90-5CC5-28E9-15E4-415DEED63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9662CE18-4CBE-92A7-604F-80F7032E37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4. Разбор объектов </a:t>
            </a:r>
            <a:r>
              <a:rPr lang="ru-RU" sz="3420" dirty="0" err="1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req</a:t>
            </a: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 и </a:t>
            </a:r>
            <a:r>
              <a:rPr lang="ru-RU" sz="3420" dirty="0" err="1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res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B0E07542-C7FE-1534-4CA9-2D6B2E2D0A9B}"/>
              </a:ext>
            </a:extLst>
          </p:cNvPr>
          <p:cNvSpPr/>
          <p:nvPr/>
        </p:nvSpPr>
        <p:spPr>
          <a:xfrm>
            <a:off x="320400" y="767644"/>
            <a:ext cx="8150700" cy="4160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Когда мы вызываем</a:t>
            </a:r>
            <a:r>
              <a:rPr lang="en-US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http.createServer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((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=&gt; { ... })</a:t>
            </a:r>
            <a:endParaRPr lang="en-US" sz="3000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Node.js автоматически создает два мощных объекта для каждого входящего запроса. </a:t>
            </a:r>
            <a:endParaRPr lang="en-US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Это «вход» и «выход» нашей программы.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C9335A73-043C-810C-E408-02F1CBFA67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17489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273E12C-9B0E-0329-2E37-1C326BF23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0884CEA9-B596-C656-9522-D935C6183A17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А. Объект </a:t>
            </a:r>
            <a:r>
              <a:rPr lang="ru-RU" sz="3000" b="1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IncomingMessage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- «Вход»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(сокращение от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Request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- это объект, который содержит всю информацию о том, кто к нам пришел и чего он хочет. 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Это «письмо», которое 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прислал клиент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A0DDC86-970A-2942-2922-A43D7E4B6A1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81678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E790105D-6910-0D52-EAD5-DE725991D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7E1B930-B9C2-144D-A0B5-6A53434C5985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Основные свойства, которые нам нужны: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req.url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строка с адресом запроса.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Пример: Если пользователь зашел на http://localhost:3000/contacts, то req.url будет равен "/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contacts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". На основе этого мы будем решать, какую страницу показать.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req.method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какой тип запроса пришел.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Пример: GET (просто просмотр) или POST (отправка данных из формы).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3.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req.headers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объект со всеми техническими заголовками.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Пример: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req.headers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['user-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agent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'] подскажет нам, с какого браузера зашел человек.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B97CCF7F-02A1-492B-9C5B-7B2F0119BBF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39829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A104A2C1-BBF5-7CEE-1654-AA6A3E72E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F7BDC682-9B3B-8A7C-9026-5FB38B74BA5A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Б. Объект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ServerResponse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- «Выход»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(сокращение от Response) - это объект, через который мы формируем наш ответ. Это «пустой бланк», который нам нужно заполнить и 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отправить обратно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910AF88-27C0-4913-330F-5AE4592A0C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41382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53AFEA63-3A0B-5279-3D78-227A68249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EA50C62E-AAC1-F193-A405-CEE85F115278}"/>
              </a:ext>
            </a:extLst>
          </p:cNvPr>
          <p:cNvSpPr/>
          <p:nvPr/>
        </p:nvSpPr>
        <p:spPr>
          <a:xfrm>
            <a:off x="320399" y="124178"/>
            <a:ext cx="8359961" cy="5019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Основные методы и свойства: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res.statusCode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тот самый статус-код (по умолчанию 200).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res.setHeader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('Content-Type', '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text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html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') - добавление заголовков по одному.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3.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res.writeHead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status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{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headers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}) - «тяжелая артиллерия». Позволяет одной командой задать и статус, и все заголовки сразу.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Важно: После вызова этого метода заголовки уже нельзя изменить.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4.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res.write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добавляет порцию данных в тело ответа. Можно вызывать многократно (например, передавать части длинного текста).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5.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res.end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самый важный метод. Он говорит серверу: «Всё, ответ сформирован, запечатывай конверт и отправляй!».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не вызвать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res.end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(), браузер клиента будет вечно крутить индикатор загрузки, ожидая окончания сообщения.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8376F4BC-9D09-1B3A-8B79-4E45FDE616C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77502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7BC9E7A-65B5-D78A-4D96-EFFB6F385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0C3749B-00C1-80BB-C34E-331120D1F188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Сравнение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4F8F12FF-4238-18E6-F1CC-370251AA90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194019F-CA56-4402-995B-1F088A067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26" y="1264356"/>
            <a:ext cx="8321738" cy="2585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4976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C8806756-363A-E796-FB70-D7D5C66A6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093DBA5-8DA1-691B-5AA0-53C0E9A0BDD1}"/>
              </a:ext>
            </a:extLst>
          </p:cNvPr>
          <p:cNvSpPr/>
          <p:nvPr/>
        </p:nvSpPr>
        <p:spPr>
          <a:xfrm>
            <a:off x="320399" y="248356"/>
            <a:ext cx="8359961" cy="4680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Пример: «Шпионский сервер»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A496E40B-AF60-B362-50EB-D07CDE74BA4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E3BA6C6-53E5-262E-76A3-D8232BBA5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930" y="905311"/>
            <a:ext cx="7895430" cy="390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7640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0614257E-3AEF-AC9F-BCAF-B3F8B0A75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3FECCFE-DC59-976D-ADEB-10923B8F53BE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7A71071-18E8-6C77-3918-66F4699C87C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EB9B216-759E-51AF-4922-80995FDD2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71" y="502276"/>
            <a:ext cx="8085458" cy="177808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2706E91-1AE9-4D92-7B7D-02BA80DE18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25" y="2568573"/>
            <a:ext cx="8085459" cy="165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9486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0EFC595A-F3B1-58B8-B048-2206BEE1F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EA7039D2-C44C-1C3C-49A1-DA96834430DB}"/>
              </a:ext>
            </a:extLst>
          </p:cNvPr>
          <p:cNvSpPr/>
          <p:nvPr/>
        </p:nvSpPr>
        <p:spPr>
          <a:xfrm>
            <a:off x="320399" y="282222"/>
            <a:ext cx="8359961" cy="4646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Свойства 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 методы 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</a:t>
            </a:r>
            <a:endParaRPr lang="en-US" sz="3000" b="1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Работа сервера - это всегда обработка входящего объекта и наполнение исходящего.</a:t>
            </a:r>
            <a:endParaRPr sz="30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540B33A-2BC4-12E2-5BEF-F069D780A4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60159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AEE6029F-9E5E-291E-4708-D09943896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A9F59D7-CF64-C6C6-74FD-5D6079DFF533}"/>
              </a:ext>
            </a:extLst>
          </p:cNvPr>
          <p:cNvSpPr/>
          <p:nvPr/>
        </p:nvSpPr>
        <p:spPr>
          <a:xfrm>
            <a:off x="320399" y="169334"/>
            <a:ext cx="8359961" cy="475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Объект </a:t>
            </a:r>
            <a:r>
              <a:rPr lang="ru-RU" sz="3000" b="1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IncomingMessage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- Что мы знаем о госте?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Этот объект доступен нам только для чтения. Мы не можем изменить URL запроса, мы можем только на него среагировать.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req.url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это: Строка, содержащая всё, что идет в адресе после домена.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Зачем: Это основа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роутинга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(маршрутизации).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Пример: Если адрес http://localhost:3000/users?id=5, то req.url будет /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users?id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=5.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E0CEB00-3CBF-C583-1E1F-C06DFEACE5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43951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072098FD-0A32-BB66-CC94-B96FD69A8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714FBD2-95AB-057A-C189-F8BFA4D848E2}"/>
              </a:ext>
            </a:extLst>
          </p:cNvPr>
          <p:cNvSpPr/>
          <p:nvPr/>
        </p:nvSpPr>
        <p:spPr>
          <a:xfrm>
            <a:off x="320399" y="169334"/>
            <a:ext cx="8359961" cy="475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req.method</a:t>
            </a:r>
            <a:endParaRPr lang="ru-RU" sz="3000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это: Тип действия (GET, POST, PUT, DELETE).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Зачем: Позволяет различать намерения. На один и тот же адрес /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profile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можно зайти (GET - показать профиль) или отправить форму (POST - обновить данные).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3.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req.headers</a:t>
            </a:r>
            <a:endParaRPr lang="ru-RU" sz="3000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это: Объект, где ключи - названия заголовков (всегда в нижнем регистре).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Зачем: Проверка авторизации, определение типа данных (Content-Type запроса) или языка пользователя.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982E5991-0A9D-0F2E-E7AB-5ED3F42462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9504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F72F6829-D0E6-3EAE-CBE9-5E308D7F4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35CDBE2-3138-BFF5-286C-6C09735A6238}"/>
              </a:ext>
            </a:extLst>
          </p:cNvPr>
          <p:cNvSpPr/>
          <p:nvPr/>
        </p:nvSpPr>
        <p:spPr>
          <a:xfrm>
            <a:off x="320399" y="135468"/>
            <a:ext cx="8359961" cy="500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Объект </a:t>
            </a:r>
            <a:r>
              <a:rPr lang="ru-RU" sz="3000" b="1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ServerResponse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- Как мы готовим ответ?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Этот объект - наш «конструктор». Мы вызываем его методы, чтобы сформировать пакет данных.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res.writeHead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status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[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headers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])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это: Метод, который отправляет стартовую строку и заголовки разом.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Важно: Это «точка невозврата». Как только вы вызвали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writeHead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вы больше не можете менять заголовки или статус-код.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Пример: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res.writeHead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(404, { 'Content-Type': '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text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plain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 });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res.write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chunk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это: Отправка части (куска) тела ответа.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Зачем: Если мы хотим отправлять данные по частям (например, сначала шапку сайта, потом контент, потом подвал). Можно вызывать много раз.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82B8C5D7-B081-9AE0-7465-11DE18E2DCA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84649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96D9A97F-DA06-FEC1-2982-7D8D435B3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BAB5AC70-F38A-7B78-8FB1-9DFC631555A6}"/>
              </a:ext>
            </a:extLst>
          </p:cNvPr>
          <p:cNvSpPr/>
          <p:nvPr/>
        </p:nvSpPr>
        <p:spPr>
          <a:xfrm>
            <a:off x="320399" y="135468"/>
            <a:ext cx="8359961" cy="500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3.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res.end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([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])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это: Сигнал о завершении ответа.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Зачем: Без него соединение останется открытым. Если передать в него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это будет равносильно вызову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res.write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и последующему закрытию.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4.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res.statusCode</a:t>
            </a:r>
            <a:endParaRPr lang="ru-RU" sz="3000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это: Свойство для установки кода (если не используется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writeHead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Пример: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res.statusCode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= 404;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812D45C0-9694-AC4A-E1B6-6A31C1F751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46925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2C6998D-8607-99F3-93BE-1621DB28B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5B4FE87-E5E3-2A0D-594A-E23599B9C9D6}"/>
              </a:ext>
            </a:extLst>
          </p:cNvPr>
          <p:cNvSpPr/>
          <p:nvPr/>
        </p:nvSpPr>
        <p:spPr>
          <a:xfrm>
            <a:off x="320399" y="214490"/>
            <a:ext cx="8359961" cy="492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Порядок вызовов (Важно!)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Нет смысла записывать что-то после того, как «письмо ушло».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HTTP порядок строгий: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Установка статуса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 заголовков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res.statusCode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или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res.writeHead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 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Запись тела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res.write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3. 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Завершение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res.end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Запрещенный прием: Если вы напишете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res.end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(), а на следующей строке попытаетесь сделать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res.write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(), Node.js выдаст ошибку: "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Error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write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after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". Это как пытаться доложить что-то в посылку, которую почтальон уже унес.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3C4FFE5-2ECC-B80C-FA9B-420A3E2910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98098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9E0367FA-7BFF-6AAA-4296-3534781F0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131F33A-5F03-BE7C-CE4B-BDA6E5F42F07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Шпаргалка: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E840B87-7C54-7AB7-5DE2-B87AEA87302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4952CCF-B9BA-C0AB-82EA-3AF54CBF84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1159198"/>
            <a:ext cx="7856271" cy="376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734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0156596-B5AD-37D3-89EC-FE3560E4C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423F3182-4B03-F247-5E6C-A4A9693814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en-US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Content-Type</a:t>
            </a: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05BA7DE-B884-4710-6B51-AA3D19F2B165}"/>
              </a:ext>
            </a:extLst>
          </p:cNvPr>
          <p:cNvSpPr/>
          <p:nvPr/>
        </p:nvSpPr>
        <p:spPr>
          <a:xfrm>
            <a:off x="320400" y="880533"/>
            <a:ext cx="8150700" cy="4047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Content-Type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это заголовок ответа, который сообщает клиенту (браузеру или приложению), какой тип данных пришел в теле сообщения.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Без этого заголовка браузер может начать «гадать» и часто ошибается. Мы, как бэкенд-разработчики, должны четко указывать формат.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1577387-07E5-5144-05C6-85A6350D30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31478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7AE6EE3-9B84-2C1F-0FF6-8F2A36DB3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0BD4C73B-EC1A-0301-C678-5CC9051EC444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Самые важные типы (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MIME-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типы):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text/plain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обычный текст. Теги &lt;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h1&gt;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будут отображены как текст, а не как заголовок.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text/html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HTML-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документ. Браузер отрисует все теги и создаст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DOM-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дерево.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application/</a:t>
            </a:r>
            <a:r>
              <a:rPr lang="en-US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данные в формате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 (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стандарт для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API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 мобильных приложений).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image/jpeg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или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image/</a:t>
            </a: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png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изображения.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02E4D4D-EBB7-7DF1-61B1-85595CB7349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21525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0B8DA1ED-74B3-7502-1586-21ED40BE0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CD830B3-7378-750B-3E3F-6FDCB15AEC55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Проблема кодировки (UTF-8)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вы отправите кириллицу (русские буквы), но не укажете кодировку, пользователь увидит «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кракозябры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» (ромбики или странные символы).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Правильный формат: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res.writeHead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(200, { 'Content-Type': '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text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html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;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charset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=utf-8' });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FD86EC5-71E1-C616-9C5A-67F360A165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76103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2BD8486-6807-2547-8989-D305F1DF4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1114CC4B-3FF1-2AA0-378D-32E47F3E46D5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Итоги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лекции: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HTTP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это текст. Запрос от клиента, ответ от сервера.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Порт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«квартира» в компьютере, где работает наш сервер (3000).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читаем, что хочет клиент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url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method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пишем ответ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statusCode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writeHead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Content-Type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объясняем браузеру, что именно мы прислали.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DFC82AB6-83EA-13FC-D958-CC20F898936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715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5F55314-7898-4958-9480-F8FB4A58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A63BED38-91CA-D9D6-6121-BF988F7C53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15026"/>
            <a:ext cx="8346900" cy="66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Контрольные вопросы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6682A93-D9C7-FBAA-14FF-26E9049451E6}"/>
              </a:ext>
            </a:extLst>
          </p:cNvPr>
          <p:cNvSpPr/>
          <p:nvPr/>
        </p:nvSpPr>
        <p:spPr>
          <a:xfrm>
            <a:off x="320400" y="978794"/>
            <a:ext cx="8150700" cy="394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Кто всегда является инициатором общения в протоколе HTTP - клиент или сервер?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Программист написал код, который выводит «Ошибка базы данных», но забыл указать статус-код. Какой статус увидит браузер в консоли Network?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чем разница между методами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res.write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и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res.end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()? Можно ли вызвать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res.write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после того, как был вызван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res.end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Какое свойство объекта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поможет нам понять, хочет ли пользователь открыть страницу «О нас» или «Главную»?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увидит пользователь в браузере, если вы отправите строку &lt;h1&gt;Hello&lt;/h1&gt;, указав заголовок Content-Type: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text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plain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Почему при отправке русского текста важно добавлять ;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charset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=utf-8 в заголовок Content-Type?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6964D9A-BD29-A315-0A5D-43051D5DEF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7143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908</TotalTime>
  <Words>2566</Words>
  <Application>Microsoft Office PowerPoint</Application>
  <PresentationFormat>Экран (16:9)</PresentationFormat>
  <Paragraphs>238</Paragraphs>
  <Slides>49</Slides>
  <Notes>49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5" baseType="lpstr">
      <vt:lpstr>Times New Roman</vt:lpstr>
      <vt:lpstr>Mulish ExtraBold</vt:lpstr>
      <vt:lpstr>Mulish SemiBold</vt:lpstr>
      <vt:lpstr>Arial</vt:lpstr>
      <vt:lpstr>Mulish Black</vt:lpstr>
      <vt:lpstr>Office Theme</vt:lpstr>
      <vt:lpstr>ДЕНЬ ОТКРЫТЫХ ДВЕРЕЙ</vt:lpstr>
      <vt:lpstr>Цель занятия:</vt:lpstr>
      <vt:lpstr>Учебные вопросы:</vt:lpstr>
      <vt:lpstr>1. Как работает HTTP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2. Статус-коды: Язык сервера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3. Первый сервер на Node.js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4. Разбор объектов req и res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Content-Type</vt:lpstr>
      <vt:lpstr>Презентация PowerPoint</vt:lpstr>
      <vt:lpstr>Презентация PowerPoint</vt:lpstr>
      <vt:lpstr>Презентация PowerPoint</vt:lpstr>
      <vt:lpstr>Контрольные 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Fido</dc:creator>
  <cp:lastModifiedBy>user</cp:lastModifiedBy>
  <cp:revision>17</cp:revision>
  <dcterms:modified xsi:type="dcterms:W3CDTF">2026-04-17T18:00:08Z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45</vt:i4>
  </property>
  <property fmtid="{D5CDD505-2E9C-101B-9397-08002B2CF9AE}" pid="3" name="PresentationFormat">
    <vt:lpwstr>Экран (16:9)</vt:lpwstr>
  </property>
  <property fmtid="{D5CDD505-2E9C-101B-9397-08002B2CF9AE}" pid="4" name="Slides">
    <vt:i4>45</vt:i4>
  </property>
</Properties>
</file>