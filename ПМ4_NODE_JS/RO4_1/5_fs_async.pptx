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63" r:id="rId3"/>
    <p:sldId id="262" r:id="rId4"/>
    <p:sldId id="264" r:id="rId5"/>
    <p:sldId id="265" r:id="rId6"/>
    <p:sldId id="298" r:id="rId7"/>
    <p:sldId id="299" r:id="rId8"/>
    <p:sldId id="300" r:id="rId9"/>
    <p:sldId id="301" r:id="rId10"/>
    <p:sldId id="304" r:id="rId11"/>
    <p:sldId id="296" r:id="rId12"/>
    <p:sldId id="302" r:id="rId13"/>
    <p:sldId id="303" r:id="rId14"/>
    <p:sldId id="306" r:id="rId15"/>
    <p:sldId id="307" r:id="rId16"/>
    <p:sldId id="308" r:id="rId17"/>
    <p:sldId id="309" r:id="rId18"/>
    <p:sldId id="305" r:id="rId19"/>
    <p:sldId id="310" r:id="rId20"/>
    <p:sldId id="311" r:id="rId21"/>
    <p:sldId id="313" r:id="rId22"/>
    <p:sldId id="314" r:id="rId23"/>
    <p:sldId id="315" r:id="rId24"/>
    <p:sldId id="316" r:id="rId25"/>
    <p:sldId id="317" r:id="rId26"/>
    <p:sldId id="312" r:id="rId27"/>
    <p:sldId id="318" r:id="rId28"/>
    <p:sldId id="319" r:id="rId29"/>
    <p:sldId id="320" r:id="rId30"/>
    <p:sldId id="322" r:id="rId31"/>
    <p:sldId id="323" r:id="rId32"/>
    <p:sldId id="324" r:id="rId33"/>
    <p:sldId id="325" r:id="rId34"/>
    <p:sldId id="326" r:id="rId35"/>
    <p:sldId id="321" r:id="rId36"/>
    <p:sldId id="327" r:id="rId37"/>
    <p:sldId id="329" r:id="rId38"/>
    <p:sldId id="330" r:id="rId39"/>
    <p:sldId id="331" r:id="rId40"/>
    <p:sldId id="297" r:id="rId41"/>
  </p:sldIdLst>
  <p:sldSz cx="9144000" cy="5143500" type="screen16x9"/>
  <p:notesSz cx="6858000" cy="9144000"/>
  <p:embeddedFontLst>
    <p:embeddedFont>
      <p:font typeface="Mulish Black" panose="020B0604020202020204" charset="-52"/>
      <p:bold r:id="rId43"/>
      <p:boldItalic r:id="rId44"/>
    </p:embeddedFont>
    <p:embeddedFont>
      <p:font typeface="Mulish ExtraBold" panose="020B0604020202020204" charset="-52"/>
      <p:bold r:id="rId45"/>
      <p:boldItalic r:id="rId46"/>
    </p:embeddedFont>
    <p:embeddedFont>
      <p:font typeface="Mulish SemiBold" panose="020B0604020202020204" charset="-52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2" roundtripDataSignature="AMtx7miJQyI2npMiufbLtMTLZXKhjf0i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1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8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8" Type="http://schemas.openxmlformats.org/officeDocument/2006/relationships/slide" Target="slides/slide7.xml"/><Relationship Id="rId72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8DAFB3B4-A6E1-27FF-8B6C-9E40294AF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FDA7AD0-34A6-33DA-4F4A-36A4D6BF75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AE18F91-DCA6-3D83-956D-0E4D9AD34F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73423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1D941BEB-544D-4C7F-AB84-40777C546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BCEB855-C630-8AC8-5683-AFBCAFD155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7A07A61D-02CE-7DD4-CD80-D605E40607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66291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BEE044EC-29C7-3CDD-429A-8357606D4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248B09F-DFB1-377F-EA2C-6757B0737D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836A5C5-16BD-7FC7-7F6F-4851AD2FDA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27105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13211A7-4021-13BA-0F5C-962DD5B71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32D9551C-3857-4CC1-F644-12A929969D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778D12E-2568-EF62-123A-3DF2CCC70C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75162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3EFA1182-739F-4DD3-8B12-067C078EA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CB3BA643-AC31-43AE-2C81-F6006EF116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90416CC0-A529-5330-8526-6C09620446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3267688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16E473F6-2B74-31A3-E508-7FA94A370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8C8CBE4F-9B5F-3850-6DD3-573B5F88C1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F52D66A-F6A1-C761-EEFC-90F2F47F41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475117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91BC396E-292E-4CA4-0AA2-069890915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6D035CB8-0F60-59BA-84D6-BCB51D9CEA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674167ED-469E-6932-239C-FC276C8588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491704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69F3AEC8-20FD-C393-C831-E7AA9320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745A694-AC0A-73BE-6DC7-9065159F6E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CB24510-E860-DA39-C416-B59DFF1C09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428354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17E1C49-3313-6E58-F661-2A86CC9FD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A3CD291-2D23-6E61-2B18-1E4E2785E8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B2FD83A-D393-289C-1025-37482C8787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128438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A1980BCD-2CB1-4734-5FA6-14BA3D3EF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4896536C-E8F1-679F-ED94-5463A92117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CB780939-863B-2D3E-83AE-0A0D9B1FF2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105231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AD387BB3-D1F8-B18D-7C86-2AB63C6D7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5DB97502-D595-B3EC-7435-F95F81AE8E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6E3B5A76-20AE-2367-D0D2-E03E45E7A1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5911388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E416D621-25A5-41D3-079D-88B522A73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57BAE5E-37DF-0562-BE1E-7CED613225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9DB57CEF-EA20-F2AB-1475-D3471EA6CB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9260243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ACC183B8-3879-B8B2-067A-20FA50DC8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24E0052E-4603-E9F5-871F-8AE0E91269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95C5F015-10E4-3ABF-76BF-82B49774BB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8459541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52E19FF4-3F0A-E91D-27F5-872CFB328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D81AF1B5-268F-41DD-0B4F-324285D144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03B072E6-10C6-418C-EA69-CFCE27F888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6942130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5C38195D-8F4E-AA2A-36B3-A36836B54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5A28B048-3E53-88F1-D9F3-5A584F3BEB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DC21E044-BED6-EC32-8722-BE34EF63AA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108446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57464C85-D063-680B-B051-DE9D44527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437C9EEA-F1D9-F216-F3D6-4D31884E79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40699B50-EE53-0A3E-6F59-36A9F7BCB3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318591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BFEAF98F-2A19-46E5-3B7B-B357F107E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3CD73B88-181E-4B43-8643-626A503E01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FDD4B2AC-97DE-C1F6-DD4C-692E19D92E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984406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13DAC291-75B8-F649-D595-04601FF14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A44F6AE-15EC-68FB-41D8-CF6672198A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7E0B90E7-2A2E-CE0D-9ACA-C5993AD7A5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176518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B324D2DB-83D6-F14A-997B-CB1E6836D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527FE27B-3CBD-9C85-FA6C-BA16C97BD5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719D49A-D090-B1A9-666A-55EC84916F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3752925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4F34B4B5-FEC9-26DF-EFEC-C277B6C38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8F5A438-8DFC-56EB-B308-DAA173DCCC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04ADB57-6A1D-4BE4-C4AB-EDFB133B4B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4960287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0CC95B01-75D3-C5DE-8197-AFDCF8CD9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6E57BAA9-EE05-4F1C-9139-BA083F7E55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780599C7-388D-2254-525B-9D8ACE8EB1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8683859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81771AB9-B7D9-F264-1AFB-010693A96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640E970B-7B41-E6D9-B6A1-8A5D1FB294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D4D8253F-00E8-FFA3-EBFC-693A0F500A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0145701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8B5924E9-F1F0-124C-2E8E-1CE344C1B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AE831A0B-C682-AFE6-CDDD-4F58C7D61A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D141E1A1-BB8D-1846-6362-8B4E99B1C5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8269602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7435DB59-642C-6B31-BEEF-E16B04AD3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8A63970-653A-2D5E-4C88-80685C52F8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E20B0F0-A8A8-E589-37B7-1EFB07DF44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1192960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8FEFF30B-1E92-0BC7-5CE3-B7680F0F8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85FF7600-1B02-5170-151F-7F54655D62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EB083DD-AD76-E16A-B967-525507F7EB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946173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65A7188-DD5D-726D-A93A-A21535CED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B3CFAA42-96ED-5162-3C6E-986F622A89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D0603114-1BDC-50EE-6997-05CB7DDE7B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441127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63F5B5BB-D2D8-B71D-4E43-F7D53804E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AD046130-28ED-0405-3754-E01EA5699F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F50C2685-BAD2-B6E8-CF7E-01B0298C39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431262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02DD381D-4928-450D-62D0-381AC2186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2F559319-5978-8AF5-0B09-FAEB8BE53B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DC80A798-4807-B8D5-2A20-B4243E6615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90797694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48BF60A4-A6ED-B8F1-7D60-624D16883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DD4D2D48-2D82-3A98-FB3E-3A43FAC55F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9FB7483B-1C8E-70E5-2209-37051EE9F0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012713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036DB83F-8C90-20B8-2669-F4B6789D3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A3FF3508-0174-D42A-4BB6-8F999C90EB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F9415EFC-52FA-4DC9-139D-7B5D235850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4819966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F48A40A-E171-2843-76AE-674D96DD8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63E7FD51-991F-1321-2967-054F526F10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A958C408-79EA-1BEB-067B-A8142F4512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17419666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5783C111-DEB3-5C81-EAA7-548099CA6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6ACB03F4-5CDC-9BF5-1339-F5EB5B780E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E8F24AF7-7D25-12BA-8885-219A29598F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786275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631D9DE9-2086-EDA3-F181-962DBADA8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C7EB11F-6245-B212-B086-9FEE85A5AD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BC05D1B-657B-14A0-440E-F0B8F51019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7535866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F79F9D9-ADA4-2B65-D361-E2521BD9A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16E7603D-8F92-B433-1DC7-354A90BC6E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633E883E-09D4-D069-41A2-996360E8CD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1259471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13F4520E-25C6-1A6F-C9D8-9AC6F8BD7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2B22E3CC-84CE-3E89-3B9F-C89EA636D5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51C0DFE-C8ED-5E6F-9D2C-A055E2E99D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4320030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BEC5C5F8-9B4E-26DD-F105-ACE05BED3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5F22AD1C-E5A6-94FE-206A-5053DA5BB1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E6A76E56-4714-1957-A9EB-DC3EFFAAD0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974750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403803A-D05D-D585-574A-363785698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D0F55F38-8A9B-CC9C-7188-03FD510752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73A7293E-B51D-BAE7-8E02-2857BE3A4E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8738802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C3C8252-301C-5851-DD96-CB0B3D1E0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D08F3A7-AE80-143C-600B-4627A889B1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B5399B4-772E-8DAE-581C-EE42F1B256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55993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6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6"/>
          <p:cNvSpPr txBox="1">
            <a:spLocks noGrp="1"/>
          </p:cNvSpPr>
          <p:nvPr>
            <p:ph type="subTitle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4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4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5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5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6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7"/>
          <p:cNvSpPr txBox="1">
            <a:spLocks noGrp="1"/>
          </p:cNvSpPr>
          <p:nvPr>
            <p:ph type="subTitle" idx="1"/>
          </p:nvPr>
        </p:nvSpPr>
        <p:spPr>
          <a:xfrm>
            <a:off x="311760" y="744480"/>
            <a:ext cx="8520120" cy="9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7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8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8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8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8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8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9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9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9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9"/>
          <p:cNvSpPr txBox="1">
            <a:spLocks noGrp="1"/>
          </p:cNvSpPr>
          <p:nvPr>
            <p:ph type="body" idx="3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9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0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0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0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0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0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1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1"/>
          <p:cNvSpPr txBox="1">
            <a:spLocks noGrp="1"/>
          </p:cNvSpPr>
          <p:nvPr>
            <p:ph type="body" idx="2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1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2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2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2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2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2"/>
          <p:cNvSpPr txBox="1">
            <a:spLocks noGrp="1"/>
          </p:cNvSpPr>
          <p:nvPr>
            <p:ph type="body" idx="4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2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3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3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3"/>
          <p:cNvSpPr txBox="1">
            <a:spLocks noGrp="1"/>
          </p:cNvSpPr>
          <p:nvPr>
            <p:ph type="body" idx="2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73"/>
          <p:cNvSpPr txBox="1">
            <a:spLocks noGrp="1"/>
          </p:cNvSpPr>
          <p:nvPr>
            <p:ph type="body" idx="3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73"/>
          <p:cNvSpPr txBox="1">
            <a:spLocks noGrp="1"/>
          </p:cNvSpPr>
          <p:nvPr>
            <p:ph type="body" idx="4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3"/>
          <p:cNvSpPr txBox="1">
            <a:spLocks noGrp="1"/>
          </p:cNvSpPr>
          <p:nvPr>
            <p:ph type="body" idx="5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3"/>
          <p:cNvSpPr txBox="1">
            <a:spLocks noGrp="1"/>
          </p:cNvSpPr>
          <p:nvPr>
            <p:ph type="body" idx="6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12;p4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"/>
          <p:cNvSpPr txBox="1">
            <a:spLocks noGrp="1"/>
          </p:cNvSpPr>
          <p:nvPr>
            <p:ph type="title"/>
          </p:nvPr>
        </p:nvSpPr>
        <p:spPr>
          <a:xfrm>
            <a:off x="311760" y="2170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61DD"/>
              </a:buClr>
              <a:buSzPts val="4600"/>
              <a:buFont typeface="Mulish ExtraBold"/>
              <a:buNone/>
            </a:pPr>
            <a:r>
              <a:rPr lang="ru" sz="4600" b="0" strike="noStrike">
                <a:solidFill>
                  <a:srgbClr val="7F61DD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ДЕНЬ ОТКРЫТЫХ ДВЕРЕЙ</a:t>
            </a:r>
            <a:endParaRPr sz="46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" y="275"/>
            <a:ext cx="9143640" cy="514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"/>
          <p:cNvSpPr txBox="1">
            <a:spLocks noGrp="1"/>
          </p:cNvSpPr>
          <p:nvPr>
            <p:ph type="title"/>
          </p:nvPr>
        </p:nvSpPr>
        <p:spPr>
          <a:xfrm>
            <a:off x="311760" y="499860"/>
            <a:ext cx="4813200" cy="26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lvl="0">
              <a:buClr>
                <a:srgbClr val="FFFFFF"/>
              </a:buClr>
              <a:buSzPts val="5200"/>
            </a:pPr>
            <a:r>
              <a:rPr lang="ru-RU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Тема 5. Работа с файловой системой - асинхронная</a:t>
            </a:r>
            <a:endParaRPr sz="40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6040" y="4295880"/>
            <a:ext cx="3405960" cy="347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 descr="Picture background">
            <a:extLst>
              <a:ext uri="{FF2B5EF4-FFF2-40B4-BE49-F238E27FC236}">
                <a16:creationId xmlns:a16="http://schemas.microsoft.com/office/drawing/2014/main" id="{3605D530-78B4-D96B-5E5D-8AD558CBAD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8865" y="2396837"/>
            <a:ext cx="2619000" cy="261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661189C-46F6-4CD9-DDDE-0B2E5FF57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DB4BADD6-2AE5-D570-8470-5225E44704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Цель занятия:</a:t>
            </a:r>
            <a:endParaRPr sz="3420" dirty="0">
              <a:solidFill>
                <a:schemeClr val="bg1">
                  <a:lumMod val="85000"/>
                </a:schemeClr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067664F-4901-0A1E-CE0D-48ECCE427D2C}"/>
              </a:ext>
            </a:extLst>
          </p:cNvPr>
          <p:cNvSpPr/>
          <p:nvPr/>
        </p:nvSpPr>
        <p:spPr>
          <a:xfrm>
            <a:off x="320400" y="1207911"/>
            <a:ext cx="8150700" cy="372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Изучить способы неблокирующего взаимодействия с файловой системой. Понять эволюцию подходов в JavaScript: от функций обратного вызова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callbacks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до современного стандарта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async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/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await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8A47345-2906-5DA2-08C2-6D36778F9F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3246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2C321365-8BB3-751B-D626-A8C38FD08C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Учебные вопросы:</a:t>
            </a:r>
            <a:endParaRPr sz="3420" dirty="0">
              <a:solidFill>
                <a:schemeClr val="bg1">
                  <a:lumMod val="85000"/>
                </a:schemeClr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CC3C143E-0B54-BCC4-7C01-340D803FF658}"/>
              </a:ext>
            </a:extLst>
          </p:cNvPr>
          <p:cNvSpPr/>
          <p:nvPr/>
        </p:nvSpPr>
        <p:spPr>
          <a:xfrm>
            <a:off x="320400" y="1038776"/>
            <a:ext cx="8150700" cy="3889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1.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Концепция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Event Loop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2. Callback-style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2.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Модуль </a:t>
            </a:r>
            <a:r>
              <a:rPr lang="en-US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fs.promises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3. Async/Await: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Современный и рекомендуемый синтаксис.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4.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Когда использовать синхронные методы, а когда - асинхронные.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F77FDE5-30BB-2C80-0149-A5DF95C8B0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6A9EA9D-1834-3F87-97B3-C8D3490C6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05BCE706-32DC-49BF-5BEF-B7F6F1A62F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1. Концепция Event </a:t>
            </a:r>
            <a:r>
              <a:rPr lang="ru-RU" sz="3420" dirty="0" err="1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Loop</a:t>
            </a:r>
            <a:r>
              <a:rPr lang="ru-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 и неблокирующий ввод-вывод (I/O)</a:t>
            </a:r>
            <a:endParaRPr sz="3420" dirty="0">
              <a:solidFill>
                <a:schemeClr val="bg1">
                  <a:lumMod val="85000"/>
                </a:schemeClr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35EFA4D-36CB-FFB1-B428-A3FE2F4BEECA}"/>
              </a:ext>
            </a:extLst>
          </p:cNvPr>
          <p:cNvSpPr/>
          <p:nvPr/>
        </p:nvSpPr>
        <p:spPr>
          <a:xfrm>
            <a:off x="320400" y="1648178"/>
            <a:ext cx="8150700" cy="3280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чем проблема блокировки?</a:t>
            </a:r>
          </a:p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большинстве традиционных языков программирования выполнение кода приостанавливается, пока операционная система читает данные с диска.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файл большой, поток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Thread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«спит».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веб-серверах это решается созданием нового потока на каждый запрос, что потребляет много оперативной памяти.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6E7D912-FA7F-2A52-855B-84A9B7456D9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3062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0BF6BB5-4D44-092C-CB17-AB7FE8B66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B6B94BE-9935-740D-1677-3A6C3470B8DC}"/>
              </a:ext>
            </a:extLst>
          </p:cNvPr>
          <p:cNvSpPr/>
          <p:nvPr/>
        </p:nvSpPr>
        <p:spPr>
          <a:xfrm>
            <a:off x="320399" y="316090"/>
            <a:ext cx="8359961" cy="4612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Подход Node.js: «Сделай и позови, когда закончишь»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Node.js - однопоточная среда. Мы не можем позволить себе «спать» во время чтения файла, иначе весь сервер зависнет для всех пользователей.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Как это работает на практике: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Node.js отправляет запрос к файловой системе (через внутреннюю библиотеку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libuv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Не дожидаясь ответа, Node.js переходит к выполнению следующей строки кода.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Когда файл прочитан, событие попадает в очередь, и Event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Loop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(событийный цикл) передает данные в наш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callback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или разрешает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Promise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E2E7FB7-A9C9-18AF-D5E5-AD0C9A6AAF3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3579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66ED7FF-6A75-0C40-7DFA-06000ABFB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EE7F9C6C-A6FA-2B6C-34B2-FFFA6B02BC67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Механика Event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Loop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(кратко)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Event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Loop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это бесконечный цикл, который проверяет: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Есть ли задачи в Call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Stack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(выполняется ли сейчас какой-то код?).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стек пуст, он заглядывает в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Callback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Queue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(очередь задач) и переносит готовую задачу (например, «файл прочитан») в стек на выполнение.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CFE9647-0761-8B04-D5E1-D4884DAC48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6826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0DBD7341-45EB-3A3C-BFD2-141271276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162C764E-41E8-BE5C-D143-F4F3C88B59F3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Синхронно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vs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Асинхронно </a:t>
            </a:r>
          </a:p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(Пример-сравнение)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Синхронный подход (уже изучен):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b="0" i="0" u="none" strike="noStrike" cap="none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b="0" i="0" u="none" strike="noStrike" cap="none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b="0" i="0" u="none" strike="noStrike" cap="none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</a:rPr>
              <a:t>Порядок в консоли: 1 → 2 → 3.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48F6BA80-17E6-027D-84D8-AB73CDB1703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74BE766-AABB-DD0A-B985-BAB23DB9E5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930" y="2095500"/>
            <a:ext cx="8329429" cy="1416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113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B5D01552-4B38-8F9F-6A0F-3B2B99BA8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1BCDE14B-92A3-D612-30E0-EFB04F93533A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Асинхронный подход (новый):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b="0" i="0" u="none" strike="noStrike" cap="none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b="0" i="0" u="none" strike="noStrike" cap="none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b="0" i="0" u="none" strike="noStrike" cap="none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Порядок в консоли: 1 → 3 → 2.</a:t>
            </a:r>
            <a:endParaRPr sz="3000" dirty="0">
              <a:solidFill>
                <a:schemeClr val="bg1">
                  <a:lumMod val="95000"/>
                </a:schemeClr>
              </a:solidFill>
              <a:latin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9D2A0B4-616A-2AA4-1E8F-37C8185F19D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0A27C90-02EF-9E21-2E13-6FA0988F11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0" y="1562850"/>
            <a:ext cx="8216720" cy="178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087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D7576F8-D0AB-198D-F5BB-47C749144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08FA20A6-5784-B5C4-4874-A416683BEF92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Ключевые термины для запоминания: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Non-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blocking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I/O: Ввод-вывод, который не заставляет программу ждать.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Call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Stack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Место, где выполняется текущий код.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Callback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Queue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Очередь из «завершенных» асинхронных дел, которые ждут своего часа.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libuv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Библиотека на языке C++, которая фактически выполняет чтение файлов в фоновых потоках, пока основной поток JS занят.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A74579A9-D3AD-4A0A-DFD1-C41E678DB0A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5597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99B45D7-0643-B183-529F-97794E086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1F1EE738-6E11-ACE6-8B7E-F976FCFBC988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Вывод:</a:t>
            </a:r>
            <a:b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</a:b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Асинхронность в Node.js - это не «параллельное выполнение кода», это умение грамотно перекладывать тяжелые задачи (I/O) на плечи операционной системы, оставаясь свободным для обработки новых команд.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4D21653C-11C1-188D-61BF-A72978C382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848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7E1C49C-1938-F461-02A6-5F1E16999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96A145A8-17DA-5B1A-46E6-702E9E0073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lvl="0" algn="ctr">
              <a:buClr>
                <a:srgbClr val="434343"/>
              </a:buClr>
              <a:buSzPts val="2620"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2. </a:t>
            </a:r>
            <a:r>
              <a:rPr lang="ru-RU" sz="3420" dirty="0" err="1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Callback-style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2D864CD3-DB4C-A805-18F7-32D8CDDCBE88}"/>
              </a:ext>
            </a:extLst>
          </p:cNvPr>
          <p:cNvSpPr/>
          <p:nvPr/>
        </p:nvSpPr>
        <p:spPr>
          <a:xfrm>
            <a:off x="320400" y="1038578"/>
            <a:ext cx="8150700" cy="3889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такое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Callback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колбэк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Node.js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callback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это функция, которая передается в качестве аргумента в асинхронный метод.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Она «вызывается обратно», когда операция ввода-вывода (I/O) завершена.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0F399CAB-9F97-1E8C-7DF2-41B62C6C3A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2745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49E9CF9-1988-091A-AADB-0F1D2BB06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3B97FBEE-2F64-6C57-12FE-2A22DC0B7B8C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Правило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Error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-First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Callback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Node.js принят стандарт: первым аргументом в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колбэк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-функцию всегда передается объект ошибки (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err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), а вторым - результат операции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data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err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не равен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sym typeface="Mulish SemiBold"/>
              </a:rPr>
              <a:t>null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значит, что-то пошло не так.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err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равен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null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значит, данные успешно получены.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40E97C06-332E-4406-4D84-03069803A3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662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9E3E3F69-457C-B75A-6622-B58DB321A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FA879C96-913E-0D5D-5AAF-5308E0692554}"/>
              </a:ext>
            </a:extLst>
          </p:cNvPr>
          <p:cNvSpPr/>
          <p:nvPr/>
        </p:nvSpPr>
        <p:spPr>
          <a:xfrm>
            <a:off x="320399" y="282222"/>
            <a:ext cx="8359961" cy="4646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 чтения файла: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B5D57E90-840D-7EDF-49FB-688ED2686E4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64756B3-00D4-15A4-D881-4FD9F72BFC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261" y="1016789"/>
            <a:ext cx="7353477" cy="374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506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5839DCD3-809E-CD5E-3CE4-C44245713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B957C22F-17A7-0A9D-0C33-33B352889099}"/>
              </a:ext>
            </a:extLst>
          </p:cNvPr>
          <p:cNvSpPr/>
          <p:nvPr/>
        </p:nvSpPr>
        <p:spPr>
          <a:xfrm>
            <a:off x="320399" y="282222"/>
            <a:ext cx="8359961" cy="4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Проблема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Callback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Hell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(Ад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колбэков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Когда нам нужно выполнить несколько асинхронных действий последовательно (например: прочитать файл → изменить данные → сохранить в другой файл → удалить оригинал), код начинает расти вправо, образуя «пирамиду» или «лесенку».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6718B616-BD71-2854-9678-88E46D201E6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0811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4C34D66-2B8B-A767-F216-4F119E0B2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A09AF9A4-163B-3DF0-38B9-9BEFD4AB9329}"/>
              </a:ext>
            </a:extLst>
          </p:cNvPr>
          <p:cNvSpPr/>
          <p:nvPr/>
        </p:nvSpPr>
        <p:spPr>
          <a:xfrm>
            <a:off x="320399" y="282222"/>
            <a:ext cx="8359961" cy="4646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 "лапшичного" кода: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1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Минусы такого подхода: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1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- </a:t>
            </a:r>
            <a:r>
              <a:rPr lang="ru-RU" sz="31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Трудность чтения: Глазу сложно следить за вложенностью.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1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- </a:t>
            </a:r>
            <a:r>
              <a:rPr lang="ru-RU" sz="31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Сложность обработки ошибок: Нужно писать </a:t>
            </a:r>
            <a:r>
              <a:rPr lang="ru-RU" sz="3100" dirty="0" err="1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if</a:t>
            </a:r>
            <a:r>
              <a:rPr lang="ru-RU" sz="31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 (</a:t>
            </a:r>
            <a:r>
              <a:rPr lang="ru-RU" sz="3100" dirty="0" err="1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err</a:t>
            </a:r>
            <a:r>
              <a:rPr lang="ru-RU" sz="31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) на каждом уровне.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1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- </a:t>
            </a:r>
            <a:r>
              <a:rPr lang="ru-RU" sz="31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Трудность поддержки: Очень легко запутаться в закрывающих скобках });.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2591731-22E9-DC06-66FF-E563DAD6A0B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03046C1-D953-920B-E4B9-3581A787EE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42" y="717844"/>
            <a:ext cx="6831353" cy="304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232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3D9B0187-3765-6968-08E6-F45056355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69FD780-A2DB-146E-B1B8-2E748F4DF0F5}"/>
              </a:ext>
            </a:extLst>
          </p:cNvPr>
          <p:cNvSpPr/>
          <p:nvPr/>
        </p:nvSpPr>
        <p:spPr>
          <a:xfrm>
            <a:off x="320399" y="282222"/>
            <a:ext cx="8359961" cy="4646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Основные асинхронные методы (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Callback-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версии)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Методы те же, что и в синхронной лекции, но без суффикса </a:t>
            </a: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Sync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 с обязательным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колбэком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в конце: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fs.readFile</a:t>
            </a: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(path, encoding, callback)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чтение.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fs.writeFile</a:t>
            </a: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(path, data, options, callback)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запись.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fs.appendFile</a:t>
            </a: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(path, data, callback)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добавление.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fs.unlink</a:t>
            </a: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(path, callback)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удаление.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fs.mkdir</a:t>
            </a: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(path, options, callback)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создание папки.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DD773522-1B27-B283-7FF9-1C97125561F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67509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28BE01C4-0AA2-9127-34DF-FA8B66EB2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4B9A8D63-142B-9A8F-3636-9FD883E7DB47}"/>
              </a:ext>
            </a:extLst>
          </p:cNvPr>
          <p:cNvSpPr/>
          <p:nvPr/>
        </p:nvSpPr>
        <p:spPr>
          <a:xfrm>
            <a:off x="320399" y="282222"/>
            <a:ext cx="8359961" cy="4646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Итог:</a:t>
            </a:r>
            <a:b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</a:b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Не блокируем поток: Пока файл читается, Node.js может обрабатывать другие задачи.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Проверяем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err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первым: Это признак хорошего тона и стабильного кода.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Избегаем глубокой вложенности: Если ваш код уходит далеко вправо - пора переходить на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Promises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или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Async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/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Await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Callback-style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Старый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стандарт работы с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0E81443-9EA2-3ECA-47BC-BD3860DAA71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52922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3C6EF5CB-CE7E-807C-5AEA-83670CDDB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BFB55E01-5667-A7B1-A4BB-DCEAE04DD9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lvl="0" algn="ctr">
              <a:buClr>
                <a:srgbClr val="434343"/>
              </a:buClr>
              <a:buSzPts val="2620"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3. </a:t>
            </a:r>
            <a:r>
              <a:rPr lang="fr-FR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Promises (</a:t>
            </a:r>
            <a:r>
              <a:rPr lang="fr-FR" sz="3420" dirty="0" err="1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Промисы</a:t>
            </a:r>
            <a:r>
              <a:rPr lang="fr-FR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): </a:t>
            </a:r>
            <a:r>
              <a:rPr lang="fr-FR" sz="3420" dirty="0" err="1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Модуль</a:t>
            </a:r>
            <a:r>
              <a:rPr lang="fr-FR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 </a:t>
            </a:r>
            <a:r>
              <a:rPr lang="fr-FR" sz="3420" dirty="0" err="1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fs.promises</a:t>
            </a:r>
            <a:r>
              <a:rPr lang="fr-FR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.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4273A972-23DD-7C84-7D80-D0DA96BD71D8}"/>
              </a:ext>
            </a:extLst>
          </p:cNvPr>
          <p:cNvSpPr/>
          <p:nvPr/>
        </p:nvSpPr>
        <p:spPr>
          <a:xfrm>
            <a:off x="320400" y="1433689"/>
            <a:ext cx="8150700" cy="3494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Promise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(обещание) - это объект, представляющий результат асинхронной операции.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Вместо того чтобы передавать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колбэк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«внутрь» функции, функция возвращает объект-обещание, с которым мы работаем «снаружи».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3F36E3B-2209-00DF-5723-56A5A24DA1A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8435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29E3922-CC0D-83B0-D9E1-5AFB4D892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FF54D59C-0951-8827-F10E-17DF211C6EF7}"/>
              </a:ext>
            </a:extLst>
          </p:cNvPr>
          <p:cNvSpPr/>
          <p:nvPr/>
        </p:nvSpPr>
        <p:spPr>
          <a:xfrm>
            <a:off x="320399" y="282222"/>
            <a:ext cx="8359961" cy="4646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Промис может находиться в одном из 3 состояний: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Pending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(Ожидание) - операция еще идет.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Fulfilled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(Выполнено) - всё прошло успешно, данные получены.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Rejected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(Отклонено) - произошла ошибка.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3D36391-F514-DE9D-BB82-2EAEFF2E96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971492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AA95A5C-A369-7362-CD80-6DCBC92D0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00BEE5BA-76B6-6181-9F9D-53DFB522E10A}"/>
              </a:ext>
            </a:extLst>
          </p:cNvPr>
          <p:cNvSpPr/>
          <p:nvPr/>
        </p:nvSpPr>
        <p:spPr>
          <a:xfrm>
            <a:off x="320399" y="282222"/>
            <a:ext cx="8359961" cy="4646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Модуль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fs.promises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Node.js есть специальный подмодуль, где все методы файловой системы возвращают промисы вместо использования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колбэков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Как подключить: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677D944-90EB-479E-F88D-641F708EC2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E15DFB6-2C90-AE7F-A27D-84FCB1BAD2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421" y="3642078"/>
            <a:ext cx="7614179" cy="823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233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7200D8EC-4683-5966-17D7-C2556DA5D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DE0CCEE1-9DD4-6DD1-5862-4141614813FC}"/>
              </a:ext>
            </a:extLst>
          </p:cNvPr>
          <p:cNvSpPr/>
          <p:nvPr/>
        </p:nvSpPr>
        <p:spPr>
          <a:xfrm>
            <a:off x="320399" y="282222"/>
            <a:ext cx="8359961" cy="4646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Обработка через .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then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и .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catch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Этот синтаксис позволяет избавиться от вложенности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Callback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Hell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и выстроить логику в цепочку.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then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вызывается, если операция завершилась успешно. Принимает данные.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catch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вызывается, если произошла любая ошибка на любом этапе цепочки.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BA7372B1-BF44-D1CB-0720-88A44DB4FF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61726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7FD872AE-798F-81C7-1768-82C6D639A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14CB096-99DF-FCAC-0AE5-3ECD0F24BC0E}"/>
              </a:ext>
            </a:extLst>
          </p:cNvPr>
          <p:cNvSpPr/>
          <p:nvPr/>
        </p:nvSpPr>
        <p:spPr>
          <a:xfrm>
            <a:off x="320399" y="282222"/>
            <a:ext cx="8359961" cy="4646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 чтения файла: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B544BB7-FA0E-D1A9-C8AF-C778725F96E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E232215-CE74-48CC-54DF-B78144F8A0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887703"/>
            <a:ext cx="7620000" cy="386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0526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B487E01B-4776-C8C8-8948-881772738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7FD65CCD-298D-A43B-F2BD-D2F7D5593F56}"/>
              </a:ext>
            </a:extLst>
          </p:cNvPr>
          <p:cNvSpPr/>
          <p:nvPr/>
        </p:nvSpPr>
        <p:spPr>
          <a:xfrm>
            <a:off x="320399" y="282222"/>
            <a:ext cx="8359961" cy="4646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Цепочки промисов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Chaining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Главное преимущество промисов - возможность передавать результат одной операции следующей. 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Больше никакой «лесенки»!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0B524C5-18E5-1F82-EA8B-09D1F0E1278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39335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351F0FF-964C-C8A2-E948-948946949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00605E7D-532A-71D6-7282-0CDEBE46AFB5}"/>
              </a:ext>
            </a:extLst>
          </p:cNvPr>
          <p:cNvSpPr/>
          <p:nvPr/>
        </p:nvSpPr>
        <p:spPr>
          <a:xfrm>
            <a:off x="320399" y="282222"/>
            <a:ext cx="8359961" cy="4646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Пример: прочитать → изменить → записать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</a:t>
            </a:r>
            <a:endParaRPr sz="28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2206919-4EEE-B272-F77C-99A239AEB7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571D393-B4FC-2E98-F11A-0A5EEB9422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129" y="851781"/>
            <a:ext cx="7048500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2386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BBD2A545-07FE-2212-A029-5431F8BCD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7D022643-58D4-7FAA-7F3B-6966FC15DA49}"/>
              </a:ext>
            </a:extLst>
          </p:cNvPr>
          <p:cNvSpPr/>
          <p:nvPr/>
        </p:nvSpPr>
        <p:spPr>
          <a:xfrm>
            <a:off x="320399" y="282222"/>
            <a:ext cx="8359961" cy="4646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Преимущества перед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колбэками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Линейная структура: Код растет вниз, а не вправо.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Единый центр обработки ошибок: Один .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catch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в конце цепочки заменяет десятки проверок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if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err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внутри каждого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колбэка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Комбинирование: Можно запустить несколько операций одновременно через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Promise.all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CE10D949-3DA8-5582-080D-3D37C52CC17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51745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7E4ADF07-AB4B-8983-F486-C5AB18678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02C59CB1-B0CF-4561-B020-7DB20A46ED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lvl="0" algn="ctr">
              <a:buClr>
                <a:srgbClr val="434343"/>
              </a:buClr>
              <a:buSzPts val="2620"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4. </a:t>
            </a:r>
            <a:r>
              <a:rPr lang="ru-RU" sz="3420" dirty="0" err="1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Async</a:t>
            </a: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/</a:t>
            </a:r>
            <a:r>
              <a:rPr lang="ru-RU" sz="3420" dirty="0" err="1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Await</a:t>
            </a: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: Современный и рекомендуемый синтаксис.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30A33C49-B457-02F2-D5EB-828648BCD2BE}"/>
              </a:ext>
            </a:extLst>
          </p:cNvPr>
          <p:cNvSpPr/>
          <p:nvPr/>
        </p:nvSpPr>
        <p:spPr>
          <a:xfrm>
            <a:off x="320400" y="1512711"/>
            <a:ext cx="8150700" cy="3415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Async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/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Await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это специальный синтаксис (синтаксический сахар) для работы с промисами.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Он не меняет того, как работает Node.js под капотом, но делает код максимально чистым. 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CCCBA94A-E7C3-2EFE-C9B7-82D483E391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52839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C85393C-1590-5AF0-4E86-F6FAB3D06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FDC75D68-AC3F-8A50-4236-A30A871361D0}"/>
              </a:ext>
            </a:extLst>
          </p:cNvPr>
          <p:cNvSpPr/>
          <p:nvPr/>
        </p:nvSpPr>
        <p:spPr>
          <a:xfrm>
            <a:off x="320399" y="282222"/>
            <a:ext cx="8359961" cy="4646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async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ключевое слово перед функцией. Оно говорит о том, что внутри функции будут асинхронные операции, и сама функция теперь всегда возвращает промис.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await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ключевое слово, которое можно использовать только внутри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async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-функции.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Оно заставляет Node.js подождать выполнения промиса, не блокируя при этом весь поток (Event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Loop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BCEF2E1-8F34-2DFD-374F-AC1A1DA20E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5957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A260D69F-04F2-0094-A10A-774363E8A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7464DFB1-571A-7280-C20B-5B1D10131B05}"/>
              </a:ext>
            </a:extLst>
          </p:cNvPr>
          <p:cNvSpPr/>
          <p:nvPr/>
        </p:nvSpPr>
        <p:spPr>
          <a:xfrm>
            <a:off x="320399" y="282222"/>
            <a:ext cx="8359961" cy="4646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DEF51630-18D3-B79F-9C18-CE3FEFD60A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9DFA996-B0B6-814B-796F-1ABF36C94E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315" y="1038224"/>
            <a:ext cx="8061045" cy="351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26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B4C048EF-4201-7F15-9A15-8BA6E0D8A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F2976DC4-9FEE-64FE-6762-EF2D41A89FB4}"/>
              </a:ext>
            </a:extLst>
          </p:cNvPr>
          <p:cNvSpPr/>
          <p:nvPr/>
        </p:nvSpPr>
        <p:spPr>
          <a:xfrm>
            <a:off x="320399" y="282222"/>
            <a:ext cx="8359961" cy="4646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Обработка ошибок через </a:t>
            </a:r>
            <a:r>
              <a:rPr lang="ru-RU" sz="3000" b="1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try</a:t>
            </a:r>
            <a:r>
              <a:rPr lang="ru-RU" sz="3000" b="1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...</a:t>
            </a:r>
            <a:r>
              <a:rPr lang="ru-RU" sz="3000" b="1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catch</a:t>
            </a:r>
            <a:endParaRPr lang="en-US" sz="3000" b="1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отличие от промисов с их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catch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при использовании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async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/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await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мы возвращаемся к классической конструкции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try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...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catch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 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Это удобно, так как один блок может обрабатывать и асинхронные ошибки (чтение файла), и синхронные (ошибки парсинга данных)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AF40B326-F44B-3009-59A5-327AFCB3E0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102633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EC1234EB-546C-B502-9BDC-1A79EC1B2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638692A-F444-5830-D929-B870E028D7AA}"/>
              </a:ext>
            </a:extLst>
          </p:cNvPr>
          <p:cNvSpPr/>
          <p:nvPr/>
        </p:nvSpPr>
        <p:spPr>
          <a:xfrm>
            <a:off x="320399" y="282222"/>
            <a:ext cx="8359961" cy="4646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BACABA1-0A4F-DE7C-8920-272908A8B41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5AAE68A-51B8-AF40-67D2-4FFF9CE6BA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0" y="1387473"/>
            <a:ext cx="8156536" cy="229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8871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F7CD9779-5A8E-06F2-753D-85B6DA953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1EBC358C-7CA2-C814-A1AA-5B574A592157}"/>
              </a:ext>
            </a:extLst>
          </p:cNvPr>
          <p:cNvSpPr/>
          <p:nvPr/>
        </p:nvSpPr>
        <p:spPr>
          <a:xfrm>
            <a:off x="320399" y="282222"/>
            <a:ext cx="8359961" cy="4646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Последовательные операции</a:t>
            </a:r>
            <a:endParaRPr lang="en-US" sz="3000" b="1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b="1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async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/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await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решение задачи «прочитать → изменить → записать» становится линейным и понятным даже новичку.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9148649-D29D-7B1C-1EF5-F98EEF1A1B9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221169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08C7B34C-A38C-5772-FC8E-E0CB18FC4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12142E1D-E5B2-4D62-03FA-1523E7AA9BCA}"/>
              </a:ext>
            </a:extLst>
          </p:cNvPr>
          <p:cNvSpPr/>
          <p:nvPr/>
        </p:nvSpPr>
        <p:spPr>
          <a:xfrm>
            <a:off x="320399" y="282222"/>
            <a:ext cx="8359961" cy="4646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3F8B26A-724B-4B3C-F7E7-5E674563DB2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0260417-634F-5808-FE92-0AC7FE709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315" y="936978"/>
            <a:ext cx="6334125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6985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95BCDC50-E7A5-1DB6-1F2D-C5C33F2BB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8487BAC-C778-9ADA-1FEC-A2AC20F92F9E}"/>
              </a:ext>
            </a:extLst>
          </p:cNvPr>
          <p:cNvSpPr/>
          <p:nvPr/>
        </p:nvSpPr>
        <p:spPr>
          <a:xfrm>
            <a:off x="320399" y="282222"/>
            <a:ext cx="8359961" cy="4861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Важные нюансы: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Не забывайте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async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Если вы напишете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await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внутри обычной функции, Node.js выдаст синтаксическую ошибку.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wait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не делает код синхронным: Пока выполняется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await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Event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Loop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свободен и может обрабатывать другие запросы. Это «умное ожидание».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253B147-C5CE-E037-1D2B-12553658A7B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54843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8E69C6C-7ADB-6692-502B-9A4C98CEE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9BB1651-6D8B-713A-8411-318E648548CD}"/>
              </a:ext>
            </a:extLst>
          </p:cNvPr>
          <p:cNvSpPr/>
          <p:nvPr/>
        </p:nvSpPr>
        <p:spPr>
          <a:xfrm>
            <a:off x="320399" y="282222"/>
            <a:ext cx="8359961" cy="4646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Сравнение трех подходов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FEC1C582-5746-BB4D-B389-642CB9B899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6513548-5480-2BC3-E6B8-406825D2D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70" y="1465439"/>
            <a:ext cx="8089459" cy="2212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9737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A5864AF0-6A5E-D8EA-ABC4-1B7118C95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C2A85C0D-94AE-6604-F914-1978FEE4D3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lvl="0" algn="ctr">
              <a:buClr>
                <a:srgbClr val="434343"/>
              </a:buClr>
              <a:buSzPts val="2620"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5. Когда использовать синхронные методы, а когда - асинхронные?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33DDA36F-E0CE-DB8A-F2FC-086E32F237CE}"/>
              </a:ext>
            </a:extLst>
          </p:cNvPr>
          <p:cNvSpPr/>
          <p:nvPr/>
        </p:nvSpPr>
        <p:spPr>
          <a:xfrm>
            <a:off x="320400" y="1444978"/>
            <a:ext cx="8150700" cy="3483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Существуют две крайности: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b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</a:b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использование синхронных методов везде, потому что это "проще"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использование асинхронных методов там, где в этом нет никакого смысла.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1442AC1-EF22-8196-BBC4-BF0A4AEBF2F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64501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2207448-76DE-A7B9-F672-015222D5E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4BAD95FA-AD0D-FAF5-94B3-07799B98E31E}"/>
              </a:ext>
            </a:extLst>
          </p:cNvPr>
          <p:cNvSpPr/>
          <p:nvPr/>
        </p:nvSpPr>
        <p:spPr>
          <a:xfrm>
            <a:off x="320399" y="282222"/>
            <a:ext cx="8359961" cy="4646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Золотое правило Node.js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«Никогда не блокируй Event </a:t>
            </a: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Loop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в коде сервера».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ваше приложение должно отвечать на запросы пользователей (веб-сервер, чат-бот, API), любое использование синхронных методов ввода-вывода (I/O) - это потенциальная катастрофа, так как один пользователь "подвесит" сервис для всех остальных.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E3E7E91-4575-42AF-6A15-D86D852D1F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3444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9537F0F5-F4E0-FF8B-7ABA-6CBED7ADF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5535B737-1EEF-9146-6334-9F6A035D1F94}"/>
              </a:ext>
            </a:extLst>
          </p:cNvPr>
          <p:cNvSpPr/>
          <p:nvPr/>
        </p:nvSpPr>
        <p:spPr>
          <a:xfrm>
            <a:off x="320399" y="282222"/>
            <a:ext cx="8359961" cy="4646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Когда использовать Синхронные методы?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Синхронные методы допустимы только в тех случаях, когда программа не может продолжать работу без этих данных, и при этом нет конкурентных запросов.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Инициализация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Startup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): Чтение файлов конфигурации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config.json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при запуске сервера. Если конфиг не прочитан, сервер всё равно не должен запускаться.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CLI-утилиты (Скрипты): Простые консольные инструменты для личного пользования (например, скрипт, который один раз переименовывает файлы в папке).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Тесты: В коде тестов часто используют синхронные методы для простоты настройки окружения перед проверками.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BF9E2DBA-D2A2-0BD4-F83E-BAEA26A8E39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0107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AA83C2CE-8F22-36F4-765C-1BD48F5BB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E23DD66B-6295-22D0-3D04-6BD7A6290BDF}"/>
              </a:ext>
            </a:extLst>
          </p:cNvPr>
          <p:cNvSpPr/>
          <p:nvPr/>
        </p:nvSpPr>
        <p:spPr>
          <a:xfrm>
            <a:off x="320399" y="282222"/>
            <a:ext cx="8359961" cy="4646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Когда использовать Асинхронные методы?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Асинхронные методы обязательны во всех сценариях, где важна производительность и отзывчивость.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Веб-серверы (Express и др.): 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Любая работа с файлами внутри обработчиков запросов (чтение шаблонов, загрузка аватарок, запись логов).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Высоконагруженные системы: Когда нужно выполнять несколько операций одновременно (например, прочитать 10 разных файлов параллельно).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Стриминг и видео: Работа с потоковыми данными.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C60ABAF-1AB8-C348-5283-4A17EACD7BB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23974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54480DBB-9469-3E90-87C3-EDF5EB73C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4B0D33D7-2D95-23EC-E09D-A183F2171AF3}"/>
              </a:ext>
            </a:extLst>
          </p:cNvPr>
          <p:cNvSpPr/>
          <p:nvPr/>
        </p:nvSpPr>
        <p:spPr>
          <a:xfrm>
            <a:off x="320399" y="158044"/>
            <a:ext cx="8359961" cy="4985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Выводы: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- Главная фишка Node.js - неблокирующий ввод-вывод.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- Event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Loop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 (Событийный цикл) - диспетчер, который следит за тем, чтобы вовремя выполнить код из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колбэка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 или промиса, когда данные станут доступны.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- Эволюция методов: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Callbacks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: Фундамент, но порождают «ад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колбэков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».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Promises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: Позволяют строить цепочки .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then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().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catch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(), делая код линейным.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Async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/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Await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: «Золотой стандарт» современности. Код выглядит как синхронный, но работает асинхронно.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-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try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...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catch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: В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async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/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await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 этот блок снова становится основным инструментом обработки ошибок, как и в синхронном коде.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- Синхронность уместна редко: Только при старте сервера (чтение конфига) или в простых консольных скриптах. В остальное время - только асинхронность.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95962491-0C23-C458-12FD-4AB1A8D3A1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61902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45F55314-7898-4958-9480-F8FB4A584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A63BED38-91CA-D9D6-6121-BF988F7C53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15026"/>
            <a:ext cx="8346900" cy="66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Контрольные вопросы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6682A93-D9C7-FBAA-14FF-26E9049451E6}"/>
              </a:ext>
            </a:extLst>
          </p:cNvPr>
          <p:cNvSpPr/>
          <p:nvPr/>
        </p:nvSpPr>
        <p:spPr>
          <a:xfrm>
            <a:off x="320400" y="978794"/>
            <a:ext cx="8150700" cy="394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Объясните своими словами, что делает Node.js, когда встречает функцию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fs.readFile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()?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Почему правило "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Error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-First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Callback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 так важно для старого стиля Node.js?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чем преимущество использования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fs.promises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по сравнению с обычным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?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произойдет с сервером на Express, если внутри обработчика запроса вызвать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fs.readFileSync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для файла размером 1 ГБ?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Зачем нужно ключевое слово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await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и что будет, если его забыть перед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fs.readFile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внутри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async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функции?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какой ситуации использование синхронного метода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fs.existsSync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предпочтительнее асинхронной проверки?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6964D9A-BD29-A315-0A5D-43051D5DEF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7143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</TotalTime>
  <Words>1776</Words>
  <Application>Microsoft Office PowerPoint</Application>
  <PresentationFormat>Экран (16:9)</PresentationFormat>
  <Paragraphs>184</Paragraphs>
  <Slides>40</Slides>
  <Notes>40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6" baseType="lpstr">
      <vt:lpstr>Times New Roman</vt:lpstr>
      <vt:lpstr>Mulish ExtraBold</vt:lpstr>
      <vt:lpstr>Arial</vt:lpstr>
      <vt:lpstr>Mulish Black</vt:lpstr>
      <vt:lpstr>Mulish SemiBold</vt:lpstr>
      <vt:lpstr>Office Theme</vt:lpstr>
      <vt:lpstr>ДЕНЬ ОТКРЫТЫХ ДВЕРЕЙ</vt:lpstr>
      <vt:lpstr>Цель занятия:</vt:lpstr>
      <vt:lpstr>Учебные вопросы:</vt:lpstr>
      <vt:lpstr>1. Концепция Event Loop и неблокирующий ввод-вывод (I/O)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2. Callback-style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3. Promises (Промисы): Модуль fs.promises.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4. Async/Await: Современный и рекомендуемый синтаксис.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5. Когда использовать синхронные методы, а когда - асинхронные?</vt:lpstr>
      <vt:lpstr>Презентация PowerPoint</vt:lpstr>
      <vt:lpstr>Презентация PowerPoint</vt:lpstr>
      <vt:lpstr>Презентация PowerPoint</vt:lpstr>
      <vt:lpstr>Презентация PowerPoint</vt:lpstr>
      <vt:lpstr>Контрольные вопросы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Fido</dc:creator>
  <cp:lastModifiedBy>user</cp:lastModifiedBy>
  <cp:revision>17</cp:revision>
  <dcterms:modified xsi:type="dcterms:W3CDTF">2026-04-08T14:15:12Z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45</vt:i4>
  </property>
  <property fmtid="{D5CDD505-2E9C-101B-9397-08002B2CF9AE}" pid="3" name="PresentationFormat">
    <vt:lpwstr>Экран (16:9)</vt:lpwstr>
  </property>
  <property fmtid="{D5CDD505-2E9C-101B-9397-08002B2CF9AE}" pid="4" name="Slides">
    <vt:i4>45</vt:i4>
  </property>
</Properties>
</file>