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7"/>
  </p:notesMasterIdLst>
  <p:sldIdLst>
    <p:sldId id="256" r:id="rId2"/>
    <p:sldId id="263" r:id="rId3"/>
    <p:sldId id="262" r:id="rId4"/>
    <p:sldId id="264" r:id="rId5"/>
    <p:sldId id="265" r:id="rId6"/>
    <p:sldId id="298" r:id="rId7"/>
    <p:sldId id="299" r:id="rId8"/>
    <p:sldId id="300" r:id="rId9"/>
    <p:sldId id="301" r:id="rId10"/>
    <p:sldId id="302" r:id="rId11"/>
    <p:sldId id="296" r:id="rId12"/>
    <p:sldId id="303" r:id="rId13"/>
    <p:sldId id="304" r:id="rId14"/>
    <p:sldId id="306" r:id="rId15"/>
    <p:sldId id="307" r:id="rId16"/>
    <p:sldId id="308" r:id="rId17"/>
    <p:sldId id="309" r:id="rId18"/>
    <p:sldId id="305" r:id="rId19"/>
    <p:sldId id="310" r:id="rId20"/>
    <p:sldId id="312" r:id="rId21"/>
    <p:sldId id="313" r:id="rId22"/>
    <p:sldId id="314" r:id="rId23"/>
    <p:sldId id="315" r:id="rId24"/>
    <p:sldId id="316" r:id="rId25"/>
    <p:sldId id="317" r:id="rId26"/>
    <p:sldId id="311" r:id="rId27"/>
    <p:sldId id="318" r:id="rId28"/>
    <p:sldId id="321" r:id="rId29"/>
    <p:sldId id="322" r:id="rId30"/>
    <p:sldId id="319" r:id="rId31"/>
    <p:sldId id="323" r:id="rId32"/>
    <p:sldId id="324" r:id="rId33"/>
    <p:sldId id="325" r:id="rId34"/>
    <p:sldId id="320" r:id="rId35"/>
    <p:sldId id="326" r:id="rId36"/>
    <p:sldId id="327" r:id="rId37"/>
    <p:sldId id="329" r:id="rId38"/>
    <p:sldId id="330" r:id="rId39"/>
    <p:sldId id="331" r:id="rId40"/>
    <p:sldId id="332" r:id="rId41"/>
    <p:sldId id="333" r:id="rId42"/>
    <p:sldId id="334" r:id="rId43"/>
    <p:sldId id="335" r:id="rId44"/>
    <p:sldId id="328" r:id="rId45"/>
    <p:sldId id="297" r:id="rId46"/>
  </p:sldIdLst>
  <p:sldSz cx="9144000" cy="5143500" type="screen16x9"/>
  <p:notesSz cx="6858000" cy="9144000"/>
  <p:embeddedFontLst>
    <p:embeddedFont>
      <p:font typeface="Mulish Black" panose="020B0604020202020204" charset="-52"/>
      <p:bold r:id="rId48"/>
      <p:boldItalic r:id="rId49"/>
    </p:embeddedFont>
    <p:embeddedFont>
      <p:font typeface="Mulish ExtraBold" panose="020B0604020202020204" charset="-52"/>
      <p:bold r:id="rId50"/>
      <p:boldItalic r:id="rId51"/>
    </p:embeddedFont>
    <p:embeddedFont>
      <p:font typeface="Mulish SemiBold" panose="020B0604020202020204" charset="-52"/>
      <p:regular r:id="rId52"/>
      <p:bold r:id="rId53"/>
      <p:italic r:id="rId54"/>
      <p:boldItalic r:id="rId5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72" roundtripDataSignature="AMtx7miJQyI2npMiufbLtMTLZXKhjf0iD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01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8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font" Target="fonts/font3.fntdata"/><Relationship Id="rId55" Type="http://schemas.openxmlformats.org/officeDocument/2006/relationships/font" Target="fonts/font8.fntdata"/><Relationship Id="rId76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font" Target="fonts/font6.fntdata"/><Relationship Id="rId74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font" Target="fonts/font1.fntdata"/><Relationship Id="rId8" Type="http://schemas.openxmlformats.org/officeDocument/2006/relationships/slide" Target="slides/slide7.xml"/><Relationship Id="rId51" Type="http://schemas.openxmlformats.org/officeDocument/2006/relationships/font" Target="fonts/font4.fntdata"/><Relationship Id="rId72" Type="http://customschemas.google.com/relationships/presentationmetadata" Target="meta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7.fntdata"/><Relationship Id="rId75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2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font" Target="fonts/font5.fntdata"/><Relationship Id="rId73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16000" y="812520"/>
            <a:ext cx="7127280" cy="400896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" name="Google Shape;6;n"/>
          <p:cNvSpPr txBox="1">
            <a:spLocks noGrp="1"/>
          </p:cNvSpPr>
          <p:nvPr>
            <p:ph type="dt" idx="10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ru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9" name="Google Shape;13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8DAFB3B4-A6E1-27FF-8B6C-9E40294AFD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EFDA7AD0-34A6-33DA-4F4A-36A4D6BF75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8AE18F91-DCA6-3D83-956D-0E4D9AD34F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9734238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1D941BEB-544D-4C7F-AB84-40777C546A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FBCEB855-C630-8AC8-5683-AFBCAFD155E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7A07A61D-02CE-7DD4-CD80-D605E40607F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7662910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BEE044EC-29C7-3CDD-429A-8357606D42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F248B09F-DFB1-377F-EA2C-6757B0737DC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3836A5C5-16BD-7FC7-7F6F-4851AD2FDAC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5271058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213211A7-4021-13BA-0F5C-962DD5B71A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32D9551C-3857-4CC1-F644-12A929969DA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5778D12E-2568-EF62-123A-3DF2CCC70CB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42751621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E5DF8641-C2FC-77A5-06B3-AF0861F343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AE427FCB-38D1-4F8C-02B2-B51EB49E7C3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BFB0AD21-186D-F05E-1B84-F90F4EEEE1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61113976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E39E98C9-ECE0-DDD9-ABF7-D537EE0FED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653094CC-B7FE-DEAE-A157-56DF6350643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41E3A48F-77D3-2C48-AE54-17C02C2336C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403377892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2259C5F7-E39C-081D-E62E-BBB45F206D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390AA2E9-99EF-15DE-23B0-39AB66BE61E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5FC22006-75F6-2AEE-BACC-4BA9F7F496C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8878822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36346259-833F-DD99-CBAB-FBB7157932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A37C87CA-AAA5-A418-BF53-70D95D92640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4FAEE241-1DDE-D252-82C3-A2E073629D9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84590022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C17E1C49-3313-6E58-F661-2A86CC9FD1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0A3CD291-2D23-6E61-2B18-1E4E2785E81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1B2FD83A-D393-289C-1025-37482C87871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41284380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FAE6CEFD-E270-8F11-6E18-C71B2C5E0D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2D2BA781-C8F3-D0C5-F158-273E2CFEAC5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61DBAB10-D655-3125-291D-3502A3718F3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36854545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6207986F-16D5-0249-5AF1-27671126A0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DB5E126E-182F-89A6-E2A5-BADBCC956AE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FD9DD8F6-FB8A-3186-9EEA-86609152AC8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42327547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90C3B2EF-9997-662F-47E0-B424C90130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143DDD57-0478-CF06-9368-6719468B4B2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1376D6ED-3835-F397-EDBA-6C01F71AD2A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43478171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96551870-7100-CF4A-5BC8-7284C3C0E8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8CC84892-4A41-7AAE-A456-931B5F20015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7C101324-47A8-8689-BF84-6C890E0093D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51339927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CA448FFC-A674-CEE2-1F73-EA0F354E95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768F9D88-3488-DDD4-C794-6CB0A93FFB6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0ADC2BC1-3B04-37CD-67F8-A8FFA934A34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40341090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72605127-A24E-896C-CC68-1A1209581E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9841A954-8AEB-5B10-9E6C-F1A69984A26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3D835BC9-CD28-2A6E-A510-D52C208B6D6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33432384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37BE4856-4DA7-A15A-6FBA-1544198802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4E0435D5-D0B9-66AF-1EBA-1654350F6E7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AF62B85F-F25C-3E2B-FE21-7F9CDF8878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60845983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A2936BBA-EF51-835C-D057-E72D90A26A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B97CD465-31B5-5813-69D0-A70AFA608AA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8F6F65B8-5ACE-3B05-025F-D942B41FF62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64621169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D918728B-4A67-FE8A-942D-B323D8317C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AC9A482A-E8A4-52F9-BE3B-48BEBF9E5D6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729F9406-5752-B05E-ED13-F0315456792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409152176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160E9549-6864-2786-9B80-73222F587F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610E932A-E1A2-4BF8-BE96-8C76D32DD61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E63336BC-9220-9EC2-3B12-B0E4A966115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68445562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1FF263BF-213A-0995-C32A-9B81E6EE78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132CE379-66A2-F2EA-137D-16945E3CFD9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79316329-0608-636A-E8AC-FB537F5E68A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76796479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64F1C9C5-BA81-5771-6628-CEDA2C0A42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0FC74081-1F81-1648-5710-84064B981BA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BE4C5B54-B3E7-71C5-E5A4-B5D82376EB6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79827368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FF484A4F-F4BF-C032-EBE7-EA209C6BAB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95EF8B86-01E4-F1AF-8148-0E7043E47A5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23A74490-24F4-FA8F-9D53-728A14BD635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60582770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3ABDB367-7EAB-2F57-9B39-49724B8F8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FA2816F6-9651-643A-FEF2-4BBC0FA1679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B9F1C0DD-4EDD-5AB1-5131-D1C2C7D76BB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03814937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802ED857-3BD5-4149-5D80-ECF980C851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522C9786-7307-C238-2135-2B34491CA06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57E06D52-B571-877F-F00A-947E2BCE6DE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13973514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CDCB83BE-A3F3-7B67-CAA4-E0491D021D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B52EDB7E-AF46-0FC7-2AC3-905A34E6887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198B0D08-3E82-3BBB-C89F-F375C5343F6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59931644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AC841C07-726C-855C-5441-7BF30409B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3C2DAE2C-4BF5-17E3-5ED7-8005848C2B8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24B591A2-EE48-CACB-6506-647A90A7BEC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78091756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53AF5F74-A8AA-E987-26BD-8CDFC96CBD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1E9DE52C-8400-DB34-8A51-84AFF379486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9D71E86C-3F40-8E0E-0E91-7EA2618D4EC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58473762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7E318701-6970-F520-045B-FB57D952A8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E39394E0-BE63-A06F-0362-599A96EA007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2CD5F657-64A9-0217-0F78-48947B24DB0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34147878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D5FA5318-778D-D30F-C0A4-9077ABCA80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D9107645-0E65-371D-DFE9-9976E0B8107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6B034882-A624-43E3-E999-313311562C6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92105882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88B3D66C-8579-7387-C4B0-FAB4829CC3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121F9C6B-92FA-6A21-1925-61991A31AC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2C609683-FC1C-3B40-8FAB-C9BF9918966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0550963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00FD1AC9-042E-AC6A-B2D1-EAFF7DC31B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E643A158-35B2-78AA-1BE4-15545D052A6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951E2E29-36E6-8412-C27A-37F2368B214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78688131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73AC2D28-2B13-088E-1B85-905F39E73D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0CA623DA-ACAE-A34D-70B6-C7695A5662A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37557A87-5366-13B0-C019-06EE5F56C03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81603969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52E54DD5-3447-E56B-8D1A-FBCBF60A3B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6FF11AE5-7808-1E5B-33ED-A34FC4264D8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08F3F7C1-144D-BBAC-E8FB-19E79DDA00A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00055069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FD39A2F1-882A-FD2E-E63A-656B8D9912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AAA1B703-2716-22A7-AA33-F2655D9D997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BB13393B-AF05-EF53-AF8B-0EBF6B1A783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17077639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A4D56B49-E618-FF13-120F-FB4A8FFEB9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46FEA41E-B5C0-B78A-8295-EF75845C098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E3FF558F-376F-1598-3A19-EB2D61B76E2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74726767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4424FD3A-FABB-CCA6-F890-D883958AE7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2236C821-4F99-C43D-281B-0C1088AB054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6C3B0D4F-31B5-9EE9-95C6-B53D7DF3DC0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544050914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67490146-1B31-C32F-ED62-16262DF042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1EEABCA0-FAF0-BF42-30A1-7BDBFEC01AB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0C25BBFF-58C6-C8CF-865F-76B9F7F8D52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86167527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4D905614-1ACF-8F47-5C90-60398A8F10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1C1B5315-DF60-B2A0-BACD-88585C041DC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FCEDAA67-81B8-E780-7123-D1D103D1C0C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954442904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5C442D14-B2BD-878D-10B8-C4486555D8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9DA59A97-68D5-97BE-BB1A-280025F5A1D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CDA51C6F-4BB0-B58F-6AA9-7D2D481C7FD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2384357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3D793818-7901-3850-5160-1BFC9E4525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48D3BC67-8B99-47D6-C51B-6C7160BAE8D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63291467-BB7C-F591-6758-42CC5BB8F36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300605594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1DE7164A-6AEC-FC41-A5CB-154AD512AB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61EF1D5E-BFD1-E4C5-87A8-89DB1448655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05C9ADE6-AE87-D0BD-85BE-D9212111F08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611046039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3A9EEF04-6DD7-38DE-E9F8-A28EC5B91F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ABD234BE-BBBB-B285-967C-FECBFADE963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218D2B41-480F-CDEB-D41D-72E7A9D0CF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840405499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CC3C8252-301C-5851-DD96-CB0B3D1E02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4:notes">
            <a:extLst>
              <a:ext uri="{FF2B5EF4-FFF2-40B4-BE49-F238E27FC236}">
                <a16:creationId xmlns:a16="http://schemas.microsoft.com/office/drawing/2014/main" id="{ED08F3A7-AE80-143C-600B-4627A889B1F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44:notes">
            <a:extLst>
              <a:ext uri="{FF2B5EF4-FFF2-40B4-BE49-F238E27FC236}">
                <a16:creationId xmlns:a16="http://schemas.microsoft.com/office/drawing/2014/main" id="{2B5399B4-772E-8DAE-581C-EE42F1B256E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2559934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46"/>
          <p:cNvSpPr txBox="1"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46"/>
          <p:cNvSpPr txBox="1">
            <a:spLocks noGrp="1"/>
          </p:cNvSpPr>
          <p:nvPr>
            <p:ph type="subTitle" idx="1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46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63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64"/>
          <p:cNvSpPr txBox="1"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64"/>
          <p:cNvSpPr txBox="1">
            <a:spLocks noGrp="1"/>
          </p:cNvSpPr>
          <p:nvPr>
            <p:ph type="body" idx="1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64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" type="twoObj">
  <p:cSld name="TWO_OBJECTS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5"/>
          <p:cNvSpPr txBox="1"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65"/>
          <p:cNvSpPr txBox="1">
            <a:spLocks noGrp="1"/>
          </p:cNvSpPr>
          <p:nvPr>
            <p:ph type="body" idx="1"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65"/>
          <p:cNvSpPr txBox="1">
            <a:spLocks noGrp="1"/>
          </p:cNvSpPr>
          <p:nvPr>
            <p:ph type="body" idx="2"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5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6"/>
          <p:cNvSpPr txBox="1"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66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entered Text" type="objOnly">
  <p:cSld name="OBJECT_ONL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7"/>
          <p:cNvSpPr txBox="1">
            <a:spLocks noGrp="1"/>
          </p:cNvSpPr>
          <p:nvPr>
            <p:ph type="subTitle" idx="1"/>
          </p:nvPr>
        </p:nvSpPr>
        <p:spPr>
          <a:xfrm>
            <a:off x="311760" y="744480"/>
            <a:ext cx="8520120" cy="95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67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and Content" type="twoObjAndObj">
  <p:cSld name="TWO_OBJECTS_AND_OBJEC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8"/>
          <p:cNvSpPr txBox="1"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68"/>
          <p:cNvSpPr txBox="1">
            <a:spLocks noGrp="1"/>
          </p:cNvSpPr>
          <p:nvPr>
            <p:ph type="body" idx="1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68"/>
          <p:cNvSpPr txBox="1">
            <a:spLocks noGrp="1"/>
          </p:cNvSpPr>
          <p:nvPr>
            <p:ph type="body" idx="2"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8"/>
          <p:cNvSpPr txBox="1">
            <a:spLocks noGrp="1"/>
          </p:cNvSpPr>
          <p:nvPr>
            <p:ph type="body" idx="3"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8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Content and 2 Content" type="objAndTwoObj">
  <p:cSld name="OBJECT_AND_TWO_OBJECTS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9"/>
          <p:cNvSpPr txBox="1"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69"/>
          <p:cNvSpPr txBox="1">
            <a:spLocks noGrp="1"/>
          </p:cNvSpPr>
          <p:nvPr>
            <p:ph type="body" idx="1"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69"/>
          <p:cNvSpPr txBox="1">
            <a:spLocks noGrp="1"/>
          </p:cNvSpPr>
          <p:nvPr>
            <p:ph type="body" idx="2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69"/>
          <p:cNvSpPr txBox="1">
            <a:spLocks noGrp="1"/>
          </p:cNvSpPr>
          <p:nvPr>
            <p:ph type="body" idx="3"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9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over Content" type="twoObjOverTx">
  <p:cSld name="TWO_OBJECTS_OVER_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0"/>
          <p:cNvSpPr txBox="1"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0"/>
          <p:cNvSpPr txBox="1">
            <a:spLocks noGrp="1"/>
          </p:cNvSpPr>
          <p:nvPr>
            <p:ph type="body" idx="1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0"/>
          <p:cNvSpPr txBox="1">
            <a:spLocks noGrp="1"/>
          </p:cNvSpPr>
          <p:nvPr>
            <p:ph type="body" idx="2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70"/>
          <p:cNvSpPr txBox="1">
            <a:spLocks noGrp="1"/>
          </p:cNvSpPr>
          <p:nvPr>
            <p:ph type="body" idx="3"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0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 over Content" type="objOverTx">
  <p:cSld name="OBJECT_OVER_TEXT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1"/>
          <p:cNvSpPr txBox="1"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71"/>
          <p:cNvSpPr txBox="1">
            <a:spLocks noGrp="1"/>
          </p:cNvSpPr>
          <p:nvPr>
            <p:ph type="body" idx="1"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71"/>
          <p:cNvSpPr txBox="1">
            <a:spLocks noGrp="1"/>
          </p:cNvSpPr>
          <p:nvPr>
            <p:ph type="body" idx="2"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71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4 Content" type="fourObj">
  <p:cSld name="FOUR_OBJECTS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72"/>
          <p:cNvSpPr txBox="1"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72"/>
          <p:cNvSpPr txBox="1">
            <a:spLocks noGrp="1"/>
          </p:cNvSpPr>
          <p:nvPr>
            <p:ph type="body" idx="1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72"/>
          <p:cNvSpPr txBox="1">
            <a:spLocks noGrp="1"/>
          </p:cNvSpPr>
          <p:nvPr>
            <p:ph type="body" idx="2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72"/>
          <p:cNvSpPr txBox="1">
            <a:spLocks noGrp="1"/>
          </p:cNvSpPr>
          <p:nvPr>
            <p:ph type="body" idx="3"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72"/>
          <p:cNvSpPr txBox="1">
            <a:spLocks noGrp="1"/>
          </p:cNvSpPr>
          <p:nvPr>
            <p:ph type="body" idx="4"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72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6 Content">
  <p:cSld name="Title, 6 Conten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73"/>
          <p:cNvSpPr txBox="1"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73"/>
          <p:cNvSpPr txBox="1">
            <a:spLocks noGrp="1"/>
          </p:cNvSpPr>
          <p:nvPr>
            <p:ph type="body" idx="1"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73"/>
          <p:cNvSpPr txBox="1">
            <a:spLocks noGrp="1"/>
          </p:cNvSpPr>
          <p:nvPr>
            <p:ph type="body" idx="2"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73"/>
          <p:cNvSpPr txBox="1">
            <a:spLocks noGrp="1"/>
          </p:cNvSpPr>
          <p:nvPr>
            <p:ph type="body" idx="3"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73"/>
          <p:cNvSpPr txBox="1">
            <a:spLocks noGrp="1"/>
          </p:cNvSpPr>
          <p:nvPr>
            <p:ph type="body" idx="4"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73"/>
          <p:cNvSpPr txBox="1">
            <a:spLocks noGrp="1"/>
          </p:cNvSpPr>
          <p:nvPr>
            <p:ph type="body" idx="5"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73"/>
          <p:cNvSpPr txBox="1">
            <a:spLocks noGrp="1"/>
          </p:cNvSpPr>
          <p:nvPr>
            <p:ph type="body" idx="6"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73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5"/>
          <p:cNvSpPr txBox="1"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45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" name="Google Shape;12;p45"/>
          <p:cNvSpPr txBox="1">
            <a:spLocks noGrp="1"/>
          </p:cNvSpPr>
          <p:nvPr>
            <p:ph type="body" idx="1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5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6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7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8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1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2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3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4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5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6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"/>
          <p:cNvSpPr txBox="1">
            <a:spLocks noGrp="1"/>
          </p:cNvSpPr>
          <p:nvPr>
            <p:ph type="title"/>
          </p:nvPr>
        </p:nvSpPr>
        <p:spPr>
          <a:xfrm>
            <a:off x="311760" y="217080"/>
            <a:ext cx="8520120" cy="2052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b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61DD"/>
              </a:buClr>
              <a:buSzPts val="4600"/>
              <a:buFont typeface="Mulish ExtraBold"/>
              <a:buNone/>
            </a:pPr>
            <a:r>
              <a:rPr lang="ru" sz="4600" b="0" strike="noStrike">
                <a:solidFill>
                  <a:srgbClr val="7F61DD"/>
                </a:solidFill>
                <a:latin typeface="Mulish ExtraBold"/>
                <a:ea typeface="Mulish ExtraBold"/>
                <a:cs typeface="Mulish ExtraBold"/>
                <a:sym typeface="Mulish ExtraBold"/>
              </a:rPr>
              <a:t>ДЕНЬ ОТКРЫТЫХ ДВЕРЕЙ</a:t>
            </a:r>
            <a:endParaRPr sz="46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2" name="Google Shape;142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5" y="275"/>
            <a:ext cx="9143640" cy="514296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"/>
          <p:cNvSpPr txBox="1">
            <a:spLocks noGrp="1"/>
          </p:cNvSpPr>
          <p:nvPr>
            <p:ph type="title"/>
          </p:nvPr>
        </p:nvSpPr>
        <p:spPr>
          <a:xfrm>
            <a:off x="311759" y="499860"/>
            <a:ext cx="5366552" cy="261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noAutofit/>
          </a:bodyPr>
          <a:lstStyle/>
          <a:p>
            <a:pPr lvl="0" algn="ctr">
              <a:buClr>
                <a:srgbClr val="FFFFFF"/>
              </a:buClr>
              <a:buSzPts val="5200"/>
            </a:pPr>
            <a:r>
              <a:rPr lang="ru-RU" sz="4000" dirty="0">
                <a:solidFill>
                  <a:srgbClr val="FFFFFF"/>
                </a:solidFill>
                <a:latin typeface="Mulish Black"/>
                <a:ea typeface="Mulish Black"/>
                <a:cs typeface="Mulish Black"/>
                <a:sym typeface="Mulish Black"/>
              </a:rPr>
              <a:t>Тема 3. Встроенный модуль </a:t>
            </a:r>
            <a:r>
              <a:rPr lang="ru-RU" sz="4000" dirty="0" err="1">
                <a:solidFill>
                  <a:srgbClr val="FFFFFF"/>
                </a:solidFill>
                <a:latin typeface="Mulish Black"/>
                <a:ea typeface="Mulish Black"/>
                <a:cs typeface="Mulish Black"/>
                <a:sym typeface="Mulish Black"/>
              </a:rPr>
              <a:t>path</a:t>
            </a:r>
            <a:r>
              <a:rPr lang="ru-RU" sz="4000" dirty="0">
                <a:solidFill>
                  <a:srgbClr val="FFFFFF"/>
                </a:solidFill>
                <a:latin typeface="Mulish Black"/>
                <a:ea typeface="Mulish Black"/>
                <a:cs typeface="Mulish Black"/>
                <a:sym typeface="Mulish Black"/>
              </a:rPr>
              <a:t>. Относительные пути. Константа __</a:t>
            </a:r>
            <a:r>
              <a:rPr lang="ru-RU" sz="4000" dirty="0" err="1">
                <a:solidFill>
                  <a:srgbClr val="FFFFFF"/>
                </a:solidFill>
                <a:latin typeface="Mulish Black"/>
                <a:ea typeface="Mulish Black"/>
                <a:cs typeface="Mulish Black"/>
                <a:sym typeface="Mulish Black"/>
              </a:rPr>
              <a:t>dirname</a:t>
            </a:r>
            <a:endParaRPr sz="4000" b="0" strike="noStrik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4" name="Google Shape;144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6040" y="4295880"/>
            <a:ext cx="3405960" cy="3477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1661189C-46F6-4CD9-DDDE-0B2E5FF572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9;g30f32ff6c42_0_5">
            <a:extLst>
              <a:ext uri="{FF2B5EF4-FFF2-40B4-BE49-F238E27FC236}">
                <a16:creationId xmlns:a16="http://schemas.microsoft.com/office/drawing/2014/main" id="{DB4BADD6-2AE5-D570-8470-5225E447047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8525" y="283676"/>
            <a:ext cx="8346900" cy="75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20"/>
              <a:buFont typeface="Mulish Black"/>
              <a:buNone/>
            </a:pPr>
            <a:r>
              <a:rPr lang="ru" sz="3420" dirty="0">
                <a:solidFill>
                  <a:schemeClr val="bg1">
                    <a:lumMod val="85000"/>
                  </a:schemeClr>
                </a:solidFill>
                <a:latin typeface="Mulish Black"/>
                <a:ea typeface="Mulish Black"/>
                <a:cs typeface="Mulish Black"/>
                <a:sym typeface="Mulish Black"/>
              </a:rPr>
              <a:t>Цель занятия:</a:t>
            </a:r>
            <a:endParaRPr sz="3420" dirty="0">
              <a:solidFill>
                <a:schemeClr val="bg1">
                  <a:lumMod val="85000"/>
                </a:schemeClr>
              </a:solidFill>
              <a:latin typeface="Mulish Black"/>
              <a:ea typeface="Mulish Black"/>
              <a:cs typeface="Mulish Black"/>
              <a:sym typeface="Mulish Black"/>
            </a:endParaRPr>
          </a:p>
        </p:txBody>
      </p:sp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6067664F-4901-0A1E-CE0D-48ECCE427D2C}"/>
              </a:ext>
            </a:extLst>
          </p:cNvPr>
          <p:cNvSpPr/>
          <p:nvPr/>
        </p:nvSpPr>
        <p:spPr>
          <a:xfrm>
            <a:off x="320400" y="1207911"/>
            <a:ext cx="8150700" cy="3720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Научить студентов правильно работать с путями к файлам и папкам в Node.js - независимо от операционной системы.</a:t>
            </a: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E8A47345-2906-5DA2-08C2-6D36778F9F0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532469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9;g30f32ff6c42_0_5">
            <a:extLst>
              <a:ext uri="{FF2B5EF4-FFF2-40B4-BE49-F238E27FC236}">
                <a16:creationId xmlns:a16="http://schemas.microsoft.com/office/drawing/2014/main" id="{2C321365-8BB3-751B-D626-A8C38FD08C1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8525" y="283676"/>
            <a:ext cx="8346900" cy="75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20"/>
              <a:buFont typeface="Mulish Black"/>
              <a:buNone/>
            </a:pPr>
            <a:r>
              <a:rPr lang="ru" sz="3420" dirty="0">
                <a:solidFill>
                  <a:schemeClr val="bg1">
                    <a:lumMod val="85000"/>
                  </a:schemeClr>
                </a:solidFill>
                <a:latin typeface="Mulish Black"/>
                <a:ea typeface="Mulish Black"/>
                <a:cs typeface="Mulish Black"/>
                <a:sym typeface="Mulish Black"/>
              </a:rPr>
              <a:t>Учебные вопросы:</a:t>
            </a:r>
            <a:endParaRPr sz="3420" dirty="0">
              <a:solidFill>
                <a:schemeClr val="bg1">
                  <a:lumMod val="85000"/>
                </a:schemeClr>
              </a:solidFill>
              <a:latin typeface="Mulish Black"/>
              <a:ea typeface="Mulish Black"/>
              <a:cs typeface="Mulish Black"/>
              <a:sym typeface="Mulish Black"/>
            </a:endParaRPr>
          </a:p>
        </p:txBody>
      </p:sp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CC3C143E-0B54-BCC4-7C01-340D803FF658}"/>
              </a:ext>
            </a:extLst>
          </p:cNvPr>
          <p:cNvSpPr/>
          <p:nvPr/>
        </p:nvSpPr>
        <p:spPr>
          <a:xfrm>
            <a:off x="320400" y="1207911"/>
            <a:ext cx="8150700" cy="3720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1. Проблема путей - зачем нужен модуль 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path</a:t>
            </a: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2. Абсолютные и относительные пути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3. Константы __</a:t>
            </a:r>
            <a:r>
              <a:rPr lang="en-US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dirname</a:t>
            </a:r>
            <a:r>
              <a:rPr lang="en-US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и __</a:t>
            </a:r>
            <a:r>
              <a:rPr lang="en-US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filename</a:t>
            </a: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4. Основные методы модуля 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path</a:t>
            </a: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5. Практика - строим пути правильно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sz="3000" b="0" i="0" u="none" strike="noStrike" cap="none" dirty="0">
              <a:solidFill>
                <a:srgbClr val="333333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5F77FDE5-30BB-2C80-0149-A5DF95C8B0E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D6A9EA9D-1834-3F87-97B3-C8D3490C6C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9;g30f32ff6c42_0_5">
            <a:extLst>
              <a:ext uri="{FF2B5EF4-FFF2-40B4-BE49-F238E27FC236}">
                <a16:creationId xmlns:a16="http://schemas.microsoft.com/office/drawing/2014/main" id="{05BCE706-32DC-49BF-5BEF-B7F6F1A62FF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8524" y="215943"/>
            <a:ext cx="8346900" cy="75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20"/>
              <a:buFont typeface="Mulish Black"/>
              <a:buNone/>
            </a:pPr>
            <a:r>
              <a:rPr lang="ru-RU" sz="3420" dirty="0">
                <a:solidFill>
                  <a:schemeClr val="bg1">
                    <a:lumMod val="85000"/>
                  </a:schemeClr>
                </a:solidFill>
                <a:latin typeface="Mulish Black"/>
                <a:ea typeface="Mulish Black"/>
                <a:cs typeface="Mulish Black"/>
                <a:sym typeface="Mulish Black"/>
              </a:rPr>
              <a:t>1. Проблема путей - зачем нужен модуль </a:t>
            </a:r>
            <a:r>
              <a:rPr lang="ru-RU" sz="3420" dirty="0" err="1">
                <a:solidFill>
                  <a:schemeClr val="bg1">
                    <a:lumMod val="85000"/>
                  </a:schemeClr>
                </a:solidFill>
                <a:latin typeface="Mulish Black"/>
                <a:ea typeface="Mulish Black"/>
                <a:cs typeface="Mulish Black"/>
                <a:sym typeface="Mulish Black"/>
              </a:rPr>
              <a:t>path</a:t>
            </a:r>
            <a:endParaRPr lang="ru-RU" sz="3420" dirty="0">
              <a:solidFill>
                <a:schemeClr val="bg1">
                  <a:lumMod val="85000"/>
                </a:schemeClr>
              </a:solidFill>
              <a:latin typeface="Mulish Black"/>
              <a:ea typeface="Mulish Black"/>
              <a:cs typeface="Mulish Black"/>
              <a:sym typeface="Mulish Black"/>
            </a:endParaRPr>
          </a:p>
        </p:txBody>
      </p:sp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935EFA4D-36CB-FFB1-B428-A3FE2F4BEECA}"/>
              </a:ext>
            </a:extLst>
          </p:cNvPr>
          <p:cNvSpPr/>
          <p:nvPr/>
        </p:nvSpPr>
        <p:spPr>
          <a:xfrm>
            <a:off x="320400" y="1343378"/>
            <a:ext cx="8150700" cy="1941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lvl="0" algn="ctr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Разница между путями в Windows и Linux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Когда программа работает с файлами, ей нужно знать где они находятся - то есть путь к файлу. 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Проблема в том, что Windows и Linux записывают пути по-разному:</a:t>
            </a:r>
            <a:endParaRPr sz="3000" b="0" i="0" u="none" strike="noStrike" cap="none" dirty="0">
              <a:solidFill>
                <a:srgbClr val="333333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36E7D912-FA7F-2A52-855B-84A9B7456D9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67894E5E-5394-6F03-269B-31B7768074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8524" y="3134077"/>
            <a:ext cx="8150699" cy="1643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30625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10BF6BB5-4D44-092C-CB17-AB7FE8B66F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6B6B94BE-9935-740D-1677-3A6C3470B8DC}"/>
              </a:ext>
            </a:extLst>
          </p:cNvPr>
          <p:cNvSpPr/>
          <p:nvPr/>
        </p:nvSpPr>
        <p:spPr>
          <a:xfrm>
            <a:off x="320399" y="502276"/>
            <a:ext cx="8359961" cy="442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Если написать путь вручную под Windows: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На Linux этот код не будет работать корректно - разделитель другой.</a:t>
            </a:r>
            <a:endParaRPr sz="3000" b="0" i="0" u="none" strike="noStrike" cap="none" dirty="0">
              <a:solidFill>
                <a:srgbClr val="333333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2E2E7FB7-A9C9-18AF-D5E5-AD0C9A6AAF3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65D6196-71EA-6144-BC67-142BEEF81D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640" y="1426987"/>
            <a:ext cx="8054678" cy="842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35798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666ED7FF-6A75-0C40-7DFA-06000ABFBD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EE7F9C6C-A6FA-2B6C-34B2-FFFA6B02BC67}"/>
              </a:ext>
            </a:extLst>
          </p:cNvPr>
          <p:cNvSpPr/>
          <p:nvPr/>
        </p:nvSpPr>
        <p:spPr>
          <a:xfrm>
            <a:off x="320399" y="502276"/>
            <a:ext cx="8359961" cy="22070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/>
          </a:bodyPr>
          <a:lstStyle/>
          <a:p>
            <a:pPr lvl="0" algn="ctr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Почему нельзя просто писать пути вручную?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Рассмотрим пример - допустим, мы хотим обратиться к файлу </a:t>
            </a:r>
            <a:r>
              <a:rPr lang="en-US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file.txt 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в папке </a:t>
            </a:r>
            <a:r>
              <a:rPr lang="en-US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data: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en-US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5CFE9647-0761-8B04-D5E1-D4884DAC485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54A1964-6EBB-6A52-B7FA-95D67C02BE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854" y="2824197"/>
            <a:ext cx="7880291" cy="697932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74D7BF6-24F7-A982-07C1-CDFF3382B05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1854" y="3648889"/>
            <a:ext cx="7880290" cy="745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68263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31D81CEE-F735-D87E-81DE-FF83E1CC3C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566DA554-73D4-49D4-A428-07BA88C28D44}"/>
              </a:ext>
            </a:extLst>
          </p:cNvPr>
          <p:cNvSpPr/>
          <p:nvPr/>
        </p:nvSpPr>
        <p:spPr>
          <a:xfrm>
            <a:off x="320399" y="502276"/>
            <a:ext cx="8359961" cy="442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Проблемы ручных путей: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Зависят от операционной системы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Зависят от того, из какой папки запущена программа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Легко допустить ошибку при написании</a:t>
            </a: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3A29F235-6077-DA5E-B90B-5BDCAD8829D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891679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88825AAF-AB6A-EEFE-84A7-06B057B0A2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CC3242BB-F223-71B4-162D-4F18A79A44D2}"/>
              </a:ext>
            </a:extLst>
          </p:cNvPr>
          <p:cNvSpPr/>
          <p:nvPr/>
        </p:nvSpPr>
        <p:spPr>
          <a:xfrm>
            <a:off x="320399" y="502276"/>
            <a:ext cx="8359961" cy="442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/>
          <a:p>
            <a:pPr lvl="0" algn="ctr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Как модуль </a:t>
            </a:r>
            <a:r>
              <a:rPr lang="en-US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path 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решает эту проблему</a:t>
            </a:r>
            <a:r>
              <a:rPr lang="en-US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?</a:t>
            </a:r>
          </a:p>
          <a:p>
            <a:pPr lvl="0" algn="ctr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Модуль </a:t>
            </a:r>
            <a:r>
              <a:rPr lang="en-US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path</a:t>
            </a:r>
            <a:r>
              <a:rPr lang="en-US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автоматически использует правильный разделитель для той системы, на которой запущена программа. Нам не нужно думать о слэшах - </a:t>
            </a:r>
            <a:r>
              <a:rPr lang="en-US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path</a:t>
            </a:r>
            <a:r>
              <a:rPr lang="en-US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сделает всё сам:</a:t>
            </a:r>
            <a:endParaRPr lang="en-US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en-US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en-US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en-US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en-US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Один и тот же код - правильный результат на любой системе.</a:t>
            </a:r>
            <a:endParaRPr sz="3000" b="0" i="0" u="none" strike="noStrike" cap="none" dirty="0">
              <a:solidFill>
                <a:srgbClr val="333333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C8806025-EC0F-8F48-0832-9E3A4122CFF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8FB8C55-9DEC-CDBB-92F8-B3FD33824E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640" y="2458861"/>
            <a:ext cx="7235382" cy="1404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44250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2C9609CF-EC26-FC2A-838F-86097A1F4D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78179533-6B14-4182-AC0E-12BE57512A50}"/>
              </a:ext>
            </a:extLst>
          </p:cNvPr>
          <p:cNvSpPr/>
          <p:nvPr/>
        </p:nvSpPr>
        <p:spPr>
          <a:xfrm>
            <a:off x="320399" y="502277"/>
            <a:ext cx="8359961" cy="2613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lvl="0" algn="ctr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Свойство </a:t>
            </a:r>
            <a:r>
              <a:rPr lang="en-US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path.sep</a:t>
            </a:r>
            <a:endParaRPr lang="en-US" sz="3000" dirty="0">
              <a:solidFill>
                <a:srgbClr val="FFFF00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 algn="ctr">
              <a:lnSpc>
                <a:spcPct val="115000"/>
              </a:lnSpc>
              <a:buClr>
                <a:srgbClr val="333333"/>
              </a:buClr>
              <a:buSzPts val="1800"/>
            </a:pPr>
            <a:endParaRPr lang="en-US" sz="3000" dirty="0">
              <a:solidFill>
                <a:srgbClr val="FFFF00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Если интересно какой разделитель используется на текущей системе - можно проверить:</a:t>
            </a: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11D1422B-7D17-8FD2-F8FE-9C1DBD89364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4CB952B-E731-E9FE-42AC-8033E9CD6B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4203" y="3014133"/>
            <a:ext cx="6460596" cy="1808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51436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C10FD3BE-BAA2-C0D5-A028-3DD4FD2F3E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C809F85F-60A1-F694-936A-ABA3133DD413}"/>
              </a:ext>
            </a:extLst>
          </p:cNvPr>
          <p:cNvSpPr/>
          <p:nvPr/>
        </p:nvSpPr>
        <p:spPr>
          <a:xfrm>
            <a:off x="320399" y="502276"/>
            <a:ext cx="8359961" cy="442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Итог:</a:t>
            </a:r>
            <a:endParaRPr sz="3000" b="0" i="0" u="none" strike="noStrike" cap="none" dirty="0">
              <a:solidFill>
                <a:srgbClr val="333333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9903B90C-42DE-B8E8-2846-A1BC15B9ED4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9B1AF0D-5DC9-9600-0B9D-0B46894D1C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640" y="1435850"/>
            <a:ext cx="8153662" cy="2018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10015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67E1C49C-1938-F461-02A6-5F1E16999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9;g30f32ff6c42_0_5">
            <a:extLst>
              <a:ext uri="{FF2B5EF4-FFF2-40B4-BE49-F238E27FC236}">
                <a16:creationId xmlns:a16="http://schemas.microsoft.com/office/drawing/2014/main" id="{96A145A8-17DA-5B1A-46E6-702E9E0073C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8525" y="135467"/>
            <a:ext cx="8346900" cy="541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20"/>
              <a:buFont typeface="Mulish Black"/>
              <a:buNone/>
            </a:pPr>
            <a:r>
              <a:rPr lang="ru-RU" sz="3420" dirty="0">
                <a:solidFill>
                  <a:schemeClr val="bg1"/>
                </a:solidFill>
                <a:latin typeface="Mulish Black"/>
                <a:ea typeface="Mulish Black"/>
                <a:cs typeface="Mulish Black"/>
                <a:sym typeface="Mulish Black"/>
              </a:rPr>
              <a:t>2. Абсолютные и относительные пути</a:t>
            </a:r>
            <a:endParaRPr lang="en-US" sz="3420" dirty="0">
              <a:solidFill>
                <a:schemeClr val="bg1"/>
              </a:solidFill>
              <a:latin typeface="Mulish Black"/>
              <a:ea typeface="Mulish Black"/>
              <a:cs typeface="Mulish Black"/>
              <a:sym typeface="Mulish Black"/>
            </a:endParaRPr>
          </a:p>
        </p:txBody>
      </p:sp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2D864CD3-DB4C-A805-18F7-32D8CDDCBE88}"/>
              </a:ext>
            </a:extLst>
          </p:cNvPr>
          <p:cNvSpPr/>
          <p:nvPr/>
        </p:nvSpPr>
        <p:spPr>
          <a:xfrm>
            <a:off x="320400" y="767644"/>
            <a:ext cx="8150700" cy="4160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Абсолютный путь - это полный путь к файлу, начиная от корня файловой системы. Он всегда указывает на одно и то же место, независимо от того откуда запущена программа.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Примеры: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Windows: 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C:\Users\user\project\data\file.txt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Linux:   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/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home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/user/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project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/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data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/file.txt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В Node.js: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en-US" sz="3000" dirty="0">
              <a:solidFill>
                <a:schemeClr val="bg1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Минус: абсолютный путь привязан к конкретному компьютеру. Если перенести проект на другой компьютер или сервер - путь сломается.</a:t>
            </a: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0F399CAB-9F97-1E8C-7DF2-41B62C6C3A4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00DE8E7-1323-9F77-A54C-EC22A719A2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8524" y="3311522"/>
            <a:ext cx="7878501" cy="425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27451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63EF6DAD-55F2-E76F-3D33-DEAE86BAF1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5D3A64C7-C5CA-B61D-7A80-F51BD7F1BF52}"/>
              </a:ext>
            </a:extLst>
          </p:cNvPr>
          <p:cNvSpPr/>
          <p:nvPr/>
        </p:nvSpPr>
        <p:spPr>
          <a:xfrm>
            <a:off x="320399" y="304800"/>
            <a:ext cx="8359961" cy="48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47500" lnSpcReduction="20000"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Относительный путь - это путь относительно текущего расположения. Он не начинается от корня, а отсчитывается от какой-то точки.</a:t>
            </a:r>
            <a:endParaRPr lang="en-US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en-US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en-US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en-US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en-US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Примеры: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en-US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en-US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en-US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en-US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Минус: относительный путь зависит от того, из какой папки запущена программа. Если запустить программу из другой папки - путь сломается.</a:t>
            </a:r>
            <a:endParaRPr sz="3000" b="0" i="0" u="none" strike="noStrike" cap="none" dirty="0">
              <a:solidFill>
                <a:srgbClr val="333333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8BF700AF-067C-C2FA-654F-3F915A93747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2F175DF-F7AB-EA1C-2641-F0ABD76042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7408" y="908530"/>
            <a:ext cx="5620102" cy="1561139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018D1DBB-01EF-CF33-5390-4E6DE16E259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808" y="3073399"/>
            <a:ext cx="7048420" cy="922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0915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08D8D5ED-1B8B-FD3C-4D5C-CAA4376C0A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570E972C-42FF-83AD-F71B-B49F52F782E1}"/>
              </a:ext>
            </a:extLst>
          </p:cNvPr>
          <p:cNvSpPr/>
          <p:nvPr/>
        </p:nvSpPr>
        <p:spPr>
          <a:xfrm>
            <a:off x="320399" y="502276"/>
            <a:ext cx="8359961" cy="442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Проблема относительных путей в Node.js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Рассмотрим структуру проекта:</a:t>
            </a:r>
            <a:endParaRPr sz="3000" b="0" i="0" u="none" strike="noStrike" cap="none" dirty="0">
              <a:solidFill>
                <a:srgbClr val="333333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AA74CFAE-C21B-3223-0390-ADF06367C9D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04B4118-81D3-840B-FAA2-A95348DE07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92853" y="1786465"/>
            <a:ext cx="4894969" cy="1480831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7F8F1B77-A9CB-DADE-5B41-8475C4ACB9E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38198"/>
          <a:stretch>
            <a:fillRect/>
          </a:stretch>
        </p:blipFill>
        <p:spPr>
          <a:xfrm>
            <a:off x="2092852" y="3454398"/>
            <a:ext cx="4894969" cy="949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07027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8EAD3A0D-31F7-6A0C-518A-57002C93F8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F8BA5AF2-B9F1-7DC4-2042-E9A40EE40718}"/>
              </a:ext>
            </a:extLst>
          </p:cNvPr>
          <p:cNvSpPr/>
          <p:nvPr/>
        </p:nvSpPr>
        <p:spPr>
          <a:xfrm>
            <a:off x="320399" y="502276"/>
            <a:ext cx="8359961" cy="442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Кажется, что можно написать так: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en-US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en-US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Это работает, если запускать из папки </a:t>
            </a:r>
            <a:r>
              <a:rPr lang="en-US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project:</a:t>
            </a: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167403C1-997D-C93F-9B53-FFC583576B6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8180A85-CD80-20C0-873E-6267CA28EA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640" y="1183573"/>
            <a:ext cx="6885427" cy="1011057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522B49CA-F7A7-EA3F-B0CD-0E98882565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640" y="3454398"/>
            <a:ext cx="7856272" cy="672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43547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7D7F2464-ACBA-C40D-B54F-7B0ED061E0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7BFE9ED8-0D83-073C-C8EC-C186202BD51C}"/>
              </a:ext>
            </a:extLst>
          </p:cNvPr>
          <p:cNvSpPr/>
          <p:nvPr/>
        </p:nvSpPr>
        <p:spPr>
          <a:xfrm>
            <a:off x="320399" y="502276"/>
            <a:ext cx="8359961" cy="442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Но если запустить из другой папки:</a:t>
            </a:r>
            <a:endParaRPr lang="en-US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en-US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en-US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en-US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en-US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en-US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Относительный путь 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./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отсчитывается от папки откуда запущена программа, а не от папки где находится файл.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sz="3000" b="0" i="0" u="none" strike="noStrike" cap="none" dirty="0">
              <a:solidFill>
                <a:srgbClr val="333333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F57618D4-E0CC-6BBD-3C2F-59C66A2E5F7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2E56E85-92F2-0281-8AB9-60BA4DF95F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979" y="1219200"/>
            <a:ext cx="7948800" cy="162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79035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699EF532-3907-DD3F-6D9D-0268DAAC9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0508932B-6EF2-0ADE-6A75-1CB0075B16E2}"/>
              </a:ext>
            </a:extLst>
          </p:cNvPr>
          <p:cNvSpPr/>
          <p:nvPr/>
        </p:nvSpPr>
        <p:spPr>
          <a:xfrm>
            <a:off x="320399" y="248355"/>
            <a:ext cx="8359961" cy="5147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lvl="0" algn="ctr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Решение - 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__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dirname</a:t>
            </a:r>
            <a:endParaRPr lang="ru-RU" sz="3000" dirty="0">
              <a:solidFill>
                <a:srgbClr val="FFFF00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Чтобы путь всегда работал независимо от того откуда запущена программа - используют 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__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dirname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. </a:t>
            </a:r>
            <a:endParaRPr lang="en-US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Это абсолютный путь к папке текущего файла: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en-US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en-US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en-US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en-US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en-US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en-US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en-US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Теперь путь всегда строится от папки где находится index.js - неважно откуда запущена программа.</a:t>
            </a:r>
            <a:endParaRPr lang="en-US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en-US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en-US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sz="3000" b="0" i="0" u="none" strike="noStrike" cap="none" dirty="0">
              <a:solidFill>
                <a:srgbClr val="333333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65495F03-8213-6525-2FC2-3D99A95D843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1A785DAC-33AB-47A5-E7B6-F27D5D2200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102" y="1897590"/>
            <a:ext cx="7717372" cy="1929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36145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94F5D86D-0B9B-34CC-078D-1118306FE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725DC909-2E95-E7E8-5388-C2DF71916721}"/>
              </a:ext>
            </a:extLst>
          </p:cNvPr>
          <p:cNvSpPr/>
          <p:nvPr/>
        </p:nvSpPr>
        <p:spPr>
          <a:xfrm>
            <a:off x="320399" y="502276"/>
            <a:ext cx="8359961" cy="442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Итог:</a:t>
            </a:r>
            <a:endParaRPr lang="en-US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en-US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en-US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en-US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sz="3000" b="0" i="0" u="none" strike="noStrike" cap="none" dirty="0">
              <a:solidFill>
                <a:srgbClr val="333333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A5129397-F49B-2B13-0762-48FFF9284FA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DA359F9-65B9-8F02-BB88-D16CFFEBF9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640" y="1275971"/>
            <a:ext cx="8216720" cy="2769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8203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3DAABD58-6B39-DDA2-8900-CDFDBD50F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9;g30f32ff6c42_0_5">
            <a:extLst>
              <a:ext uri="{FF2B5EF4-FFF2-40B4-BE49-F238E27FC236}">
                <a16:creationId xmlns:a16="http://schemas.microsoft.com/office/drawing/2014/main" id="{ACC0D903-8B0F-9845-A65D-DFB9570FF75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8525" y="135467"/>
            <a:ext cx="8346900" cy="541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20"/>
              <a:buFont typeface="Mulish Black"/>
              <a:buNone/>
            </a:pPr>
            <a:r>
              <a:rPr lang="ru-RU" sz="3420" dirty="0">
                <a:solidFill>
                  <a:schemeClr val="bg1"/>
                </a:solidFill>
                <a:latin typeface="Mulish Black"/>
                <a:ea typeface="Mulish Black"/>
                <a:cs typeface="Mulish Black"/>
                <a:sym typeface="Mulish Black"/>
              </a:rPr>
              <a:t>3. Константы </a:t>
            </a:r>
            <a:r>
              <a:rPr lang="ru-RU" sz="3420" dirty="0">
                <a:solidFill>
                  <a:srgbClr val="FFFF00"/>
                </a:solidFill>
                <a:latin typeface="Mulish Black"/>
                <a:ea typeface="Mulish Black"/>
                <a:cs typeface="Mulish Black"/>
                <a:sym typeface="Mulish Black"/>
              </a:rPr>
              <a:t>__</a:t>
            </a:r>
            <a:r>
              <a:rPr lang="en-US" sz="3420" dirty="0" err="1">
                <a:solidFill>
                  <a:srgbClr val="FFFF00"/>
                </a:solidFill>
                <a:latin typeface="Mulish Black"/>
                <a:ea typeface="Mulish Black"/>
                <a:cs typeface="Mulish Black"/>
                <a:sym typeface="Mulish Black"/>
              </a:rPr>
              <a:t>dirname</a:t>
            </a:r>
            <a:r>
              <a:rPr lang="en-US" sz="3420" dirty="0">
                <a:solidFill>
                  <a:srgbClr val="FFFF00"/>
                </a:solidFill>
                <a:latin typeface="Mulish Black"/>
                <a:ea typeface="Mulish Black"/>
                <a:cs typeface="Mulish Black"/>
                <a:sym typeface="Mulish Black"/>
              </a:rPr>
              <a:t> </a:t>
            </a:r>
            <a:r>
              <a:rPr lang="ru-RU" sz="3420" dirty="0">
                <a:solidFill>
                  <a:schemeClr val="bg1"/>
                </a:solidFill>
                <a:latin typeface="Mulish Black"/>
                <a:ea typeface="Mulish Black"/>
                <a:cs typeface="Mulish Black"/>
                <a:sym typeface="Mulish Black"/>
              </a:rPr>
              <a:t>и </a:t>
            </a:r>
            <a:r>
              <a:rPr lang="ru-RU" sz="3420" dirty="0">
                <a:solidFill>
                  <a:srgbClr val="FFFF00"/>
                </a:solidFill>
                <a:latin typeface="Mulish Black"/>
                <a:ea typeface="Mulish Black"/>
                <a:cs typeface="Mulish Black"/>
                <a:sym typeface="Mulish Black"/>
              </a:rPr>
              <a:t>__</a:t>
            </a:r>
            <a:r>
              <a:rPr lang="en-US" sz="3420" dirty="0">
                <a:solidFill>
                  <a:srgbClr val="FFFF00"/>
                </a:solidFill>
                <a:latin typeface="Mulish Black"/>
                <a:ea typeface="Mulish Black"/>
                <a:cs typeface="Mulish Black"/>
                <a:sym typeface="Mulish Black"/>
              </a:rPr>
              <a:t>filename</a:t>
            </a:r>
          </a:p>
        </p:txBody>
      </p:sp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1F6663B9-7C8B-6E78-A15E-9A960A346C04}"/>
              </a:ext>
            </a:extLst>
          </p:cNvPr>
          <p:cNvSpPr/>
          <p:nvPr/>
        </p:nvSpPr>
        <p:spPr>
          <a:xfrm>
            <a:off x="320400" y="767644"/>
            <a:ext cx="8150700" cy="4160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__</a:t>
            </a:r>
            <a:r>
              <a:rPr lang="ru-RU" sz="3000" dirty="0" err="1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dirname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и __</a:t>
            </a:r>
            <a:r>
              <a:rPr lang="ru-RU" sz="3000" dirty="0" err="1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filename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- это специальные константы, которые Node.js автоматически создаёт в каждом файле. </a:t>
            </a:r>
            <a:endParaRPr lang="en-US" sz="3000" dirty="0">
              <a:solidFill>
                <a:schemeClr val="bg1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Их не нужно импортировать - они просто есть.</a:t>
            </a: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C02E2D9E-D5C1-CA09-E996-C374D6690C4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9F46A88-7B7C-832F-8B3A-FC99005099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8524" y="3667561"/>
            <a:ext cx="8346899" cy="772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94090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E7FD41BE-818E-5502-33A6-217E037385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A67CB3D4-588E-85CC-DAB4-475F80FAC295}"/>
              </a:ext>
            </a:extLst>
          </p:cNvPr>
          <p:cNvSpPr/>
          <p:nvPr/>
        </p:nvSpPr>
        <p:spPr>
          <a:xfrm>
            <a:off x="320399" y="502276"/>
            <a:ext cx="8359961" cy="442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 algn="ctr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__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dirname</a:t>
            </a:r>
            <a:endParaRPr lang="ru-RU" sz="3000" dirty="0">
              <a:solidFill>
                <a:srgbClr val="FFFF00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__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dirname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содержит абсолютный путь к папке, в которой находится текущий файл.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Пример - файл находится по пути C:\project\index.js:</a:t>
            </a:r>
            <a:endParaRPr lang="en-US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en-US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en-US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sz="3000" b="0" i="0" u="none" strike="noStrike" cap="none" dirty="0">
              <a:solidFill>
                <a:srgbClr val="333333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E54EDE43-5A34-F816-079B-EEB0159B93E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8D36E18-7D06-81E5-80F5-F32BA962E8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5723" y="3292299"/>
            <a:ext cx="6348766" cy="1481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22619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CDED579B-6970-28C0-280C-46891D1D6B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9F56843F-0D4D-B7B4-206D-44E3D8A2E4F4}"/>
              </a:ext>
            </a:extLst>
          </p:cNvPr>
          <p:cNvSpPr/>
          <p:nvPr/>
        </p:nvSpPr>
        <p:spPr>
          <a:xfrm>
            <a:off x="320399" y="502276"/>
            <a:ext cx="8359961" cy="442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Главное свойство - 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__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dirname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всегда указывает на папку файла, независимо от того откуда запущена программа: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en-US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-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запуск из любой папки - результат одинаковый</a:t>
            </a:r>
            <a:endParaRPr lang="en-US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en-US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en-US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node C:\project\index.js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en-US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node project\index.js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en-US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node index.js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en-US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Во всех трёх случаях __</a:t>
            </a:r>
            <a:r>
              <a:rPr lang="en-US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dirname</a:t>
            </a:r>
            <a:r>
              <a:rPr lang="en-US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вернёт </a:t>
            </a:r>
            <a:r>
              <a:rPr lang="en-US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C:\project.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en-US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en-US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sz="3000" b="0" i="0" u="none" strike="noStrike" cap="none" dirty="0">
              <a:solidFill>
                <a:srgbClr val="333333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853616AD-E036-12FA-F325-CE17521F212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820768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8EDEF750-7D03-7360-E181-1ABCD9C9CE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B0A8E602-15D4-7314-E47A-A7F40CE7A031}"/>
              </a:ext>
            </a:extLst>
          </p:cNvPr>
          <p:cNvSpPr/>
          <p:nvPr/>
        </p:nvSpPr>
        <p:spPr>
          <a:xfrm>
            <a:off x="320399" y="502276"/>
            <a:ext cx="8359961" cy="442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 algn="ctr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__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filename</a:t>
            </a: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__</a:t>
            </a: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filename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содержит абсолютный путь к самому файлу - папка плюс имя файла:</a:t>
            </a:r>
            <a:endParaRPr lang="en-US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en-US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en-US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sz="3000" b="0" i="0" u="none" strike="noStrike" cap="none" dirty="0">
              <a:solidFill>
                <a:srgbClr val="333333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A83A09CC-E407-51A1-1B77-B2C3611E75C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DCE2CD6-BE5D-042C-634E-1B45E2FE93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746" y="2352190"/>
            <a:ext cx="7609265" cy="1576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18568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89F222AB-AB8C-C78C-C3F8-47D5D95696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380DEE63-B0A0-FA78-213B-D296DEF9D451}"/>
              </a:ext>
            </a:extLst>
          </p:cNvPr>
          <p:cNvSpPr/>
          <p:nvPr/>
        </p:nvSpPr>
        <p:spPr>
          <a:xfrm>
            <a:off x="320399" y="502276"/>
            <a:ext cx="8359961" cy="442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 algn="ctr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Разница между __</a:t>
            </a:r>
            <a:r>
              <a:rPr lang="en-US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dirname</a:t>
            </a:r>
            <a:r>
              <a:rPr lang="en-US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и __</a:t>
            </a:r>
            <a:r>
              <a:rPr lang="en-US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filename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en-US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en-US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en-US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en-US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Простыми словами:</a:t>
            </a:r>
            <a:endParaRPr lang="en-US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__</a:t>
            </a:r>
            <a:r>
              <a:rPr lang="en-US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dirname</a:t>
            </a:r>
            <a:r>
              <a:rPr lang="en-US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</a:t>
            </a:r>
            <a:r>
              <a:rPr lang="en-US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- 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папка где лежит файл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__</a:t>
            </a:r>
            <a:r>
              <a:rPr lang="en-US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filename </a:t>
            </a:r>
            <a:r>
              <a:rPr lang="en-US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- 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папка плюс имя самого файла</a:t>
            </a:r>
            <a:endParaRPr lang="en-US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en-US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en-US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sz="3000" b="0" i="0" u="none" strike="noStrike" cap="none" dirty="0">
              <a:solidFill>
                <a:srgbClr val="333333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B3AAF312-3831-0143-88C3-66BE4D9C606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96D5D73-05F0-8A50-EE68-7C472AF9CC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640" y="1432278"/>
            <a:ext cx="8297572" cy="960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832885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3F6A2BCD-7C83-A9E8-2FE0-8204B49700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4277B9DA-C5FD-C676-0891-62CEDE11F9F2}"/>
              </a:ext>
            </a:extLst>
          </p:cNvPr>
          <p:cNvSpPr/>
          <p:nvPr/>
        </p:nvSpPr>
        <p:spPr>
          <a:xfrm>
            <a:off x="320399" y="502276"/>
            <a:ext cx="8359961" cy="23086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Зачем они нужны - практический пример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Самое частое применение __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dirname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- строить надёжные пути к файлам через 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path.join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():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Структура проекта:</a:t>
            </a:r>
            <a:endParaRPr lang="en-US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en-US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en-US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sz="3000" b="0" i="0" u="none" strike="noStrike" cap="none" dirty="0">
              <a:solidFill>
                <a:srgbClr val="333333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37FF317C-E357-8040-2E6C-75ED35325AC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FF36544D-FC4B-7245-843A-84086C73D9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5071" y="2743748"/>
            <a:ext cx="6272213" cy="1897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083521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3A219621-3CCA-FC3A-699B-3E5CA045E0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C9EE3146-510F-C981-C7D7-07A30D9F5ED6}"/>
              </a:ext>
            </a:extLst>
          </p:cNvPr>
          <p:cNvSpPr/>
          <p:nvPr/>
        </p:nvSpPr>
        <p:spPr>
          <a:xfrm>
            <a:off x="320399" y="502276"/>
            <a:ext cx="8359961" cy="442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en-US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en-US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en-US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sz="3000" b="0" i="0" u="none" strike="noStrike" cap="none" dirty="0">
              <a:solidFill>
                <a:srgbClr val="333333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3F08C22E-D2D8-32A1-EC33-6BAC9CE7A15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2378F83-041E-1236-0FB9-72A256E1DB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9208" y="711201"/>
            <a:ext cx="8076404" cy="3725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757745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BE83BC92-5384-B287-DC89-B20391EBF3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8BA3F573-9C29-C07C-1BB7-E476D8AADBD9}"/>
              </a:ext>
            </a:extLst>
          </p:cNvPr>
          <p:cNvSpPr/>
          <p:nvPr/>
        </p:nvSpPr>
        <p:spPr>
          <a:xfrm>
            <a:off x="320399" y="502276"/>
            <a:ext cx="8359961" cy="442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Итог:</a:t>
            </a:r>
            <a:endParaRPr lang="en-US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en-US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en-US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en-US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sz="3000" b="0" i="0" u="none" strike="noStrike" cap="none" dirty="0">
              <a:solidFill>
                <a:srgbClr val="333333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A6B66D2E-82B3-417D-8C88-EB5F0A49CA3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B4E224B-57FF-E855-E9ED-E8348129ED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738" y="1512711"/>
            <a:ext cx="7965506" cy="2083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356532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011CCFB9-8557-31B0-C1AC-5ABED17601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9;g30f32ff6c42_0_5">
            <a:extLst>
              <a:ext uri="{FF2B5EF4-FFF2-40B4-BE49-F238E27FC236}">
                <a16:creationId xmlns:a16="http://schemas.microsoft.com/office/drawing/2014/main" id="{24D12D2C-AB4A-BE58-BD3B-2F37BBC47D8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8525" y="135467"/>
            <a:ext cx="8346900" cy="541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20"/>
              <a:buFont typeface="Mulish Black"/>
              <a:buNone/>
            </a:pPr>
            <a:r>
              <a:rPr lang="ru-RU" sz="3420" dirty="0">
                <a:solidFill>
                  <a:schemeClr val="bg1"/>
                </a:solidFill>
                <a:latin typeface="Mulish Black"/>
                <a:ea typeface="Mulish Black"/>
                <a:cs typeface="Mulish Black"/>
                <a:sym typeface="Mulish Black"/>
              </a:rPr>
              <a:t>4. Основные методы модуля </a:t>
            </a:r>
            <a:r>
              <a:rPr lang="ru-RU" sz="3420" dirty="0" err="1">
                <a:solidFill>
                  <a:schemeClr val="bg1"/>
                </a:solidFill>
                <a:latin typeface="Mulish Black"/>
                <a:ea typeface="Mulish Black"/>
                <a:cs typeface="Mulish Black"/>
                <a:sym typeface="Mulish Black"/>
              </a:rPr>
              <a:t>path</a:t>
            </a:r>
            <a:endParaRPr lang="en-US" sz="3420" dirty="0">
              <a:solidFill>
                <a:schemeClr val="bg1"/>
              </a:solidFill>
              <a:latin typeface="Mulish Black"/>
              <a:ea typeface="Mulish Black"/>
              <a:cs typeface="Mulish Black"/>
              <a:sym typeface="Mulish Black"/>
            </a:endParaRPr>
          </a:p>
        </p:txBody>
      </p:sp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46975AF0-6948-2107-17CB-CF6F4A5A9BB5}"/>
              </a:ext>
            </a:extLst>
          </p:cNvPr>
          <p:cNvSpPr/>
          <p:nvPr/>
        </p:nvSpPr>
        <p:spPr>
          <a:xfrm>
            <a:off x="320400" y="767644"/>
            <a:ext cx="8150700" cy="4160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path.join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() 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- соединить части пути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Соединяет несколько частей в один путь, автоматически подставляя правильный разделитель:</a:t>
            </a: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2DE26BA4-7390-0510-5CB9-E720A61EE3D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2B96C2C9-5EBF-DBCC-DCF4-1842FF41BD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055" y="2997198"/>
            <a:ext cx="7869839" cy="1378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230616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B7FB666F-66F4-4054-A2C8-9165ED1682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DBD2B3CD-2FDA-DAB7-BBB8-693CCB6D3305}"/>
              </a:ext>
            </a:extLst>
          </p:cNvPr>
          <p:cNvSpPr/>
          <p:nvPr/>
        </p:nvSpPr>
        <p:spPr>
          <a:xfrm>
            <a:off x="320399" y="502276"/>
            <a:ext cx="8359961" cy="442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С 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__</a:t>
            </a:r>
            <a:r>
              <a:rPr lang="en-US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dirname</a:t>
            </a:r>
            <a:r>
              <a:rPr lang="en-US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:</a:t>
            </a: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path.join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() 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- самый используемый метод. Применяется каждый раз когда нужно построить путь к файлу.</a:t>
            </a:r>
            <a:endParaRPr lang="en-US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en-US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en-US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sz="3000" b="0" i="0" u="none" strike="noStrike" cap="none" dirty="0">
              <a:solidFill>
                <a:srgbClr val="333333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576955F5-050A-76DD-9FD3-9ADB4378175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8573AB0-F52D-919F-42E8-6ECD4732D7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640" y="1322740"/>
            <a:ext cx="8048182" cy="1095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697138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3EED805E-D95B-6BF6-3C81-84CE3A7EE5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1F8342CF-E011-778A-4610-7B5C1437DE25}"/>
              </a:ext>
            </a:extLst>
          </p:cNvPr>
          <p:cNvSpPr/>
          <p:nvPr/>
        </p:nvSpPr>
        <p:spPr>
          <a:xfrm>
            <a:off x="320399" y="502276"/>
            <a:ext cx="8359961" cy="442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path.resolve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() 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- получить абсолютный путь</a:t>
            </a:r>
            <a:endParaRPr lang="en-US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Строит </a:t>
            </a:r>
            <a:r>
              <a:rPr lang="ru-RU" sz="3000" b="1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абсолютный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путь, обрабатывая аргументы справа налево до тех пор, пока не получит абсолютный путь: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100" dirty="0">
                <a:solidFill>
                  <a:schemeClr val="bg1">
                    <a:lumMod val="95000"/>
                  </a:schemeClr>
                </a:solidFill>
                <a:latin typeface="Mulish SemiBold"/>
              </a:rPr>
              <a:t>Если абсолютный путь не получается из аргументов - автоматически подставляет текущую рабочую папку</a:t>
            </a:r>
            <a:endParaRPr lang="en-US" sz="3100" dirty="0">
              <a:solidFill>
                <a:schemeClr val="bg1">
                  <a:lumMod val="95000"/>
                </a:schemeClr>
              </a:solidFill>
              <a:latin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en-US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sz="3000" b="0" i="0" u="none" strike="noStrike" cap="none" dirty="0">
              <a:solidFill>
                <a:srgbClr val="333333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DF74B51A-A92E-286E-5ABC-7C22994FA3B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6B19AB9-6F82-9CB3-0D4D-AD0997EC33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640" y="2086913"/>
            <a:ext cx="8216720" cy="1508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528278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FA0E249F-4FA0-B4EE-0B66-60A85ABDCC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36F20D96-8D25-35BA-92B6-5AB88B6575D3}"/>
              </a:ext>
            </a:extLst>
          </p:cNvPr>
          <p:cNvSpPr/>
          <p:nvPr/>
        </p:nvSpPr>
        <p:spPr>
          <a:xfrm>
            <a:off x="320399" y="502276"/>
            <a:ext cx="8359961" cy="442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path.basename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() 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- имя файла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Возвращает имя файла из полного пути:</a:t>
            </a:r>
            <a:endParaRPr lang="en-US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en-US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en-US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sz="3000" b="0" i="0" u="none" strike="noStrike" cap="none" dirty="0">
              <a:solidFill>
                <a:srgbClr val="333333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F6CB0EBD-D98C-34F2-4D30-219518865D2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3EAFABA-0694-6F21-E53C-7C12DC12FE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640" y="2147887"/>
            <a:ext cx="8063012" cy="1080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75845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6CF99551-C918-6A8B-D248-CB63969589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ADB22B04-6633-8186-B4CF-852CB92781EA}"/>
              </a:ext>
            </a:extLst>
          </p:cNvPr>
          <p:cNvSpPr/>
          <p:nvPr/>
        </p:nvSpPr>
        <p:spPr>
          <a:xfrm>
            <a:off x="320399" y="502276"/>
            <a:ext cx="8359961" cy="442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path.dirname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() 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- папка файла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Возвращает путь к папке, в которой находится файл:</a:t>
            </a:r>
            <a:endParaRPr lang="en-US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en-US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en-US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sz="3000" b="0" i="0" u="none" strike="noStrike" cap="none" dirty="0">
              <a:solidFill>
                <a:srgbClr val="333333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11F9ABA7-FAF7-2C7D-6905-7FECFC986DB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29F69D2-3CA7-529F-F281-5FB4657F2D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640" y="2413529"/>
            <a:ext cx="8216720" cy="1281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933958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DB625DE7-59A7-D448-F106-1D725F514A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724F72F6-07EB-CB72-AEBE-44D6A5AD93D8}"/>
              </a:ext>
            </a:extLst>
          </p:cNvPr>
          <p:cNvSpPr/>
          <p:nvPr/>
        </p:nvSpPr>
        <p:spPr>
          <a:xfrm>
            <a:off x="320399" y="502276"/>
            <a:ext cx="8359961" cy="442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path.extname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() 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- расширение файла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Возвращает расширение файла включая точку:</a:t>
            </a:r>
            <a:endParaRPr lang="en-US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en-US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en-US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sz="3000" b="0" i="0" u="none" strike="noStrike" cap="none" dirty="0">
              <a:solidFill>
                <a:srgbClr val="333333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E91CD401-AA8C-7D57-A772-0854E4A7687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1BC23FA-314F-FAA0-7E59-8FB6DA6EB0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640" y="2454273"/>
            <a:ext cx="8023902" cy="1406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954841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48F31433-159C-93C8-BEA7-79B5F81F72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4A659D15-F966-EFF0-52D3-B7B8ABB3D864}"/>
              </a:ext>
            </a:extLst>
          </p:cNvPr>
          <p:cNvSpPr/>
          <p:nvPr/>
        </p:nvSpPr>
        <p:spPr>
          <a:xfrm>
            <a:off x="320399" y="225778"/>
            <a:ext cx="8359961" cy="1546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 err="1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path.parse</a:t>
            </a:r>
            <a:r>
              <a:rPr lang="ru-RU" sz="3000" dirty="0">
                <a:solidFill>
                  <a:srgbClr val="FFFF00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() 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- разобрать путь на части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Разбирает путь на отдельные составляющие и возвращает объект:</a:t>
            </a:r>
            <a:endParaRPr lang="en-US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en-US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en-US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sz="3000" b="0" i="0" u="none" strike="noStrike" cap="none" dirty="0">
              <a:solidFill>
                <a:srgbClr val="333333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812961E3-E15E-BBAA-CE2A-A8292E15963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B88E9A6-18A8-5B23-DEC8-56AB394CDB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705" y="1693334"/>
            <a:ext cx="8237348" cy="758471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5213E7F6-F27B-B323-5D2D-6EA5B7FB142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4538" b="6300"/>
          <a:stretch>
            <a:fillRect/>
          </a:stretch>
        </p:blipFill>
        <p:spPr>
          <a:xfrm>
            <a:off x="381705" y="2531830"/>
            <a:ext cx="8237348" cy="2396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243614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8333E508-A24A-FEB2-8BBE-10B1EEF99B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93165100-A885-3E1A-00F6-0C9C49A38328}"/>
              </a:ext>
            </a:extLst>
          </p:cNvPr>
          <p:cNvSpPr/>
          <p:nvPr/>
        </p:nvSpPr>
        <p:spPr>
          <a:xfrm>
            <a:off x="320399" y="502276"/>
            <a:ext cx="8359961" cy="442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Итог:</a:t>
            </a:r>
            <a:endParaRPr lang="en-US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en-US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en-US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en-US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sz="3000" b="0" i="0" u="none" strike="noStrike" cap="none" dirty="0">
              <a:solidFill>
                <a:srgbClr val="333333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88482434-2E7C-94D3-45B0-CB254FF0CCF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14ECD29-FF3B-41FF-54BE-F333192B3A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640" y="1194137"/>
            <a:ext cx="8070760" cy="3357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980552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6649D516-4155-44D2-5686-C5D5D9F716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9;g30f32ff6c42_0_5">
            <a:extLst>
              <a:ext uri="{FF2B5EF4-FFF2-40B4-BE49-F238E27FC236}">
                <a16:creationId xmlns:a16="http://schemas.microsoft.com/office/drawing/2014/main" id="{7E0B5DEF-302B-1A35-436F-7E63D7564A8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8525" y="135467"/>
            <a:ext cx="8346900" cy="541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noAutofit/>
          </a:bodyPr>
          <a:lstStyle/>
          <a:p>
            <a:pPr lvl="0" algn="ctr">
              <a:buClr>
                <a:srgbClr val="434343"/>
              </a:buClr>
              <a:buSzPts val="2620"/>
            </a:pPr>
            <a:r>
              <a:rPr lang="ru-RU" sz="3420" dirty="0">
                <a:solidFill>
                  <a:schemeClr val="bg1"/>
                </a:solidFill>
                <a:latin typeface="Mulish Black"/>
                <a:ea typeface="Mulish Black"/>
                <a:cs typeface="Mulish Black"/>
                <a:sym typeface="Mulish Black"/>
              </a:rPr>
              <a:t>5. Практика - строим пути правильно</a:t>
            </a:r>
            <a:endParaRPr lang="en-US" sz="3420" dirty="0">
              <a:solidFill>
                <a:schemeClr val="bg1"/>
              </a:solidFill>
              <a:latin typeface="Mulish Black"/>
              <a:ea typeface="Mulish Black"/>
              <a:cs typeface="Mulish Black"/>
              <a:sym typeface="Mulish Black"/>
            </a:endParaRPr>
          </a:p>
        </p:txBody>
      </p:sp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2B43B8DB-2F9D-6041-6C3C-504FD9497505}"/>
              </a:ext>
            </a:extLst>
          </p:cNvPr>
          <p:cNvSpPr/>
          <p:nvPr/>
        </p:nvSpPr>
        <p:spPr>
          <a:xfrm>
            <a:off x="320400" y="1309511"/>
            <a:ext cx="8150700" cy="36189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/>
          </a:bodyPr>
          <a:lstStyle/>
          <a:p>
            <a:pPr lvl="0" algn="ctr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b="1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Типичные ошибки при работе с путями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1. Жёстко прописанный абсолютный путь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На другом компьютере или сервере этот путь не существует - программа сломается.</a:t>
            </a: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39B9BFBF-D2FC-C3CD-2BDB-77859646422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8D46B94-8939-D044-DBD8-7918B8CBEA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8524" y="2732263"/>
            <a:ext cx="8150699" cy="733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965029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DB22D3B6-85B7-60AA-DDBA-9F3C382D93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F7111450-6C3B-5D88-487B-925F55781BCD}"/>
              </a:ext>
            </a:extLst>
          </p:cNvPr>
          <p:cNvSpPr/>
          <p:nvPr/>
        </p:nvSpPr>
        <p:spPr>
          <a:xfrm>
            <a:off x="320399" y="502276"/>
            <a:ext cx="8359961" cy="442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2. Ручная склейка пути через +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На Windows разделитель \, поэтому / может вызвать проблемы. Кроме того легко допустить лишний или пропущенный слэш.</a:t>
            </a:r>
            <a:endParaRPr lang="en-US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en-US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en-US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sz="3000" b="0" i="0" u="none" strike="noStrike" cap="none" dirty="0">
              <a:solidFill>
                <a:srgbClr val="333333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08C35C9E-DB5B-79EA-F4B1-5C1098307D7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BA08145-2838-4978-EFEE-8EDF45D5BC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640" y="1519590"/>
            <a:ext cx="7946582" cy="899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70191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07E95888-633E-6013-4B68-8145890224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9CE3D434-D8CD-6D82-03FE-9F9BCE348C67}"/>
              </a:ext>
            </a:extLst>
          </p:cNvPr>
          <p:cNvSpPr/>
          <p:nvPr/>
        </p:nvSpPr>
        <p:spPr>
          <a:xfrm>
            <a:off x="320399" y="502276"/>
            <a:ext cx="8359961" cy="442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3. Относительный путь без __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dirname</a:t>
            </a: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Работает только если запускать программу из правильной папки. При запуске из другой папки - путь сломается.</a:t>
            </a:r>
            <a:endParaRPr lang="en-US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en-US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en-US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sz="3000" b="0" i="0" u="none" strike="noStrike" cap="none" dirty="0">
              <a:solidFill>
                <a:srgbClr val="333333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D0D65E23-0EC9-6436-BB84-F18CB95C0B1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D6A52CC-8377-7992-A4FF-5647CB5AFC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640" y="1411462"/>
            <a:ext cx="8174984" cy="902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931381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C33E7D47-9439-FC51-017A-892828CAFF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248903F9-0540-574D-7472-DE5D67B48844}"/>
              </a:ext>
            </a:extLst>
          </p:cNvPr>
          <p:cNvSpPr/>
          <p:nvPr/>
        </p:nvSpPr>
        <p:spPr>
          <a:xfrm>
            <a:off x="320399" y="502276"/>
            <a:ext cx="8359961" cy="442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4</a:t>
            </a:r>
            <a:r>
              <a:rPr lang="en-US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. 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Лишние или пропущенные слэши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en-US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path.join</a:t>
            </a:r>
            <a:r>
              <a:rPr lang="en-US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() 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сам расставляет разделители - не нужно добавлять их вручную.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en-US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sz="3000" b="0" i="0" u="none" strike="noStrike" cap="none" dirty="0">
              <a:solidFill>
                <a:srgbClr val="333333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E8DCF6BA-0754-EA30-6BF7-A83FE1339DD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E7891AC7-F1D7-6986-BD27-5AE35D6192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640" y="1677634"/>
            <a:ext cx="7867560" cy="702461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CA824405-799F-4205-F4ED-B00E91CDCA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639" y="2453437"/>
            <a:ext cx="7867560" cy="709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689622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C4400AD5-55CE-1D98-9E4E-185C655864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A76F0E8E-526F-C4B7-E278-B11B2E886240}"/>
              </a:ext>
            </a:extLst>
          </p:cNvPr>
          <p:cNvSpPr/>
          <p:nvPr/>
        </p:nvSpPr>
        <p:spPr>
          <a:xfrm>
            <a:off x="320399" y="502276"/>
            <a:ext cx="8359961" cy="442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 algn="ctr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b="1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Правильное построение пути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Основное правило: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Всегда строить пути через 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path.join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(__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dirname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, ...):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en-US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sz="3000" b="0" i="0" u="none" strike="noStrike" cap="none" dirty="0">
              <a:solidFill>
                <a:srgbClr val="333333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B46A23E8-04CE-066D-37D6-6B22F13081E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BA6DF89-F50B-D072-F237-0724DFB716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640" y="2997197"/>
            <a:ext cx="8289407" cy="1360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77860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14C1EC17-FA85-37DF-085B-97D023C42A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4378F67A-9882-FAB9-E6F4-330863764BA5}"/>
              </a:ext>
            </a:extLst>
          </p:cNvPr>
          <p:cNvSpPr/>
          <p:nvPr/>
        </p:nvSpPr>
        <p:spPr>
          <a:xfrm>
            <a:off x="320399" y="502276"/>
            <a:ext cx="8359961" cy="442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 algn="ctr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b="1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Примеры для разных структур проекта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Файл в той же папке: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en-US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sz="3000" b="0" i="0" u="none" strike="noStrike" cap="none" dirty="0">
              <a:solidFill>
                <a:srgbClr val="333333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427B8B02-6DC6-974F-048E-0DED72AD381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6FBD6A4-2940-2E61-6071-984CEC7268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798" y="2090736"/>
            <a:ext cx="8076561" cy="1664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954300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CB9E4417-070F-9A72-2746-CB3A708193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2B0FA417-F30E-15C7-35CA-FD292C18E3CE}"/>
              </a:ext>
            </a:extLst>
          </p:cNvPr>
          <p:cNvSpPr/>
          <p:nvPr/>
        </p:nvSpPr>
        <p:spPr>
          <a:xfrm>
            <a:off x="320399" y="502276"/>
            <a:ext cx="8359961" cy="442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Файл во вложенной папке: 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en-US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sz="3000" b="0" i="0" u="none" strike="noStrike" cap="none" dirty="0">
              <a:solidFill>
                <a:srgbClr val="333333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F37E964D-CF69-743F-CD3C-6423D3C6D33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18C0277-B2C9-5D4C-B607-9E8673DDF7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639" y="1543800"/>
            <a:ext cx="8030195" cy="180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323617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08FA20C6-C41D-1766-2654-E71BD4513D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02C03C5C-8E34-5DD6-BC22-B8F81CBFE5F5}"/>
              </a:ext>
            </a:extLst>
          </p:cNvPr>
          <p:cNvSpPr/>
          <p:nvPr/>
        </p:nvSpPr>
        <p:spPr>
          <a:xfrm>
            <a:off x="320399" y="502276"/>
            <a:ext cx="8359961" cy="442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Файл на уровень выше: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en-US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sz="3000" b="0" i="0" u="none" strike="noStrike" cap="none" dirty="0">
              <a:solidFill>
                <a:srgbClr val="333333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C1A7D9E6-7B50-562D-13CA-DF3360F6260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093810F-0C12-2D6A-0544-48454053AB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640" y="1396117"/>
            <a:ext cx="8048182" cy="2267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741442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DD35DA4A-EF5E-C101-4422-666E960BF2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71F36320-9437-818F-6590-138C0B4A3760}"/>
              </a:ext>
            </a:extLst>
          </p:cNvPr>
          <p:cNvSpPr/>
          <p:nvPr/>
        </p:nvSpPr>
        <p:spPr>
          <a:xfrm>
            <a:off x="320399" y="502276"/>
            <a:ext cx="8359961" cy="442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Глубоко вложенный файл: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en-US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sz="3000" b="0" i="0" u="none" strike="noStrike" cap="none" dirty="0">
              <a:solidFill>
                <a:srgbClr val="333333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00C639C8-E9BE-EBD9-332E-F396DD6B386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F4B6489-A879-05DA-AF41-3E6F3CF6B9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640" y="1616779"/>
            <a:ext cx="8216720" cy="1721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862716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96915F70-FBED-8BA1-8FDD-DEC99301F9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41C65700-EAC4-9B7E-F198-88FE2BADA2A3}"/>
              </a:ext>
            </a:extLst>
          </p:cNvPr>
          <p:cNvSpPr/>
          <p:nvPr/>
        </p:nvSpPr>
        <p:spPr>
          <a:xfrm>
            <a:off x="320399" y="502276"/>
            <a:ext cx="8359961" cy="442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Итог: 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ru-RU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lang="en-US" sz="3000" dirty="0">
              <a:solidFill>
                <a:schemeClr val="bg1">
                  <a:lumMod val="95000"/>
                </a:schemeClr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endParaRPr sz="3000" b="0" i="0" u="none" strike="noStrike" cap="none" dirty="0">
              <a:solidFill>
                <a:srgbClr val="333333"/>
              </a:solidFill>
              <a:latin typeface="Mulish SemiBold"/>
              <a:ea typeface="Mulish SemiBold"/>
              <a:cs typeface="Mulish SemiBold"/>
              <a:sym typeface="Mulish SemiBold"/>
            </a:endParaRP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6CDAD586-14A7-73A0-452A-7A28795F3F5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C7BDC1C-05A5-C9E0-9C8E-2FF705E7F5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195" y="1114885"/>
            <a:ext cx="8189165" cy="2903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725467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3727F0FA-E3FF-AF5C-971C-AD0CCF0E80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9;g30f32ff6c42_0_5">
            <a:extLst>
              <a:ext uri="{FF2B5EF4-FFF2-40B4-BE49-F238E27FC236}">
                <a16:creationId xmlns:a16="http://schemas.microsoft.com/office/drawing/2014/main" id="{AB548E7B-F675-E9A3-793B-B1F51EE6689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8525" y="0"/>
            <a:ext cx="8346900" cy="49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20"/>
              <a:buFont typeface="Mulish Black"/>
              <a:buNone/>
            </a:pPr>
            <a:r>
              <a:rPr lang="ru-RU" sz="3420" dirty="0">
                <a:solidFill>
                  <a:schemeClr val="bg1"/>
                </a:solidFill>
                <a:latin typeface="Mulish Black"/>
                <a:ea typeface="Mulish Black"/>
                <a:cs typeface="Mulish Black"/>
                <a:sym typeface="Mulish Black"/>
              </a:rPr>
              <a:t>Выводы:</a:t>
            </a:r>
            <a:endParaRPr lang="en-US" sz="3420" dirty="0">
              <a:solidFill>
                <a:schemeClr val="bg1"/>
              </a:solidFill>
              <a:latin typeface="Mulish Black"/>
              <a:ea typeface="Mulish Black"/>
              <a:cs typeface="Mulish Black"/>
              <a:sym typeface="Mulish Black"/>
            </a:endParaRPr>
          </a:p>
        </p:txBody>
      </p:sp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A9999916-7C47-D6EF-7B41-3ED2DA329BC3}"/>
              </a:ext>
            </a:extLst>
          </p:cNvPr>
          <p:cNvSpPr/>
          <p:nvPr/>
        </p:nvSpPr>
        <p:spPr>
          <a:xfrm>
            <a:off x="158038" y="598311"/>
            <a:ext cx="8665563" cy="46806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55000" lnSpcReduction="20000"/>
          </a:bodyPr>
          <a:lstStyle/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В Windows разделитель путей \, в Linux - / - писать пути вручную ненадёжно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Модуль </a:t>
            </a:r>
            <a:r>
              <a:rPr lang="ru-RU" sz="3000" dirty="0" err="1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path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автоматически использует правильный разделитель для любой системы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Абсолютный путь начинается от корня файловой системы - привязан к конкретному компьютеру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Относительный путь отсчитывается от папки запуска программы - может сломаться при запуске из другой папки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__</a:t>
            </a:r>
            <a:r>
              <a:rPr lang="ru-RU" sz="3000" dirty="0" err="1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dirname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- абсолютный путь к папке текущего файла, доступен без импорта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__</a:t>
            </a:r>
            <a:r>
              <a:rPr lang="ru-RU" sz="3000" dirty="0" err="1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filename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- абсолютный путь к самому файлу, доступен без импорта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__</a:t>
            </a:r>
            <a:r>
              <a:rPr lang="ru-RU" sz="3000" dirty="0" err="1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dirname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всегда указывает на папку файла - независимо от того откуда запущена программа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3000" dirty="0" err="1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path.join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() - склеивает части пути с правильным разделителем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3000" dirty="0" err="1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path.resolve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() - всегда возвращает абсолютный путь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Главное правило - всегда строить пути через </a:t>
            </a:r>
            <a:r>
              <a:rPr lang="ru-RU" sz="3000" dirty="0" err="1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path.join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(__</a:t>
            </a:r>
            <a:r>
              <a:rPr lang="ru-RU" sz="3000" dirty="0" err="1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dirname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, ...)</a:t>
            </a:r>
          </a:p>
          <a:p>
            <a:pPr marL="457200" lvl="0" indent="-457200">
              <a:lnSpc>
                <a:spcPct val="115000"/>
              </a:lnSpc>
              <a:buClr>
                <a:srgbClr val="333333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Нельзя склеивать пути через + и вручную добавлять слэши внутри </a:t>
            </a:r>
            <a:r>
              <a:rPr lang="ru-RU" sz="3000" dirty="0" err="1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path.join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()</a:t>
            </a: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1420DA85-3215-B97E-278E-BB907D6016F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6709281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61DD"/>
        </a:solidFill>
        <a:effectLst/>
      </p:bgPr>
    </p:bg>
    <p:spTree>
      <p:nvGrpSpPr>
        <p:cNvPr id="1" name="Shape 198">
          <a:extLst>
            <a:ext uri="{FF2B5EF4-FFF2-40B4-BE49-F238E27FC236}">
              <a16:creationId xmlns:a16="http://schemas.microsoft.com/office/drawing/2014/main" id="{45F55314-7898-4958-9480-F8FB4A5845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49;g30f32ff6c42_0_5">
            <a:extLst>
              <a:ext uri="{FF2B5EF4-FFF2-40B4-BE49-F238E27FC236}">
                <a16:creationId xmlns:a16="http://schemas.microsoft.com/office/drawing/2014/main" id="{A63BED38-91CA-D9D6-6121-BF988F7C532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8525" y="215026"/>
            <a:ext cx="8346900" cy="660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20"/>
              <a:buFont typeface="Mulish Black"/>
              <a:buNone/>
            </a:pPr>
            <a:r>
              <a:rPr lang="ru-RU" sz="3420" dirty="0">
                <a:solidFill>
                  <a:schemeClr val="bg1"/>
                </a:solidFill>
                <a:latin typeface="Mulish Black"/>
                <a:ea typeface="Mulish Black"/>
                <a:cs typeface="Mulish Black"/>
                <a:sym typeface="Mulish Black"/>
              </a:rPr>
              <a:t>Контрольные вопросы</a:t>
            </a:r>
            <a:endParaRPr lang="en-US" sz="3420" dirty="0">
              <a:solidFill>
                <a:schemeClr val="bg1"/>
              </a:solidFill>
              <a:latin typeface="Mulish Black"/>
              <a:ea typeface="Mulish Black"/>
              <a:cs typeface="Mulish Black"/>
              <a:sym typeface="Mulish Black"/>
            </a:endParaRPr>
          </a:p>
        </p:txBody>
      </p:sp>
      <p:sp>
        <p:nvSpPr>
          <p:cNvPr id="3" name="Google Shape;153;g30f32ff6c42_0_5">
            <a:extLst>
              <a:ext uri="{FF2B5EF4-FFF2-40B4-BE49-F238E27FC236}">
                <a16:creationId xmlns:a16="http://schemas.microsoft.com/office/drawing/2014/main" id="{66682A93-D9C7-FBAA-14FF-26E9049451E6}"/>
              </a:ext>
            </a:extLst>
          </p:cNvPr>
          <p:cNvSpPr/>
          <p:nvPr/>
        </p:nvSpPr>
        <p:spPr>
          <a:xfrm>
            <a:off x="124199" y="978794"/>
            <a:ext cx="8621225" cy="3949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/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1. Почему нельзя писать пути к файлам вручную через / или \?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2. Чем абсолютный путь отличается от относительного?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3. Что хранит __</a:t>
            </a:r>
            <a:r>
              <a:rPr lang="ru-RU" sz="3000" dirty="0" err="1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dirname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? Чем отличается от __</a:t>
            </a:r>
            <a:r>
              <a:rPr lang="ru-RU" sz="3000" dirty="0" err="1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filename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?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4. Почему использование ./ без __</a:t>
            </a:r>
            <a:r>
              <a:rPr lang="ru-RU" sz="3000" dirty="0" err="1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dirname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 ненадёжно?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5. Что делает метод </a:t>
            </a:r>
            <a:r>
              <a:rPr lang="ru-RU" sz="3000" dirty="0" err="1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path.join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()? Приведите пример.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6. Чем </a:t>
            </a:r>
            <a:r>
              <a:rPr lang="ru-RU" sz="3000" dirty="0" err="1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path.join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() отличается от </a:t>
            </a:r>
            <a:r>
              <a:rPr lang="ru-RU" sz="3000" dirty="0" err="1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path.resolve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()?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7. Какой метод вернёт только имя файла из полного пути?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8. Какой метод вернёт расширение файла?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9. Что вернёт </a:t>
            </a:r>
            <a:r>
              <a:rPr lang="ru-RU" sz="3000" dirty="0" err="1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path.parse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()? Какие поля будут в результате?</a:t>
            </a:r>
          </a:p>
          <a:p>
            <a:pPr lvl="0">
              <a:lnSpc>
                <a:spcPct val="115000"/>
              </a:lnSpc>
              <a:buClr>
                <a:srgbClr val="333333"/>
              </a:buClr>
              <a:buSzPts val="1800"/>
            </a:pP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10. Как правильно построить путь к файлу file.txt в папке </a:t>
            </a:r>
            <a:r>
              <a:rPr lang="ru-RU" sz="3000" dirty="0" err="1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data</a:t>
            </a:r>
            <a:r>
              <a:rPr lang="ru-RU" sz="3000" dirty="0">
                <a:solidFill>
                  <a:schemeClr val="bg1"/>
                </a:solidFill>
                <a:latin typeface="Mulish SemiBold"/>
                <a:ea typeface="Mulish SemiBold"/>
                <a:cs typeface="Mulish SemiBold"/>
                <a:sym typeface="Mulish SemiBold"/>
              </a:rPr>
              <a:t>, которая находится рядом с текущим файлом?</a:t>
            </a:r>
          </a:p>
        </p:txBody>
      </p:sp>
      <p:pic>
        <p:nvPicPr>
          <p:cNvPr id="5" name="Google Shape;152;g30f32ff6c42_0_5">
            <a:extLst>
              <a:ext uri="{FF2B5EF4-FFF2-40B4-BE49-F238E27FC236}">
                <a16:creationId xmlns:a16="http://schemas.microsoft.com/office/drawing/2014/main" id="{76964D9A-BD29-A315-0A5D-43051D5DEF8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8167744" y="4110257"/>
            <a:ext cx="1474076" cy="1623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571434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885</TotalTime>
  <Words>1250</Words>
  <Application>Microsoft Office PowerPoint</Application>
  <PresentationFormat>Экран (16:9)</PresentationFormat>
  <Paragraphs>225</Paragraphs>
  <Slides>45</Slides>
  <Notes>45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45</vt:i4>
      </vt:variant>
    </vt:vector>
  </HeadingPairs>
  <TitlesOfParts>
    <vt:vector size="51" baseType="lpstr">
      <vt:lpstr>Arial</vt:lpstr>
      <vt:lpstr>Mulish Black</vt:lpstr>
      <vt:lpstr>Mulish ExtraBold</vt:lpstr>
      <vt:lpstr>Times New Roman</vt:lpstr>
      <vt:lpstr>Mulish SemiBold</vt:lpstr>
      <vt:lpstr>Office Theme</vt:lpstr>
      <vt:lpstr>ДЕНЬ ОТКРЫТЫХ ДВЕРЕЙ</vt:lpstr>
      <vt:lpstr>Цель занятия:</vt:lpstr>
      <vt:lpstr>Учебные вопросы:</vt:lpstr>
      <vt:lpstr>1. Проблема путей - зачем нужен модуль path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2. Абсолютные и относительные пути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3. Константы __dirname и __filename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4. Основные методы модуля path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5. Практика - строим пути правильно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Выводы:</vt:lpstr>
      <vt:lpstr>Контрольные вопросы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Fido</dc:creator>
  <cp:lastModifiedBy>user</cp:lastModifiedBy>
  <cp:revision>16</cp:revision>
  <dcterms:modified xsi:type="dcterms:W3CDTF">2026-04-06T17:04:09Z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45</vt:i4>
  </property>
  <property fmtid="{D5CDD505-2E9C-101B-9397-08002B2CF9AE}" pid="3" name="PresentationFormat">
    <vt:lpwstr>Экран (16:9)</vt:lpwstr>
  </property>
  <property fmtid="{D5CDD505-2E9C-101B-9397-08002B2CF9AE}" pid="4" name="Slides">
    <vt:i4>45</vt:i4>
  </property>
</Properties>
</file>