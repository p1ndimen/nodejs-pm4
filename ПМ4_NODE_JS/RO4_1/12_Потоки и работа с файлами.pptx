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8"/>
  </p:notesMasterIdLst>
  <p:sldIdLst>
    <p:sldId id="256" r:id="rId2"/>
    <p:sldId id="263" r:id="rId3"/>
    <p:sldId id="262" r:id="rId4"/>
    <p:sldId id="264" r:id="rId5"/>
    <p:sldId id="265" r:id="rId6"/>
    <p:sldId id="298" r:id="rId7"/>
    <p:sldId id="299" r:id="rId8"/>
    <p:sldId id="300" r:id="rId9"/>
    <p:sldId id="301" r:id="rId10"/>
    <p:sldId id="302" r:id="rId11"/>
    <p:sldId id="304" r:id="rId12"/>
    <p:sldId id="305" r:id="rId13"/>
    <p:sldId id="306" r:id="rId14"/>
    <p:sldId id="307" r:id="rId15"/>
    <p:sldId id="308" r:id="rId16"/>
    <p:sldId id="296" r:id="rId17"/>
    <p:sldId id="309" r:id="rId18"/>
    <p:sldId id="311" r:id="rId19"/>
    <p:sldId id="312" r:id="rId20"/>
    <p:sldId id="313" r:id="rId21"/>
    <p:sldId id="314" r:id="rId22"/>
    <p:sldId id="315" r:id="rId23"/>
    <p:sldId id="316" r:id="rId24"/>
    <p:sldId id="319" r:id="rId25"/>
    <p:sldId id="310" r:id="rId26"/>
    <p:sldId id="297" r:id="rId27"/>
  </p:sldIdLst>
  <p:sldSz cx="9144000" cy="5143500" type="screen16x9"/>
  <p:notesSz cx="6858000" cy="9144000"/>
  <p:embeddedFontLst>
    <p:embeddedFont>
      <p:font typeface="Mulish Black" panose="020B0604020202020204" charset="-52"/>
      <p:bold r:id="rId29"/>
      <p:boldItalic r:id="rId30"/>
    </p:embeddedFont>
    <p:embeddedFont>
      <p:font typeface="Mulish ExtraBold" panose="020B0604020202020204" charset="-52"/>
      <p:bold r:id="rId31"/>
      <p:boldItalic r:id="rId32"/>
    </p:embeddedFont>
    <p:embeddedFont>
      <p:font typeface="Mulish SemiBold" panose="020B0604020202020204" charset="-52"/>
      <p:regular r:id="rId33"/>
      <p:bold r:id="rId34"/>
      <p:italic r:id="rId35"/>
      <p:boldItalic r:id="rId3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72" roundtripDataSignature="AMtx7miJQyI2npMiufbLtMTLZXKhjf0iD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015" autoAdjust="0"/>
    <p:restoredTop sz="94660"/>
  </p:normalViewPr>
  <p:slideViewPr>
    <p:cSldViewPr snapToGrid="0">
      <p:cViewPr varScale="1">
        <p:scale>
          <a:sx n="85" d="100"/>
          <a:sy n="85" d="100"/>
        </p:scale>
        <p:origin x="582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font" Target="fonts/font6.fntdata"/><Relationship Id="rId76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1.fntdata"/><Relationship Id="rId75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4.fntdata"/><Relationship Id="rId7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36" Type="http://schemas.openxmlformats.org/officeDocument/2006/relationships/font" Target="fonts/font8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3.fntdata"/><Relationship Id="rId73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font" Target="fonts/font2.fntdata"/><Relationship Id="rId35" Type="http://schemas.openxmlformats.org/officeDocument/2006/relationships/font" Target="fonts/font7.fntdata"/><Relationship Id="rId8" Type="http://schemas.openxmlformats.org/officeDocument/2006/relationships/slide" Target="slides/slide7.xml"/><Relationship Id="rId72" Type="http://customschemas.google.com/relationships/presentationmetadata" Target="meta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5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16000" y="812520"/>
            <a:ext cx="7127280" cy="400896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 txBox="1">
            <a:spLocks noGrp="1"/>
          </p:cNvSpPr>
          <p:nvPr>
            <p:ph type="hdr" idx="3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" name="Google Shape;6;n"/>
          <p:cNvSpPr txBox="1">
            <a:spLocks noGrp="1"/>
          </p:cNvSpPr>
          <p:nvPr>
            <p:ph type="dt" idx="10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lang="ru"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:notes"/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9" name="Google Shape;139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>
          <a:extLst>
            <a:ext uri="{FF2B5EF4-FFF2-40B4-BE49-F238E27FC236}">
              <a16:creationId xmlns:a16="http://schemas.microsoft.com/office/drawing/2014/main" id="{8DAFB3B4-A6E1-27FF-8B6C-9E40294AFD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4:notes">
            <a:extLst>
              <a:ext uri="{FF2B5EF4-FFF2-40B4-BE49-F238E27FC236}">
                <a16:creationId xmlns:a16="http://schemas.microsoft.com/office/drawing/2014/main" id="{EFDA7AD0-34A6-33DA-4F4A-36A4D6BF75F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7" name="Google Shape;197;p44:notes">
            <a:extLst>
              <a:ext uri="{FF2B5EF4-FFF2-40B4-BE49-F238E27FC236}">
                <a16:creationId xmlns:a16="http://schemas.microsoft.com/office/drawing/2014/main" id="{8AE18F91-DCA6-3D83-956D-0E4D9AD34F8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29734238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4:notes"/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7" name="Google Shape;197;p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>
          <a:extLst>
            <a:ext uri="{FF2B5EF4-FFF2-40B4-BE49-F238E27FC236}">
              <a16:creationId xmlns:a16="http://schemas.microsoft.com/office/drawing/2014/main" id="{1D941BEB-544D-4C7F-AB84-40777C546A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4:notes">
            <a:extLst>
              <a:ext uri="{FF2B5EF4-FFF2-40B4-BE49-F238E27FC236}">
                <a16:creationId xmlns:a16="http://schemas.microsoft.com/office/drawing/2014/main" id="{FBCEB855-C630-8AC8-5683-AFBCAFD155E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7" name="Google Shape;197;p44:notes">
            <a:extLst>
              <a:ext uri="{FF2B5EF4-FFF2-40B4-BE49-F238E27FC236}">
                <a16:creationId xmlns:a16="http://schemas.microsoft.com/office/drawing/2014/main" id="{7A07A61D-02CE-7DD4-CD80-D605E40607F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27662910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>
          <a:extLst>
            <a:ext uri="{FF2B5EF4-FFF2-40B4-BE49-F238E27FC236}">
              <a16:creationId xmlns:a16="http://schemas.microsoft.com/office/drawing/2014/main" id="{BEE044EC-29C7-3CDD-429A-8357606D42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4:notes">
            <a:extLst>
              <a:ext uri="{FF2B5EF4-FFF2-40B4-BE49-F238E27FC236}">
                <a16:creationId xmlns:a16="http://schemas.microsoft.com/office/drawing/2014/main" id="{F248B09F-DFB1-377F-EA2C-6757B0737DC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7" name="Google Shape;197;p44:notes">
            <a:extLst>
              <a:ext uri="{FF2B5EF4-FFF2-40B4-BE49-F238E27FC236}">
                <a16:creationId xmlns:a16="http://schemas.microsoft.com/office/drawing/2014/main" id="{3836A5C5-16BD-7FC7-7F6F-4851AD2FDAC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352710586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>
          <a:extLst>
            <a:ext uri="{FF2B5EF4-FFF2-40B4-BE49-F238E27FC236}">
              <a16:creationId xmlns:a16="http://schemas.microsoft.com/office/drawing/2014/main" id="{213211A7-4021-13BA-0F5C-962DD5B71A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4:notes">
            <a:extLst>
              <a:ext uri="{FF2B5EF4-FFF2-40B4-BE49-F238E27FC236}">
                <a16:creationId xmlns:a16="http://schemas.microsoft.com/office/drawing/2014/main" id="{32D9551C-3857-4CC1-F644-12A929969DA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7" name="Google Shape;197;p44:notes">
            <a:extLst>
              <a:ext uri="{FF2B5EF4-FFF2-40B4-BE49-F238E27FC236}">
                <a16:creationId xmlns:a16="http://schemas.microsoft.com/office/drawing/2014/main" id="{5778D12E-2568-EF62-123A-3DF2CCC70CB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427516210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>
          <a:extLst>
            <a:ext uri="{FF2B5EF4-FFF2-40B4-BE49-F238E27FC236}">
              <a16:creationId xmlns:a16="http://schemas.microsoft.com/office/drawing/2014/main" id="{F033091B-80F1-77C6-DBD0-47BEB7DE40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4:notes">
            <a:extLst>
              <a:ext uri="{FF2B5EF4-FFF2-40B4-BE49-F238E27FC236}">
                <a16:creationId xmlns:a16="http://schemas.microsoft.com/office/drawing/2014/main" id="{FE2CED6F-8A97-4C63-9F3B-EFC4FF8D17F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7" name="Google Shape;197;p44:notes">
            <a:extLst>
              <a:ext uri="{FF2B5EF4-FFF2-40B4-BE49-F238E27FC236}">
                <a16:creationId xmlns:a16="http://schemas.microsoft.com/office/drawing/2014/main" id="{45771468-5786-142A-6147-5FFA97EC917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230784346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>
          <a:extLst>
            <a:ext uri="{FF2B5EF4-FFF2-40B4-BE49-F238E27FC236}">
              <a16:creationId xmlns:a16="http://schemas.microsoft.com/office/drawing/2014/main" id="{C5FA1CB0-6544-1980-6299-FD7C746233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4:notes">
            <a:extLst>
              <a:ext uri="{FF2B5EF4-FFF2-40B4-BE49-F238E27FC236}">
                <a16:creationId xmlns:a16="http://schemas.microsoft.com/office/drawing/2014/main" id="{E93A8627-2124-0320-D691-99B8E13AA67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7" name="Google Shape;197;p44:notes">
            <a:extLst>
              <a:ext uri="{FF2B5EF4-FFF2-40B4-BE49-F238E27FC236}">
                <a16:creationId xmlns:a16="http://schemas.microsoft.com/office/drawing/2014/main" id="{1E1C5D45-602F-C580-EE91-D7174CF7318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153231400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>
          <a:extLst>
            <a:ext uri="{FF2B5EF4-FFF2-40B4-BE49-F238E27FC236}">
              <a16:creationId xmlns:a16="http://schemas.microsoft.com/office/drawing/2014/main" id="{E49983C2-E2DE-06FC-A1C7-845F0F4543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4:notes">
            <a:extLst>
              <a:ext uri="{FF2B5EF4-FFF2-40B4-BE49-F238E27FC236}">
                <a16:creationId xmlns:a16="http://schemas.microsoft.com/office/drawing/2014/main" id="{2A6C92EE-3A0C-0DE9-40B0-6B7DA54FF63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7" name="Google Shape;197;p44:notes">
            <a:extLst>
              <a:ext uri="{FF2B5EF4-FFF2-40B4-BE49-F238E27FC236}">
                <a16:creationId xmlns:a16="http://schemas.microsoft.com/office/drawing/2014/main" id="{485A7FDC-83CA-24B6-5142-78D831DB7E7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347422775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>
          <a:extLst>
            <a:ext uri="{FF2B5EF4-FFF2-40B4-BE49-F238E27FC236}">
              <a16:creationId xmlns:a16="http://schemas.microsoft.com/office/drawing/2014/main" id="{458204BF-A780-5298-1870-9FF25C143A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4:notes">
            <a:extLst>
              <a:ext uri="{FF2B5EF4-FFF2-40B4-BE49-F238E27FC236}">
                <a16:creationId xmlns:a16="http://schemas.microsoft.com/office/drawing/2014/main" id="{DFF47FA6-5163-A499-4C5A-97755A79A5F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7" name="Google Shape;197;p44:notes">
            <a:extLst>
              <a:ext uri="{FF2B5EF4-FFF2-40B4-BE49-F238E27FC236}">
                <a16:creationId xmlns:a16="http://schemas.microsoft.com/office/drawing/2014/main" id="{258C7A29-2DF4-A25C-F843-746E7576A6B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9981710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>
          <a:extLst>
            <a:ext uri="{FF2B5EF4-FFF2-40B4-BE49-F238E27FC236}">
              <a16:creationId xmlns:a16="http://schemas.microsoft.com/office/drawing/2014/main" id="{69EC78F5-41D1-DBE0-A568-DCB449F676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4:notes">
            <a:extLst>
              <a:ext uri="{FF2B5EF4-FFF2-40B4-BE49-F238E27FC236}">
                <a16:creationId xmlns:a16="http://schemas.microsoft.com/office/drawing/2014/main" id="{7FBF479D-5BB2-4912-5814-5017BE3EA4D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7" name="Google Shape;197;p44:notes">
            <a:extLst>
              <a:ext uri="{FF2B5EF4-FFF2-40B4-BE49-F238E27FC236}">
                <a16:creationId xmlns:a16="http://schemas.microsoft.com/office/drawing/2014/main" id="{2EB52CD4-8F64-1BFF-FA64-F4B5E14B83D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196199306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>
          <a:extLst>
            <a:ext uri="{FF2B5EF4-FFF2-40B4-BE49-F238E27FC236}">
              <a16:creationId xmlns:a16="http://schemas.microsoft.com/office/drawing/2014/main" id="{491FCCF8-37C5-35F1-D759-CE101381C7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4:notes">
            <a:extLst>
              <a:ext uri="{FF2B5EF4-FFF2-40B4-BE49-F238E27FC236}">
                <a16:creationId xmlns:a16="http://schemas.microsoft.com/office/drawing/2014/main" id="{83CD6127-623B-6EC7-F71F-8E394208D22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7" name="Google Shape;197;p44:notes">
            <a:extLst>
              <a:ext uri="{FF2B5EF4-FFF2-40B4-BE49-F238E27FC236}">
                <a16:creationId xmlns:a16="http://schemas.microsoft.com/office/drawing/2014/main" id="{F8493EF3-5DBB-586A-ED90-9EABFCC7C02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428659342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>
          <a:extLst>
            <a:ext uri="{FF2B5EF4-FFF2-40B4-BE49-F238E27FC236}">
              <a16:creationId xmlns:a16="http://schemas.microsoft.com/office/drawing/2014/main" id="{BF1D6163-8AF6-3BC0-9517-BEB6CF4D3D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4:notes">
            <a:extLst>
              <a:ext uri="{FF2B5EF4-FFF2-40B4-BE49-F238E27FC236}">
                <a16:creationId xmlns:a16="http://schemas.microsoft.com/office/drawing/2014/main" id="{1CC250AB-D923-D1EA-7045-EA0D9AB15F6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7" name="Google Shape;197;p44:notes">
            <a:extLst>
              <a:ext uri="{FF2B5EF4-FFF2-40B4-BE49-F238E27FC236}">
                <a16:creationId xmlns:a16="http://schemas.microsoft.com/office/drawing/2014/main" id="{9399BAA5-F8D6-B349-7BC3-5452A2FBB90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227259367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>
          <a:extLst>
            <a:ext uri="{FF2B5EF4-FFF2-40B4-BE49-F238E27FC236}">
              <a16:creationId xmlns:a16="http://schemas.microsoft.com/office/drawing/2014/main" id="{63440751-7BF8-5F06-5652-FD7A8A8ACB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4:notes">
            <a:extLst>
              <a:ext uri="{FF2B5EF4-FFF2-40B4-BE49-F238E27FC236}">
                <a16:creationId xmlns:a16="http://schemas.microsoft.com/office/drawing/2014/main" id="{FCAFCF0B-93B3-F699-BF31-EA2CF765E68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7" name="Google Shape;197;p44:notes">
            <a:extLst>
              <a:ext uri="{FF2B5EF4-FFF2-40B4-BE49-F238E27FC236}">
                <a16:creationId xmlns:a16="http://schemas.microsoft.com/office/drawing/2014/main" id="{17951C5B-F4D4-1255-A106-45787656426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252674579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>
          <a:extLst>
            <a:ext uri="{FF2B5EF4-FFF2-40B4-BE49-F238E27FC236}">
              <a16:creationId xmlns:a16="http://schemas.microsoft.com/office/drawing/2014/main" id="{7815C565-66CB-38CD-9BE7-AF143633AA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4:notes">
            <a:extLst>
              <a:ext uri="{FF2B5EF4-FFF2-40B4-BE49-F238E27FC236}">
                <a16:creationId xmlns:a16="http://schemas.microsoft.com/office/drawing/2014/main" id="{EF4770EE-EB50-DB11-719E-5390D59C407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7" name="Google Shape;197;p44:notes">
            <a:extLst>
              <a:ext uri="{FF2B5EF4-FFF2-40B4-BE49-F238E27FC236}">
                <a16:creationId xmlns:a16="http://schemas.microsoft.com/office/drawing/2014/main" id="{B1A7935B-1E34-D9AC-E961-5E98D5F82D1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244305607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>
          <a:extLst>
            <a:ext uri="{FF2B5EF4-FFF2-40B4-BE49-F238E27FC236}">
              <a16:creationId xmlns:a16="http://schemas.microsoft.com/office/drawing/2014/main" id="{C17E1C49-3313-6E58-F661-2A86CC9FD1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4:notes">
            <a:extLst>
              <a:ext uri="{FF2B5EF4-FFF2-40B4-BE49-F238E27FC236}">
                <a16:creationId xmlns:a16="http://schemas.microsoft.com/office/drawing/2014/main" id="{0A3CD291-2D23-6E61-2B18-1E4E2785E81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7" name="Google Shape;197;p44:notes">
            <a:extLst>
              <a:ext uri="{FF2B5EF4-FFF2-40B4-BE49-F238E27FC236}">
                <a16:creationId xmlns:a16="http://schemas.microsoft.com/office/drawing/2014/main" id="{1B2FD83A-D393-289C-1025-37482C87871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241284380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>
          <a:extLst>
            <a:ext uri="{FF2B5EF4-FFF2-40B4-BE49-F238E27FC236}">
              <a16:creationId xmlns:a16="http://schemas.microsoft.com/office/drawing/2014/main" id="{1857426B-2EB4-2BC9-307F-D933866ADF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4:notes">
            <a:extLst>
              <a:ext uri="{FF2B5EF4-FFF2-40B4-BE49-F238E27FC236}">
                <a16:creationId xmlns:a16="http://schemas.microsoft.com/office/drawing/2014/main" id="{8F224194-1390-9BB5-D865-3A075173847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7" name="Google Shape;197;p44:notes">
            <a:extLst>
              <a:ext uri="{FF2B5EF4-FFF2-40B4-BE49-F238E27FC236}">
                <a16:creationId xmlns:a16="http://schemas.microsoft.com/office/drawing/2014/main" id="{14C72DE7-DFD1-964A-CAC4-9DC7AAB7906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368461683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>
          <a:extLst>
            <a:ext uri="{FF2B5EF4-FFF2-40B4-BE49-F238E27FC236}">
              <a16:creationId xmlns:a16="http://schemas.microsoft.com/office/drawing/2014/main" id="{0DDF01EC-EBCF-E21F-2551-DA356B12CE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4:notes">
            <a:extLst>
              <a:ext uri="{FF2B5EF4-FFF2-40B4-BE49-F238E27FC236}">
                <a16:creationId xmlns:a16="http://schemas.microsoft.com/office/drawing/2014/main" id="{405FB4A3-E84D-56FB-D8B9-3D76A57E9D6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7" name="Google Shape;197;p44:notes">
            <a:extLst>
              <a:ext uri="{FF2B5EF4-FFF2-40B4-BE49-F238E27FC236}">
                <a16:creationId xmlns:a16="http://schemas.microsoft.com/office/drawing/2014/main" id="{8CF31869-E533-B824-2FF9-4B3931A7570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29521412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>
          <a:extLst>
            <a:ext uri="{FF2B5EF4-FFF2-40B4-BE49-F238E27FC236}">
              <a16:creationId xmlns:a16="http://schemas.microsoft.com/office/drawing/2014/main" id="{33EB5B1B-0919-3910-28C2-C66D04A19F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4:notes">
            <a:extLst>
              <a:ext uri="{FF2B5EF4-FFF2-40B4-BE49-F238E27FC236}">
                <a16:creationId xmlns:a16="http://schemas.microsoft.com/office/drawing/2014/main" id="{0488D724-6303-1076-1073-2FEFE1C0C52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7" name="Google Shape;197;p44:notes">
            <a:extLst>
              <a:ext uri="{FF2B5EF4-FFF2-40B4-BE49-F238E27FC236}">
                <a16:creationId xmlns:a16="http://schemas.microsoft.com/office/drawing/2014/main" id="{E8C42D54-A302-7F90-163F-E10AB2EB16B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244790027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>
          <a:extLst>
            <a:ext uri="{FF2B5EF4-FFF2-40B4-BE49-F238E27FC236}">
              <a16:creationId xmlns:a16="http://schemas.microsoft.com/office/drawing/2014/main" id="{9BB0F5EB-EBDE-0167-EBF7-4A72082B58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4:notes">
            <a:extLst>
              <a:ext uri="{FF2B5EF4-FFF2-40B4-BE49-F238E27FC236}">
                <a16:creationId xmlns:a16="http://schemas.microsoft.com/office/drawing/2014/main" id="{0E3A7A83-B144-514E-D665-A318973EFFE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7" name="Google Shape;197;p44:notes">
            <a:extLst>
              <a:ext uri="{FF2B5EF4-FFF2-40B4-BE49-F238E27FC236}">
                <a16:creationId xmlns:a16="http://schemas.microsoft.com/office/drawing/2014/main" id="{DBA6A216-BDDD-3C44-BF59-7F8C41B62EE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377463141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>
          <a:extLst>
            <a:ext uri="{FF2B5EF4-FFF2-40B4-BE49-F238E27FC236}">
              <a16:creationId xmlns:a16="http://schemas.microsoft.com/office/drawing/2014/main" id="{ACAE53CA-BFE0-3865-87DA-48785E860E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4:notes">
            <a:extLst>
              <a:ext uri="{FF2B5EF4-FFF2-40B4-BE49-F238E27FC236}">
                <a16:creationId xmlns:a16="http://schemas.microsoft.com/office/drawing/2014/main" id="{51CD976A-87E8-70E9-5F10-B74BE47F097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7" name="Google Shape;197;p44:notes">
            <a:extLst>
              <a:ext uri="{FF2B5EF4-FFF2-40B4-BE49-F238E27FC236}">
                <a16:creationId xmlns:a16="http://schemas.microsoft.com/office/drawing/2014/main" id="{1805132F-95D8-162C-A0FE-11AB369C5D8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384260274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>
          <a:extLst>
            <a:ext uri="{FF2B5EF4-FFF2-40B4-BE49-F238E27FC236}">
              <a16:creationId xmlns:a16="http://schemas.microsoft.com/office/drawing/2014/main" id="{5BACDC00-8CB8-889B-59D7-708420F069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4:notes">
            <a:extLst>
              <a:ext uri="{FF2B5EF4-FFF2-40B4-BE49-F238E27FC236}">
                <a16:creationId xmlns:a16="http://schemas.microsoft.com/office/drawing/2014/main" id="{55BD65B3-7476-199E-999F-08AB8746EB3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7" name="Google Shape;197;p44:notes">
            <a:extLst>
              <a:ext uri="{FF2B5EF4-FFF2-40B4-BE49-F238E27FC236}">
                <a16:creationId xmlns:a16="http://schemas.microsoft.com/office/drawing/2014/main" id="{349D1E5A-39E1-F520-F03E-81DF3003B63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391454260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>
          <a:extLst>
            <a:ext uri="{FF2B5EF4-FFF2-40B4-BE49-F238E27FC236}">
              <a16:creationId xmlns:a16="http://schemas.microsoft.com/office/drawing/2014/main" id="{94EA3A28-F136-8D93-EA1B-87CB3153C1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4:notes">
            <a:extLst>
              <a:ext uri="{FF2B5EF4-FFF2-40B4-BE49-F238E27FC236}">
                <a16:creationId xmlns:a16="http://schemas.microsoft.com/office/drawing/2014/main" id="{0AD1A1D0-C81D-3ADA-6D2B-2A1B1EF6C3F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7" name="Google Shape;197;p44:notes">
            <a:extLst>
              <a:ext uri="{FF2B5EF4-FFF2-40B4-BE49-F238E27FC236}">
                <a16:creationId xmlns:a16="http://schemas.microsoft.com/office/drawing/2014/main" id="{C090658E-036B-C8A0-1CBA-B9ECD9A0E21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109384132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>
          <a:extLst>
            <a:ext uri="{FF2B5EF4-FFF2-40B4-BE49-F238E27FC236}">
              <a16:creationId xmlns:a16="http://schemas.microsoft.com/office/drawing/2014/main" id="{098ABC34-51AB-201C-04D0-D24F2D0D36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4:notes">
            <a:extLst>
              <a:ext uri="{FF2B5EF4-FFF2-40B4-BE49-F238E27FC236}">
                <a16:creationId xmlns:a16="http://schemas.microsoft.com/office/drawing/2014/main" id="{32D70D5A-4556-6487-270B-A92D0FCCB7F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7" name="Google Shape;197;p44:notes">
            <a:extLst>
              <a:ext uri="{FF2B5EF4-FFF2-40B4-BE49-F238E27FC236}">
                <a16:creationId xmlns:a16="http://schemas.microsoft.com/office/drawing/2014/main" id="{0B88F1FE-271A-BA17-02D5-78A963DFB5F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156185218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>
          <a:extLst>
            <a:ext uri="{FF2B5EF4-FFF2-40B4-BE49-F238E27FC236}">
              <a16:creationId xmlns:a16="http://schemas.microsoft.com/office/drawing/2014/main" id="{C682821F-95A1-903A-7DA0-BCA3739E8E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4:notes">
            <a:extLst>
              <a:ext uri="{FF2B5EF4-FFF2-40B4-BE49-F238E27FC236}">
                <a16:creationId xmlns:a16="http://schemas.microsoft.com/office/drawing/2014/main" id="{0B3B0DD5-BF42-4D1D-19F4-95B637B48D0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7" name="Google Shape;197;p44:notes">
            <a:extLst>
              <a:ext uri="{FF2B5EF4-FFF2-40B4-BE49-F238E27FC236}">
                <a16:creationId xmlns:a16="http://schemas.microsoft.com/office/drawing/2014/main" id="{B5E2B4AA-5F37-710B-D6AD-5B2EEACF03D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102236691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>
          <a:extLst>
            <a:ext uri="{FF2B5EF4-FFF2-40B4-BE49-F238E27FC236}">
              <a16:creationId xmlns:a16="http://schemas.microsoft.com/office/drawing/2014/main" id="{CC3C8252-301C-5851-DD96-CB0B3D1E02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4:notes">
            <a:extLst>
              <a:ext uri="{FF2B5EF4-FFF2-40B4-BE49-F238E27FC236}">
                <a16:creationId xmlns:a16="http://schemas.microsoft.com/office/drawing/2014/main" id="{ED08F3A7-AE80-143C-600B-4627A889B1F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7" name="Google Shape;197;p44:notes">
            <a:extLst>
              <a:ext uri="{FF2B5EF4-FFF2-40B4-BE49-F238E27FC236}">
                <a16:creationId xmlns:a16="http://schemas.microsoft.com/office/drawing/2014/main" id="{2B5399B4-772E-8DAE-581C-EE42F1B256E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22559934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x">
  <p:cSld name="TITLE_AND_BODY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46"/>
          <p:cNvSpPr txBox="1">
            <a:spLocks noGrp="1"/>
          </p:cNvSpPr>
          <p:nvPr>
            <p:ph type="title"/>
          </p:nvPr>
        </p:nvSpPr>
        <p:spPr>
          <a:xfrm>
            <a:off x="311760" y="744480"/>
            <a:ext cx="8520120" cy="2052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46"/>
          <p:cNvSpPr txBox="1">
            <a:spLocks noGrp="1"/>
          </p:cNvSpPr>
          <p:nvPr>
            <p:ph type="subTitle" idx="1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46"/>
          <p:cNvSpPr txBox="1">
            <a:spLocks noGrp="1"/>
          </p:cNvSpPr>
          <p:nvPr>
            <p:ph type="sldNum" idx="12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Slide" type="blank">
  <p:cSld name="BLANK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63"/>
          <p:cNvSpPr txBox="1">
            <a:spLocks noGrp="1"/>
          </p:cNvSpPr>
          <p:nvPr>
            <p:ph type="sldNum" idx="12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Content" type="obj">
  <p:cSld name="OBJECT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64"/>
          <p:cNvSpPr txBox="1">
            <a:spLocks noGrp="1"/>
          </p:cNvSpPr>
          <p:nvPr>
            <p:ph type="title"/>
          </p:nvPr>
        </p:nvSpPr>
        <p:spPr>
          <a:xfrm>
            <a:off x="311760" y="744480"/>
            <a:ext cx="8520120" cy="2052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64"/>
          <p:cNvSpPr txBox="1">
            <a:spLocks noGrp="1"/>
          </p:cNvSpPr>
          <p:nvPr>
            <p:ph type="body" idx="1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64"/>
          <p:cNvSpPr txBox="1">
            <a:spLocks noGrp="1"/>
          </p:cNvSpPr>
          <p:nvPr>
            <p:ph type="sldNum" idx="12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2 Content" type="twoObj">
  <p:cSld name="TWO_OBJECTS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65"/>
          <p:cNvSpPr txBox="1">
            <a:spLocks noGrp="1"/>
          </p:cNvSpPr>
          <p:nvPr>
            <p:ph type="title"/>
          </p:nvPr>
        </p:nvSpPr>
        <p:spPr>
          <a:xfrm>
            <a:off x="311760" y="744480"/>
            <a:ext cx="8520120" cy="2052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65"/>
          <p:cNvSpPr txBox="1">
            <a:spLocks noGrp="1"/>
          </p:cNvSpPr>
          <p:nvPr>
            <p:ph type="body" idx="1"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65"/>
          <p:cNvSpPr txBox="1">
            <a:spLocks noGrp="1"/>
          </p:cNvSpPr>
          <p:nvPr>
            <p:ph type="body" idx="2"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5"/>
          <p:cNvSpPr txBox="1">
            <a:spLocks noGrp="1"/>
          </p:cNvSpPr>
          <p:nvPr>
            <p:ph type="sldNum" idx="12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66"/>
          <p:cNvSpPr txBox="1">
            <a:spLocks noGrp="1"/>
          </p:cNvSpPr>
          <p:nvPr>
            <p:ph type="title"/>
          </p:nvPr>
        </p:nvSpPr>
        <p:spPr>
          <a:xfrm>
            <a:off x="311760" y="744480"/>
            <a:ext cx="8520120" cy="2052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66"/>
          <p:cNvSpPr txBox="1">
            <a:spLocks noGrp="1"/>
          </p:cNvSpPr>
          <p:nvPr>
            <p:ph type="sldNum" idx="12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entered Text" type="objOnly">
  <p:cSld name="OBJECT_ONLY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7"/>
          <p:cNvSpPr txBox="1">
            <a:spLocks noGrp="1"/>
          </p:cNvSpPr>
          <p:nvPr>
            <p:ph type="subTitle" idx="1"/>
          </p:nvPr>
        </p:nvSpPr>
        <p:spPr>
          <a:xfrm>
            <a:off x="311760" y="744480"/>
            <a:ext cx="8520120" cy="95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67"/>
          <p:cNvSpPr txBox="1">
            <a:spLocks noGrp="1"/>
          </p:cNvSpPr>
          <p:nvPr>
            <p:ph type="sldNum" idx="12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2 Content and Content" type="twoObjAndObj">
  <p:cSld name="TWO_OBJECTS_AND_OBJECT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68"/>
          <p:cNvSpPr txBox="1">
            <a:spLocks noGrp="1"/>
          </p:cNvSpPr>
          <p:nvPr>
            <p:ph type="title"/>
          </p:nvPr>
        </p:nvSpPr>
        <p:spPr>
          <a:xfrm>
            <a:off x="311760" y="744480"/>
            <a:ext cx="8520120" cy="2052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68"/>
          <p:cNvSpPr txBox="1">
            <a:spLocks noGrp="1"/>
          </p:cNvSpPr>
          <p:nvPr>
            <p:ph type="body" idx="1"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68"/>
          <p:cNvSpPr txBox="1">
            <a:spLocks noGrp="1"/>
          </p:cNvSpPr>
          <p:nvPr>
            <p:ph type="body" idx="2"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8"/>
          <p:cNvSpPr txBox="1">
            <a:spLocks noGrp="1"/>
          </p:cNvSpPr>
          <p:nvPr>
            <p:ph type="body" idx="3"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8"/>
          <p:cNvSpPr txBox="1">
            <a:spLocks noGrp="1"/>
          </p:cNvSpPr>
          <p:nvPr>
            <p:ph type="sldNum" idx="12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Content and 2 Content" type="objAndTwoObj">
  <p:cSld name="OBJECT_AND_TWO_OBJECTS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9"/>
          <p:cNvSpPr txBox="1">
            <a:spLocks noGrp="1"/>
          </p:cNvSpPr>
          <p:nvPr>
            <p:ph type="title"/>
          </p:nvPr>
        </p:nvSpPr>
        <p:spPr>
          <a:xfrm>
            <a:off x="311760" y="744480"/>
            <a:ext cx="8520120" cy="2052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69"/>
          <p:cNvSpPr txBox="1">
            <a:spLocks noGrp="1"/>
          </p:cNvSpPr>
          <p:nvPr>
            <p:ph type="body" idx="1"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69"/>
          <p:cNvSpPr txBox="1">
            <a:spLocks noGrp="1"/>
          </p:cNvSpPr>
          <p:nvPr>
            <p:ph type="body" idx="2"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69"/>
          <p:cNvSpPr txBox="1">
            <a:spLocks noGrp="1"/>
          </p:cNvSpPr>
          <p:nvPr>
            <p:ph type="body" idx="3"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69"/>
          <p:cNvSpPr txBox="1">
            <a:spLocks noGrp="1"/>
          </p:cNvSpPr>
          <p:nvPr>
            <p:ph type="sldNum" idx="12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2 Content over Content" type="twoObjOverTx">
  <p:cSld name="TWO_OBJECTS_OVER_TEXT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70"/>
          <p:cNvSpPr txBox="1">
            <a:spLocks noGrp="1"/>
          </p:cNvSpPr>
          <p:nvPr>
            <p:ph type="title"/>
          </p:nvPr>
        </p:nvSpPr>
        <p:spPr>
          <a:xfrm>
            <a:off x="311760" y="744480"/>
            <a:ext cx="8520120" cy="2052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0"/>
          <p:cNvSpPr txBox="1">
            <a:spLocks noGrp="1"/>
          </p:cNvSpPr>
          <p:nvPr>
            <p:ph type="body" idx="1"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70"/>
          <p:cNvSpPr txBox="1">
            <a:spLocks noGrp="1"/>
          </p:cNvSpPr>
          <p:nvPr>
            <p:ph type="body" idx="2"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70"/>
          <p:cNvSpPr txBox="1">
            <a:spLocks noGrp="1"/>
          </p:cNvSpPr>
          <p:nvPr>
            <p:ph type="body" idx="3"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70"/>
          <p:cNvSpPr txBox="1">
            <a:spLocks noGrp="1"/>
          </p:cNvSpPr>
          <p:nvPr>
            <p:ph type="sldNum" idx="12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Content over Content" type="objOverTx">
  <p:cSld name="OBJECT_OVER_TEXT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71"/>
          <p:cNvSpPr txBox="1">
            <a:spLocks noGrp="1"/>
          </p:cNvSpPr>
          <p:nvPr>
            <p:ph type="title"/>
          </p:nvPr>
        </p:nvSpPr>
        <p:spPr>
          <a:xfrm>
            <a:off x="311760" y="744480"/>
            <a:ext cx="8520120" cy="2052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71"/>
          <p:cNvSpPr txBox="1">
            <a:spLocks noGrp="1"/>
          </p:cNvSpPr>
          <p:nvPr>
            <p:ph type="body" idx="1"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71"/>
          <p:cNvSpPr txBox="1">
            <a:spLocks noGrp="1"/>
          </p:cNvSpPr>
          <p:nvPr>
            <p:ph type="body" idx="2"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71"/>
          <p:cNvSpPr txBox="1">
            <a:spLocks noGrp="1"/>
          </p:cNvSpPr>
          <p:nvPr>
            <p:ph type="sldNum" idx="12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4 Content" type="fourObj">
  <p:cSld name="FOUR_OBJECTS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72"/>
          <p:cNvSpPr txBox="1">
            <a:spLocks noGrp="1"/>
          </p:cNvSpPr>
          <p:nvPr>
            <p:ph type="title"/>
          </p:nvPr>
        </p:nvSpPr>
        <p:spPr>
          <a:xfrm>
            <a:off x="311760" y="744480"/>
            <a:ext cx="8520120" cy="2052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72"/>
          <p:cNvSpPr txBox="1">
            <a:spLocks noGrp="1"/>
          </p:cNvSpPr>
          <p:nvPr>
            <p:ph type="body" idx="1"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72"/>
          <p:cNvSpPr txBox="1">
            <a:spLocks noGrp="1"/>
          </p:cNvSpPr>
          <p:nvPr>
            <p:ph type="body" idx="2"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72"/>
          <p:cNvSpPr txBox="1">
            <a:spLocks noGrp="1"/>
          </p:cNvSpPr>
          <p:nvPr>
            <p:ph type="body" idx="3"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72"/>
          <p:cNvSpPr txBox="1">
            <a:spLocks noGrp="1"/>
          </p:cNvSpPr>
          <p:nvPr>
            <p:ph type="body" idx="4"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72"/>
          <p:cNvSpPr txBox="1">
            <a:spLocks noGrp="1"/>
          </p:cNvSpPr>
          <p:nvPr>
            <p:ph type="sldNum" idx="12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6 Content">
  <p:cSld name="Title, 6 Content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73"/>
          <p:cNvSpPr txBox="1">
            <a:spLocks noGrp="1"/>
          </p:cNvSpPr>
          <p:nvPr>
            <p:ph type="title"/>
          </p:nvPr>
        </p:nvSpPr>
        <p:spPr>
          <a:xfrm>
            <a:off x="311760" y="744480"/>
            <a:ext cx="8520120" cy="2052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73"/>
          <p:cNvSpPr txBox="1">
            <a:spLocks noGrp="1"/>
          </p:cNvSpPr>
          <p:nvPr>
            <p:ph type="body" idx="1"/>
          </p:nvPr>
        </p:nvSpPr>
        <p:spPr>
          <a:xfrm>
            <a:off x="457200" y="1203480"/>
            <a:ext cx="2649600" cy="1422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73"/>
          <p:cNvSpPr txBox="1">
            <a:spLocks noGrp="1"/>
          </p:cNvSpPr>
          <p:nvPr>
            <p:ph type="body" idx="2"/>
          </p:nvPr>
        </p:nvSpPr>
        <p:spPr>
          <a:xfrm>
            <a:off x="3239640" y="1203480"/>
            <a:ext cx="2649600" cy="1422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73"/>
          <p:cNvSpPr txBox="1">
            <a:spLocks noGrp="1"/>
          </p:cNvSpPr>
          <p:nvPr>
            <p:ph type="body" idx="3"/>
          </p:nvPr>
        </p:nvSpPr>
        <p:spPr>
          <a:xfrm>
            <a:off x="6022080" y="1203480"/>
            <a:ext cx="2649600" cy="1422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73"/>
          <p:cNvSpPr txBox="1">
            <a:spLocks noGrp="1"/>
          </p:cNvSpPr>
          <p:nvPr>
            <p:ph type="body" idx="4"/>
          </p:nvPr>
        </p:nvSpPr>
        <p:spPr>
          <a:xfrm>
            <a:off x="457200" y="2761920"/>
            <a:ext cx="2649600" cy="1422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73"/>
          <p:cNvSpPr txBox="1">
            <a:spLocks noGrp="1"/>
          </p:cNvSpPr>
          <p:nvPr>
            <p:ph type="body" idx="5"/>
          </p:nvPr>
        </p:nvSpPr>
        <p:spPr>
          <a:xfrm>
            <a:off x="3239640" y="2761920"/>
            <a:ext cx="2649600" cy="1422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73"/>
          <p:cNvSpPr txBox="1">
            <a:spLocks noGrp="1"/>
          </p:cNvSpPr>
          <p:nvPr>
            <p:ph type="body" idx="6"/>
          </p:nvPr>
        </p:nvSpPr>
        <p:spPr>
          <a:xfrm>
            <a:off x="6022080" y="2761920"/>
            <a:ext cx="2649600" cy="1422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73"/>
          <p:cNvSpPr txBox="1">
            <a:spLocks noGrp="1"/>
          </p:cNvSpPr>
          <p:nvPr>
            <p:ph type="sldNum" idx="12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45"/>
          <p:cNvSpPr txBox="1">
            <a:spLocks noGrp="1"/>
          </p:cNvSpPr>
          <p:nvPr>
            <p:ph type="title"/>
          </p:nvPr>
        </p:nvSpPr>
        <p:spPr>
          <a:xfrm>
            <a:off x="311760" y="744480"/>
            <a:ext cx="8520120" cy="2052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45"/>
          <p:cNvSpPr txBox="1">
            <a:spLocks noGrp="1"/>
          </p:cNvSpPr>
          <p:nvPr>
            <p:ph type="sldNum" idx="12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" name="Google Shape;12;p45"/>
          <p:cNvSpPr txBox="1">
            <a:spLocks noGrp="1"/>
          </p:cNvSpPr>
          <p:nvPr>
            <p:ph type="body" idx="1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"/>
          <p:cNvSpPr txBox="1">
            <a:spLocks noGrp="1"/>
          </p:cNvSpPr>
          <p:nvPr>
            <p:ph type="title"/>
          </p:nvPr>
        </p:nvSpPr>
        <p:spPr>
          <a:xfrm>
            <a:off x="311760" y="217080"/>
            <a:ext cx="8520120" cy="2052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b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61DD"/>
              </a:buClr>
              <a:buSzPts val="4600"/>
              <a:buFont typeface="Mulish ExtraBold"/>
              <a:buNone/>
            </a:pPr>
            <a:r>
              <a:rPr lang="ru" sz="4600" b="0" strike="noStrike">
                <a:solidFill>
                  <a:srgbClr val="7F61DD"/>
                </a:solidFill>
                <a:latin typeface="Mulish ExtraBold"/>
                <a:ea typeface="Mulish ExtraBold"/>
                <a:cs typeface="Mulish ExtraBold"/>
                <a:sym typeface="Mulish ExtraBold"/>
              </a:rPr>
              <a:t>ДЕНЬ ОТКРЫТЫХ ДВЕРЕЙ</a:t>
            </a:r>
            <a:endParaRPr sz="4600"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2" name="Google Shape;142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75" y="275"/>
            <a:ext cx="9143640" cy="5142960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1"/>
          <p:cNvSpPr txBox="1">
            <a:spLocks noGrp="1"/>
          </p:cNvSpPr>
          <p:nvPr>
            <p:ph type="title"/>
          </p:nvPr>
        </p:nvSpPr>
        <p:spPr>
          <a:xfrm>
            <a:off x="311760" y="499860"/>
            <a:ext cx="4813200" cy="261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t" anchorCtr="0">
            <a:noAutofit/>
          </a:bodyPr>
          <a:lstStyle/>
          <a:p>
            <a:pPr lvl="0" algn="ctr">
              <a:buClr>
                <a:srgbClr val="FFFFFF"/>
              </a:buClr>
              <a:buSzPts val="5200"/>
            </a:pPr>
            <a:r>
              <a:rPr lang="ru-RU" sz="4000" dirty="0">
                <a:solidFill>
                  <a:srgbClr val="FFFFFF"/>
                </a:solidFill>
                <a:latin typeface="Mulish Black"/>
                <a:ea typeface="Mulish Black"/>
                <a:cs typeface="Mulish Black"/>
                <a:sym typeface="Mulish Black"/>
              </a:rPr>
              <a:t>Тема 12. </a:t>
            </a:r>
            <a:r>
              <a:rPr lang="ru-RU" sz="4000" dirty="0">
                <a:solidFill>
                  <a:srgbClr val="FFFFFF"/>
                </a:solidFill>
                <a:latin typeface="Mulish Black"/>
              </a:rPr>
              <a:t>Потоки (</a:t>
            </a:r>
            <a:r>
              <a:rPr lang="ru-RU" sz="4000" dirty="0" err="1">
                <a:solidFill>
                  <a:srgbClr val="FFFFFF"/>
                </a:solidFill>
                <a:latin typeface="Mulish Black"/>
              </a:rPr>
              <a:t>Streams</a:t>
            </a:r>
            <a:r>
              <a:rPr lang="ru-RU" sz="4000" dirty="0">
                <a:solidFill>
                  <a:srgbClr val="FFFFFF"/>
                </a:solidFill>
                <a:latin typeface="Mulish Black"/>
              </a:rPr>
              <a:t>) и работа с файлами</a:t>
            </a:r>
            <a:endParaRPr sz="4000" dirty="0">
              <a:solidFill>
                <a:srgbClr val="FFFFFF"/>
              </a:solidFill>
              <a:latin typeface="Mulish Black"/>
            </a:endParaRPr>
          </a:p>
        </p:txBody>
      </p:sp>
      <p:pic>
        <p:nvPicPr>
          <p:cNvPr id="144" name="Google Shape;144;p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46040" y="4295880"/>
            <a:ext cx="3405960" cy="347760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Рисунок 5" descr="Picture background">
            <a:extLst>
              <a:ext uri="{FF2B5EF4-FFF2-40B4-BE49-F238E27FC236}">
                <a16:creationId xmlns:a16="http://schemas.microsoft.com/office/drawing/2014/main" id="{3605D530-78B4-D96B-5E5D-8AD558CBADE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52428" y="1972128"/>
            <a:ext cx="2619000" cy="2619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61DD"/>
        </a:solidFill>
        <a:effectLst/>
      </p:bgPr>
    </p:bg>
    <p:spTree>
      <p:nvGrpSpPr>
        <p:cNvPr id="1" name="Shape 198">
          <a:extLst>
            <a:ext uri="{FF2B5EF4-FFF2-40B4-BE49-F238E27FC236}">
              <a16:creationId xmlns:a16="http://schemas.microsoft.com/office/drawing/2014/main" id="{1661189C-46F6-4CD9-DDDE-0B2E5FF572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49;g30f32ff6c42_0_5">
            <a:extLst>
              <a:ext uri="{FF2B5EF4-FFF2-40B4-BE49-F238E27FC236}">
                <a16:creationId xmlns:a16="http://schemas.microsoft.com/office/drawing/2014/main" id="{DB4BADD6-2AE5-D570-8470-5225E447047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98525" y="283676"/>
            <a:ext cx="8346900" cy="75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20"/>
              <a:buFont typeface="Mulish Black"/>
              <a:buNone/>
            </a:pPr>
            <a:r>
              <a:rPr lang="ru" sz="3420" dirty="0">
                <a:solidFill>
                  <a:schemeClr val="bg1">
                    <a:lumMod val="85000"/>
                  </a:schemeClr>
                </a:solidFill>
                <a:latin typeface="Mulish Black"/>
                <a:ea typeface="Mulish Black"/>
                <a:cs typeface="Mulish Black"/>
                <a:sym typeface="Mulish Black"/>
              </a:rPr>
              <a:t>Цель занятия:</a:t>
            </a:r>
            <a:endParaRPr sz="3420" dirty="0">
              <a:solidFill>
                <a:schemeClr val="bg1">
                  <a:lumMod val="85000"/>
                </a:schemeClr>
              </a:solidFill>
              <a:latin typeface="Mulish Black"/>
              <a:ea typeface="Mulish Black"/>
              <a:cs typeface="Mulish Black"/>
              <a:sym typeface="Mulish Black"/>
            </a:endParaRPr>
          </a:p>
        </p:txBody>
      </p:sp>
      <p:sp>
        <p:nvSpPr>
          <p:cNvPr id="3" name="Google Shape;153;g30f32ff6c42_0_5">
            <a:extLst>
              <a:ext uri="{FF2B5EF4-FFF2-40B4-BE49-F238E27FC236}">
                <a16:creationId xmlns:a16="http://schemas.microsoft.com/office/drawing/2014/main" id="{6067664F-4901-0A1E-CE0D-48ECCE427D2C}"/>
              </a:ext>
            </a:extLst>
          </p:cNvPr>
          <p:cNvSpPr/>
          <p:nvPr/>
        </p:nvSpPr>
        <p:spPr>
          <a:xfrm>
            <a:off x="320400" y="1207911"/>
            <a:ext cx="8150700" cy="37205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Освоить модуль </a:t>
            </a:r>
            <a:r>
              <a:rPr lang="ru-RU" sz="3000" dirty="0" err="1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fs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 через призму потоковой передачи данных. Научить сервер эффективно отдавать статику и стримить медиаконтент.</a:t>
            </a:r>
            <a:endParaRPr sz="3000" b="0" i="0" u="none" strike="noStrike" cap="none" dirty="0">
              <a:solidFill>
                <a:srgbClr val="333333"/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</p:txBody>
      </p:sp>
      <p:pic>
        <p:nvPicPr>
          <p:cNvPr id="5" name="Google Shape;152;g30f32ff6c42_0_5">
            <a:extLst>
              <a:ext uri="{FF2B5EF4-FFF2-40B4-BE49-F238E27FC236}">
                <a16:creationId xmlns:a16="http://schemas.microsoft.com/office/drawing/2014/main" id="{E8A47345-2906-5DA2-08C2-6D36778F9F0F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400000">
            <a:off x="8167744" y="4110257"/>
            <a:ext cx="1474076" cy="16235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2532469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61DD"/>
        </a:solidFill>
        <a:effectLst/>
      </p:bgPr>
    </p:bg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49;g30f32ff6c42_0_5">
            <a:extLst>
              <a:ext uri="{FF2B5EF4-FFF2-40B4-BE49-F238E27FC236}">
                <a16:creationId xmlns:a16="http://schemas.microsoft.com/office/drawing/2014/main" id="{2C321365-8BB3-751B-D626-A8C38FD08C1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98525" y="283676"/>
            <a:ext cx="8346900" cy="75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20"/>
              <a:buFont typeface="Mulish Black"/>
              <a:buNone/>
            </a:pPr>
            <a:r>
              <a:rPr lang="ru" sz="3420" dirty="0">
                <a:solidFill>
                  <a:schemeClr val="bg1">
                    <a:lumMod val="85000"/>
                  </a:schemeClr>
                </a:solidFill>
                <a:latin typeface="Mulish Black"/>
                <a:ea typeface="Mulish Black"/>
                <a:cs typeface="Mulish Black"/>
                <a:sym typeface="Mulish Black"/>
              </a:rPr>
              <a:t>Учебные вопросы:</a:t>
            </a:r>
            <a:endParaRPr sz="3420" dirty="0">
              <a:solidFill>
                <a:schemeClr val="bg1">
                  <a:lumMod val="85000"/>
                </a:schemeClr>
              </a:solidFill>
              <a:latin typeface="Mulish Black"/>
              <a:ea typeface="Mulish Black"/>
              <a:cs typeface="Mulish Black"/>
              <a:sym typeface="Mulish Black"/>
            </a:endParaRPr>
          </a:p>
        </p:txBody>
      </p:sp>
      <p:sp>
        <p:nvSpPr>
          <p:cNvPr id="3" name="Google Shape;153;g30f32ff6c42_0_5">
            <a:extLst>
              <a:ext uri="{FF2B5EF4-FFF2-40B4-BE49-F238E27FC236}">
                <a16:creationId xmlns:a16="http://schemas.microsoft.com/office/drawing/2014/main" id="{CC3C143E-0B54-BCC4-7C01-340D803FF658}"/>
              </a:ext>
            </a:extLst>
          </p:cNvPr>
          <p:cNvSpPr/>
          <p:nvPr/>
        </p:nvSpPr>
        <p:spPr>
          <a:xfrm>
            <a:off x="320400" y="1207911"/>
            <a:ext cx="8150700" cy="37205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1. Отдача статических файлов (Картинки, CSS, JS)</a:t>
            </a: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2. Стриминг аудио (mp3)</a:t>
            </a:r>
          </a:p>
        </p:txBody>
      </p:sp>
      <p:pic>
        <p:nvPicPr>
          <p:cNvPr id="5" name="Google Shape;152;g30f32ff6c42_0_5">
            <a:extLst>
              <a:ext uri="{FF2B5EF4-FFF2-40B4-BE49-F238E27FC236}">
                <a16:creationId xmlns:a16="http://schemas.microsoft.com/office/drawing/2014/main" id="{5F77FDE5-30BB-2C80-0149-A5DF95C8B0E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400000">
            <a:off x="8167744" y="4110257"/>
            <a:ext cx="1474076" cy="1623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61DD"/>
        </a:solidFill>
        <a:effectLst/>
      </p:bgPr>
    </p:bg>
    <p:spTree>
      <p:nvGrpSpPr>
        <p:cNvPr id="1" name="Shape 198">
          <a:extLst>
            <a:ext uri="{FF2B5EF4-FFF2-40B4-BE49-F238E27FC236}">
              <a16:creationId xmlns:a16="http://schemas.microsoft.com/office/drawing/2014/main" id="{D6A9EA9D-1834-3F87-97B3-C8D3490C6C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49;g30f32ff6c42_0_5">
            <a:extLst>
              <a:ext uri="{FF2B5EF4-FFF2-40B4-BE49-F238E27FC236}">
                <a16:creationId xmlns:a16="http://schemas.microsoft.com/office/drawing/2014/main" id="{05BCE706-32DC-49BF-5BEF-B7F6F1A62FF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98525" y="283676"/>
            <a:ext cx="8346900" cy="75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20"/>
              <a:buFont typeface="Mulish Black"/>
              <a:buNone/>
            </a:pPr>
            <a:r>
              <a:rPr lang="ru-RU" sz="3420" dirty="0">
                <a:solidFill>
                  <a:schemeClr val="bg1">
                    <a:lumMod val="85000"/>
                  </a:schemeClr>
                </a:solidFill>
                <a:latin typeface="Mulish Black"/>
                <a:ea typeface="Mulish Black"/>
                <a:cs typeface="Mulish Black"/>
                <a:sym typeface="Mulish Black"/>
              </a:rPr>
              <a:t>1. Отдача статических файлов (Картинки, CSS, JS)</a:t>
            </a:r>
          </a:p>
        </p:txBody>
      </p:sp>
      <p:sp>
        <p:nvSpPr>
          <p:cNvPr id="3" name="Google Shape;153;g30f32ff6c42_0_5">
            <a:extLst>
              <a:ext uri="{FF2B5EF4-FFF2-40B4-BE49-F238E27FC236}">
                <a16:creationId xmlns:a16="http://schemas.microsoft.com/office/drawing/2014/main" id="{935EFA4D-36CB-FFB1-B428-A3FE2F4BEECA}"/>
              </a:ext>
            </a:extLst>
          </p:cNvPr>
          <p:cNvSpPr/>
          <p:nvPr/>
        </p:nvSpPr>
        <p:spPr>
          <a:xfrm>
            <a:off x="320400" y="1591733"/>
            <a:ext cx="8150700" cy="33367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85000" lnSpcReduction="10000"/>
          </a:bodyPr>
          <a:lstStyle/>
          <a:p>
            <a:pPr lvl="0" indent="180975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Для веб-разработчика «отдача статики» - это база. Если HTML-файл запрашивает картинку или файл стилей, браузер делает отдельные HTTP-запросы на каждый из этих ресурсов. </a:t>
            </a:r>
            <a:endParaRPr lang="en-US" sz="3000" dirty="0">
              <a:solidFill>
                <a:schemeClr val="bg1">
                  <a:lumMod val="95000"/>
                </a:schemeClr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lvl="0" indent="180975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Наша задача - научить сервер распознавать расширение файла и отдавать его с правильным «паспортом» (MIME-типом).</a:t>
            </a:r>
          </a:p>
        </p:txBody>
      </p:sp>
      <p:pic>
        <p:nvPicPr>
          <p:cNvPr id="5" name="Google Shape;152;g30f32ff6c42_0_5">
            <a:extLst>
              <a:ext uri="{FF2B5EF4-FFF2-40B4-BE49-F238E27FC236}">
                <a16:creationId xmlns:a16="http://schemas.microsoft.com/office/drawing/2014/main" id="{36E7D912-FA7F-2A52-855B-84A9B7456D9F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400000">
            <a:off x="8167744" y="4110257"/>
            <a:ext cx="1474076" cy="16235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9130625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61DD"/>
        </a:solidFill>
        <a:effectLst/>
      </p:bgPr>
    </p:bg>
    <p:spTree>
      <p:nvGrpSpPr>
        <p:cNvPr id="1" name="Shape 198">
          <a:extLst>
            <a:ext uri="{FF2B5EF4-FFF2-40B4-BE49-F238E27FC236}">
              <a16:creationId xmlns:a16="http://schemas.microsoft.com/office/drawing/2014/main" id="{10BF6BB5-4D44-092C-CB17-AB7FE8B66F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53;g30f32ff6c42_0_5">
            <a:extLst>
              <a:ext uri="{FF2B5EF4-FFF2-40B4-BE49-F238E27FC236}">
                <a16:creationId xmlns:a16="http://schemas.microsoft.com/office/drawing/2014/main" id="{6B6B94BE-9935-740D-1677-3A6C3470B8DC}"/>
              </a:ext>
            </a:extLst>
          </p:cNvPr>
          <p:cNvSpPr/>
          <p:nvPr/>
        </p:nvSpPr>
        <p:spPr>
          <a:xfrm>
            <a:off x="320399" y="502276"/>
            <a:ext cx="8359961" cy="44261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 indent="180975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Когда браузер видит в HTML строку </a:t>
            </a:r>
            <a:r>
              <a:rPr lang="ru-RU" sz="3000" dirty="0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&lt;</a:t>
            </a:r>
            <a:r>
              <a:rPr lang="ru-RU" sz="3000" dirty="0" err="1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link</a:t>
            </a:r>
            <a:r>
              <a:rPr lang="ru-RU" sz="3000" dirty="0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 </a:t>
            </a:r>
            <a:r>
              <a:rPr lang="ru-RU" sz="3000" dirty="0" err="1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rel</a:t>
            </a:r>
            <a:r>
              <a:rPr lang="ru-RU" sz="3000" dirty="0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="</a:t>
            </a:r>
            <a:r>
              <a:rPr lang="ru-RU" sz="3000" dirty="0" err="1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stylesheet</a:t>
            </a:r>
            <a:r>
              <a:rPr lang="ru-RU" sz="3000" dirty="0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" </a:t>
            </a:r>
            <a:r>
              <a:rPr lang="ru-RU" sz="3000" dirty="0" err="1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href</a:t>
            </a:r>
            <a:r>
              <a:rPr lang="ru-RU" sz="3000" dirty="0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="/style.css"&gt;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, он отправляет новый GET-запрос по пути /style.css. </a:t>
            </a:r>
            <a:endParaRPr lang="en-US" sz="3000" dirty="0">
              <a:solidFill>
                <a:schemeClr val="bg1">
                  <a:lumMod val="95000"/>
                </a:schemeClr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lvl="0" indent="180975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Если наш сервер просто отдаст текст файла, но не укажет, что это CSS, браузер может проигнорировать стили из соображений безопасности</a:t>
            </a:r>
          </a:p>
        </p:txBody>
      </p:sp>
      <p:pic>
        <p:nvPicPr>
          <p:cNvPr id="5" name="Google Shape;152;g30f32ff6c42_0_5">
            <a:extLst>
              <a:ext uri="{FF2B5EF4-FFF2-40B4-BE49-F238E27FC236}">
                <a16:creationId xmlns:a16="http://schemas.microsoft.com/office/drawing/2014/main" id="{2E2E7FB7-A9C9-18AF-D5E5-AD0C9A6AAF34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400000">
            <a:off x="8167744" y="4110257"/>
            <a:ext cx="1474076" cy="16235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1935798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61DD"/>
        </a:solidFill>
        <a:effectLst/>
      </p:bgPr>
    </p:bg>
    <p:spTree>
      <p:nvGrpSpPr>
        <p:cNvPr id="1" name="Shape 198">
          <a:extLst>
            <a:ext uri="{FF2B5EF4-FFF2-40B4-BE49-F238E27FC236}">
              <a16:creationId xmlns:a16="http://schemas.microsoft.com/office/drawing/2014/main" id="{666ED7FF-6A75-0C40-7DFA-06000ABFBD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53;g30f32ff6c42_0_5">
            <a:extLst>
              <a:ext uri="{FF2B5EF4-FFF2-40B4-BE49-F238E27FC236}">
                <a16:creationId xmlns:a16="http://schemas.microsoft.com/office/drawing/2014/main" id="{EE7F9C6C-A6FA-2B6C-34B2-FFFA6B02BC67}"/>
              </a:ext>
            </a:extLst>
          </p:cNvPr>
          <p:cNvSpPr/>
          <p:nvPr/>
        </p:nvSpPr>
        <p:spPr>
          <a:xfrm>
            <a:off x="320399" y="502276"/>
            <a:ext cx="8359961" cy="44261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 algn="ctr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b="1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Таблица MIME-типов</a:t>
            </a: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Чтобы браузер правильно обработал файл, мы должны отправить заголовок Content-Type. Вот основные типы для веб-стека:</a:t>
            </a:r>
            <a:endParaRPr sz="3000" b="0" i="0" u="none" strike="noStrike" cap="none" dirty="0">
              <a:solidFill>
                <a:srgbClr val="333333"/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</p:txBody>
      </p:sp>
      <p:pic>
        <p:nvPicPr>
          <p:cNvPr id="5" name="Google Shape;152;g30f32ff6c42_0_5">
            <a:extLst>
              <a:ext uri="{FF2B5EF4-FFF2-40B4-BE49-F238E27FC236}">
                <a16:creationId xmlns:a16="http://schemas.microsoft.com/office/drawing/2014/main" id="{5CFE9647-0761-8B04-D5E1-D4884DAC485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400000">
            <a:off x="8167744" y="4110257"/>
            <a:ext cx="1474076" cy="162359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1A4FAECC-B6A2-6FF7-BDFF-1237EDBE2F8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9557" y="2715375"/>
            <a:ext cx="7801644" cy="2022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68263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61DD"/>
        </a:solidFill>
        <a:effectLst/>
      </p:bgPr>
    </p:bg>
    <p:spTree>
      <p:nvGrpSpPr>
        <p:cNvPr id="1" name="Shape 198">
          <a:extLst>
            <a:ext uri="{FF2B5EF4-FFF2-40B4-BE49-F238E27FC236}">
              <a16:creationId xmlns:a16="http://schemas.microsoft.com/office/drawing/2014/main" id="{FA62C1B0-319A-1728-42B5-6C607E5C0C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53;g30f32ff6c42_0_5">
            <a:extLst>
              <a:ext uri="{FF2B5EF4-FFF2-40B4-BE49-F238E27FC236}">
                <a16:creationId xmlns:a16="http://schemas.microsoft.com/office/drawing/2014/main" id="{E65BA3EB-1FE5-1515-3645-2231D2CF16B6}"/>
              </a:ext>
            </a:extLst>
          </p:cNvPr>
          <p:cNvSpPr/>
          <p:nvPr/>
        </p:nvSpPr>
        <p:spPr>
          <a:xfrm>
            <a:off x="320399" y="502276"/>
            <a:ext cx="8359961" cy="44261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85000" lnSpcReduction="20000"/>
          </a:bodyPr>
          <a:lstStyle/>
          <a:p>
            <a:pPr lvl="0" indent="180975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MIME-тип (</a:t>
            </a:r>
            <a:r>
              <a:rPr lang="ru-RU" sz="3000" dirty="0" err="1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Multipurpose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 Internet Mail </a:t>
            </a:r>
            <a:r>
              <a:rPr lang="ru-RU" sz="3000" dirty="0" err="1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Extensions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) - это специальная метка (строка), которую сервер отправляет браузеру вместе с файлом, чтобы объяснить, что это за данные и как их отображать.</a:t>
            </a:r>
          </a:p>
          <a:p>
            <a:pPr lvl="0" indent="180975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Представьте, что сервер отправляет браузеру посылку. Сами данные внутри - это просто набор байтов (единиц и нулей). Без «наклейки» на посылке браузер не поймет: нужно ли этот файл запустить как видео, отобразить как картинку или просто скачать на диск.</a:t>
            </a:r>
          </a:p>
        </p:txBody>
      </p:sp>
      <p:pic>
        <p:nvPicPr>
          <p:cNvPr id="5" name="Google Shape;152;g30f32ff6c42_0_5">
            <a:extLst>
              <a:ext uri="{FF2B5EF4-FFF2-40B4-BE49-F238E27FC236}">
                <a16:creationId xmlns:a16="http://schemas.microsoft.com/office/drawing/2014/main" id="{191A0C12-C776-935F-A18B-9CE94658DC9F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400000">
            <a:off x="8167744" y="4110257"/>
            <a:ext cx="1474076" cy="16235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0193072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61DD"/>
        </a:solidFill>
        <a:effectLst/>
      </p:bgPr>
    </p:bg>
    <p:spTree>
      <p:nvGrpSpPr>
        <p:cNvPr id="1" name="Shape 198">
          <a:extLst>
            <a:ext uri="{FF2B5EF4-FFF2-40B4-BE49-F238E27FC236}">
              <a16:creationId xmlns:a16="http://schemas.microsoft.com/office/drawing/2014/main" id="{8FF182B7-FDA9-04BF-9A2A-9AE87F46A1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53;g30f32ff6c42_0_5">
            <a:extLst>
              <a:ext uri="{FF2B5EF4-FFF2-40B4-BE49-F238E27FC236}">
                <a16:creationId xmlns:a16="http://schemas.microsoft.com/office/drawing/2014/main" id="{CFBF406C-1D14-FCD3-3614-74A07E9B7B99}"/>
              </a:ext>
            </a:extLst>
          </p:cNvPr>
          <p:cNvSpPr/>
          <p:nvPr/>
        </p:nvSpPr>
        <p:spPr>
          <a:xfrm>
            <a:off x="320399" y="502276"/>
            <a:ext cx="8359961" cy="44261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 indent="180975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Реализация универсального обработчика</a:t>
            </a: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Вместо того чтобы писать </a:t>
            </a:r>
            <a:r>
              <a:rPr lang="ru-RU" sz="3000" dirty="0" err="1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if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 для каждого файла, мы будем извлекать расширение динамически.</a:t>
            </a:r>
            <a:endParaRPr sz="3000" b="0" i="0" u="none" strike="noStrike" cap="none" dirty="0">
              <a:solidFill>
                <a:srgbClr val="333333"/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</p:txBody>
      </p:sp>
      <p:pic>
        <p:nvPicPr>
          <p:cNvPr id="5" name="Google Shape;152;g30f32ff6c42_0_5">
            <a:extLst>
              <a:ext uri="{FF2B5EF4-FFF2-40B4-BE49-F238E27FC236}">
                <a16:creationId xmlns:a16="http://schemas.microsoft.com/office/drawing/2014/main" id="{185EB8B4-4642-0AE4-F0F4-A829F5661DD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400000">
            <a:off x="8167744" y="4110257"/>
            <a:ext cx="1474076" cy="16235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5788481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61DD"/>
        </a:solidFill>
        <a:effectLst/>
      </p:bgPr>
    </p:bg>
    <p:spTree>
      <p:nvGrpSpPr>
        <p:cNvPr id="1" name="Shape 198">
          <a:extLst>
            <a:ext uri="{FF2B5EF4-FFF2-40B4-BE49-F238E27FC236}">
              <a16:creationId xmlns:a16="http://schemas.microsoft.com/office/drawing/2014/main" id="{8F3BB4CF-2182-CA17-411C-4C074AA5D0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53;g30f32ff6c42_0_5">
            <a:extLst>
              <a:ext uri="{FF2B5EF4-FFF2-40B4-BE49-F238E27FC236}">
                <a16:creationId xmlns:a16="http://schemas.microsoft.com/office/drawing/2014/main" id="{C185896F-ED02-266D-E275-E587058EEB7C}"/>
              </a:ext>
            </a:extLst>
          </p:cNvPr>
          <p:cNvSpPr/>
          <p:nvPr/>
        </p:nvSpPr>
        <p:spPr>
          <a:xfrm>
            <a:off x="320399" y="502276"/>
            <a:ext cx="8359961" cy="44261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 indent="180975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Реализация</a:t>
            </a:r>
            <a:r>
              <a:rPr lang="en-US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:</a:t>
            </a:r>
          </a:p>
          <a:p>
            <a:pPr lvl="0" indent="180975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Создадим в проекте папку </a:t>
            </a:r>
            <a:r>
              <a:rPr lang="en-US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public 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со статичными файлами:</a:t>
            </a:r>
            <a:endParaRPr sz="3000" b="0" i="0" u="none" strike="noStrike" cap="none" dirty="0">
              <a:solidFill>
                <a:srgbClr val="333333"/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</p:txBody>
      </p:sp>
      <p:pic>
        <p:nvPicPr>
          <p:cNvPr id="5" name="Google Shape;152;g30f32ff6c42_0_5">
            <a:extLst>
              <a:ext uri="{FF2B5EF4-FFF2-40B4-BE49-F238E27FC236}">
                <a16:creationId xmlns:a16="http://schemas.microsoft.com/office/drawing/2014/main" id="{91139121-FC20-AB0E-C946-32BB30C820E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400000">
            <a:off x="8167744" y="4110257"/>
            <a:ext cx="1474076" cy="162359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74EBB8F6-1529-EA64-7A2B-9F0CE39AB48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64141" y="2332672"/>
            <a:ext cx="5815718" cy="22434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22512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61DD"/>
        </a:solidFill>
        <a:effectLst/>
      </p:bgPr>
    </p:bg>
    <p:spTree>
      <p:nvGrpSpPr>
        <p:cNvPr id="1" name="Shape 198">
          <a:extLst>
            <a:ext uri="{FF2B5EF4-FFF2-40B4-BE49-F238E27FC236}">
              <a16:creationId xmlns:a16="http://schemas.microsoft.com/office/drawing/2014/main" id="{7F792B72-0AF3-AF65-8A3B-4D56DB157E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53;g30f32ff6c42_0_5">
            <a:extLst>
              <a:ext uri="{FF2B5EF4-FFF2-40B4-BE49-F238E27FC236}">
                <a16:creationId xmlns:a16="http://schemas.microsoft.com/office/drawing/2014/main" id="{A83C14FA-CD76-8026-4D2A-0AD2657CDF7E}"/>
              </a:ext>
            </a:extLst>
          </p:cNvPr>
          <p:cNvSpPr/>
          <p:nvPr/>
        </p:nvSpPr>
        <p:spPr>
          <a:xfrm>
            <a:off x="320399" y="502276"/>
            <a:ext cx="8359961" cy="44261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 indent="180975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en-US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Index.html</a:t>
            </a:r>
            <a:endParaRPr lang="ru-RU" sz="3000" dirty="0">
              <a:solidFill>
                <a:schemeClr val="bg1">
                  <a:lumMod val="95000"/>
                </a:schemeClr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</p:txBody>
      </p:sp>
      <p:pic>
        <p:nvPicPr>
          <p:cNvPr id="5" name="Google Shape;152;g30f32ff6c42_0_5">
            <a:extLst>
              <a:ext uri="{FF2B5EF4-FFF2-40B4-BE49-F238E27FC236}">
                <a16:creationId xmlns:a16="http://schemas.microsoft.com/office/drawing/2014/main" id="{3EA34E62-F7EF-00F7-3DB7-158C5E3D5FE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400000">
            <a:off x="8167744" y="4110257"/>
            <a:ext cx="1474076" cy="162359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90DD26FF-A0FA-D25F-F7CC-19E1F279522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6684" y="1186560"/>
            <a:ext cx="7630632" cy="34546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74802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61DD"/>
        </a:solidFill>
        <a:effectLst/>
      </p:bgPr>
    </p:bg>
    <p:spTree>
      <p:nvGrpSpPr>
        <p:cNvPr id="1" name="Shape 198">
          <a:extLst>
            <a:ext uri="{FF2B5EF4-FFF2-40B4-BE49-F238E27FC236}">
              <a16:creationId xmlns:a16="http://schemas.microsoft.com/office/drawing/2014/main" id="{BA16AAE6-9062-7F5F-AEEE-2C7048EB73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53;g30f32ff6c42_0_5">
            <a:extLst>
              <a:ext uri="{FF2B5EF4-FFF2-40B4-BE49-F238E27FC236}">
                <a16:creationId xmlns:a16="http://schemas.microsoft.com/office/drawing/2014/main" id="{83E0341F-2CB1-2259-6F74-D8A417F3DE43}"/>
              </a:ext>
            </a:extLst>
          </p:cNvPr>
          <p:cNvSpPr/>
          <p:nvPr/>
        </p:nvSpPr>
        <p:spPr>
          <a:xfrm>
            <a:off x="320399" y="304800"/>
            <a:ext cx="8359961" cy="4623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 indent="180975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en-US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style.css</a:t>
            </a:r>
            <a:endParaRPr lang="ru-RU" sz="3000" dirty="0">
              <a:solidFill>
                <a:schemeClr val="bg1">
                  <a:lumMod val="95000"/>
                </a:schemeClr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</p:txBody>
      </p:sp>
      <p:pic>
        <p:nvPicPr>
          <p:cNvPr id="5" name="Google Shape;152;g30f32ff6c42_0_5">
            <a:extLst>
              <a:ext uri="{FF2B5EF4-FFF2-40B4-BE49-F238E27FC236}">
                <a16:creationId xmlns:a16="http://schemas.microsoft.com/office/drawing/2014/main" id="{D7B0C79D-DC34-EBD6-231C-BA4BB1D6A2FE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400000">
            <a:off x="8167744" y="4110257"/>
            <a:ext cx="1474076" cy="162359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0ADB529D-39E5-8BFE-E2D0-35D6E6F25FB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95614" y="936588"/>
            <a:ext cx="5952772" cy="3902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85291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61DD"/>
        </a:solidFill>
        <a:effectLst/>
      </p:bgPr>
    </p:bg>
    <p:spTree>
      <p:nvGrpSpPr>
        <p:cNvPr id="1" name="Shape 198">
          <a:extLst>
            <a:ext uri="{FF2B5EF4-FFF2-40B4-BE49-F238E27FC236}">
              <a16:creationId xmlns:a16="http://schemas.microsoft.com/office/drawing/2014/main" id="{180C9C5D-5DC9-481B-0D4F-69E59C208E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53;g30f32ff6c42_0_5">
            <a:extLst>
              <a:ext uri="{FF2B5EF4-FFF2-40B4-BE49-F238E27FC236}">
                <a16:creationId xmlns:a16="http://schemas.microsoft.com/office/drawing/2014/main" id="{B8B374E3-E814-3BEA-9ABA-649D09ED9E1C}"/>
              </a:ext>
            </a:extLst>
          </p:cNvPr>
          <p:cNvSpPr/>
          <p:nvPr/>
        </p:nvSpPr>
        <p:spPr>
          <a:xfrm>
            <a:off x="320399" y="215026"/>
            <a:ext cx="8359961" cy="4713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 indent="180975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en-US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index.js</a:t>
            </a:r>
            <a:endParaRPr lang="ru-RU" sz="3000" dirty="0">
              <a:solidFill>
                <a:schemeClr val="bg1">
                  <a:lumMod val="95000"/>
                </a:schemeClr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</p:txBody>
      </p:sp>
      <p:pic>
        <p:nvPicPr>
          <p:cNvPr id="5" name="Google Shape;152;g30f32ff6c42_0_5">
            <a:extLst>
              <a:ext uri="{FF2B5EF4-FFF2-40B4-BE49-F238E27FC236}">
                <a16:creationId xmlns:a16="http://schemas.microsoft.com/office/drawing/2014/main" id="{A856146F-698A-39E9-D5B8-EC0C8B0E7EF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400000">
            <a:off x="8167744" y="4110257"/>
            <a:ext cx="1474076" cy="162359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4C1612EE-59C3-6AAE-0AA6-D471D844937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79549" y="739009"/>
            <a:ext cx="6388806" cy="43032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338334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61DD"/>
        </a:solidFill>
        <a:effectLst/>
      </p:bgPr>
    </p:bg>
    <p:spTree>
      <p:nvGrpSpPr>
        <p:cNvPr id="1" name="Shape 198">
          <a:extLst>
            <a:ext uri="{FF2B5EF4-FFF2-40B4-BE49-F238E27FC236}">
              <a16:creationId xmlns:a16="http://schemas.microsoft.com/office/drawing/2014/main" id="{079BA5D1-6889-51E3-B5EF-FF3171C842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53;g30f32ff6c42_0_5">
            <a:extLst>
              <a:ext uri="{FF2B5EF4-FFF2-40B4-BE49-F238E27FC236}">
                <a16:creationId xmlns:a16="http://schemas.microsoft.com/office/drawing/2014/main" id="{516C0D0C-10CC-65D4-1C29-A1D505DAFF90}"/>
              </a:ext>
            </a:extLst>
          </p:cNvPr>
          <p:cNvSpPr/>
          <p:nvPr/>
        </p:nvSpPr>
        <p:spPr>
          <a:xfrm>
            <a:off x="320399" y="270934"/>
            <a:ext cx="8359961" cy="46575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 indent="180975">
              <a:lnSpc>
                <a:spcPct val="115000"/>
              </a:lnSpc>
              <a:buClr>
                <a:srgbClr val="333333"/>
              </a:buClr>
              <a:buSzPts val="1800"/>
            </a:pPr>
            <a:endParaRPr lang="ru-RU" sz="3000" dirty="0">
              <a:solidFill>
                <a:schemeClr val="bg1">
                  <a:lumMod val="95000"/>
                </a:schemeClr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</p:txBody>
      </p:sp>
      <p:pic>
        <p:nvPicPr>
          <p:cNvPr id="5" name="Google Shape;152;g30f32ff6c42_0_5">
            <a:extLst>
              <a:ext uri="{FF2B5EF4-FFF2-40B4-BE49-F238E27FC236}">
                <a16:creationId xmlns:a16="http://schemas.microsoft.com/office/drawing/2014/main" id="{E90A9E58-C0A4-B5B8-FCC4-58078E0A294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400000">
            <a:off x="8167744" y="4110257"/>
            <a:ext cx="1474076" cy="162359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4F7C4C04-2520-A57D-0A45-FD37A378E33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4369" y="470302"/>
            <a:ext cx="7455262" cy="4402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080021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61DD"/>
        </a:solidFill>
        <a:effectLst/>
      </p:bgPr>
    </p:bg>
    <p:spTree>
      <p:nvGrpSpPr>
        <p:cNvPr id="1" name="Shape 198">
          <a:extLst>
            <a:ext uri="{FF2B5EF4-FFF2-40B4-BE49-F238E27FC236}">
              <a16:creationId xmlns:a16="http://schemas.microsoft.com/office/drawing/2014/main" id="{74FA0F06-F991-AF4F-B4A2-44B56BF60E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53;g30f32ff6c42_0_5">
            <a:extLst>
              <a:ext uri="{FF2B5EF4-FFF2-40B4-BE49-F238E27FC236}">
                <a16:creationId xmlns:a16="http://schemas.microsoft.com/office/drawing/2014/main" id="{FD4BA5B4-FBFE-6B6C-E72F-3D5D957FE871}"/>
              </a:ext>
            </a:extLst>
          </p:cNvPr>
          <p:cNvSpPr/>
          <p:nvPr/>
        </p:nvSpPr>
        <p:spPr>
          <a:xfrm>
            <a:off x="320399" y="180622"/>
            <a:ext cx="8359961" cy="47478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 indent="180975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Результат:</a:t>
            </a:r>
          </a:p>
        </p:txBody>
      </p:sp>
      <p:pic>
        <p:nvPicPr>
          <p:cNvPr id="5" name="Google Shape;152;g30f32ff6c42_0_5">
            <a:extLst>
              <a:ext uri="{FF2B5EF4-FFF2-40B4-BE49-F238E27FC236}">
                <a16:creationId xmlns:a16="http://schemas.microsoft.com/office/drawing/2014/main" id="{51C3405B-F2A4-78BF-3C1B-8A77A8123131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400000">
            <a:off x="8167744" y="4110257"/>
            <a:ext cx="1474076" cy="162359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80BB4F50-B444-1763-37CB-6D476299850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87500" y="800169"/>
            <a:ext cx="5168999" cy="41627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115058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61DD"/>
        </a:solidFill>
        <a:effectLst/>
      </p:bgPr>
    </p:bg>
    <p:spTree>
      <p:nvGrpSpPr>
        <p:cNvPr id="1" name="Shape 198">
          <a:extLst>
            <a:ext uri="{FF2B5EF4-FFF2-40B4-BE49-F238E27FC236}">
              <a16:creationId xmlns:a16="http://schemas.microsoft.com/office/drawing/2014/main" id="{DB541560-5207-01C5-4547-EAA54C26C7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53;g30f32ff6c42_0_5">
            <a:extLst>
              <a:ext uri="{FF2B5EF4-FFF2-40B4-BE49-F238E27FC236}">
                <a16:creationId xmlns:a16="http://schemas.microsoft.com/office/drawing/2014/main" id="{F0CCF545-A891-45A8-5FF8-4F96EF0EFBE4}"/>
              </a:ext>
            </a:extLst>
          </p:cNvPr>
          <p:cNvSpPr/>
          <p:nvPr/>
        </p:nvSpPr>
        <p:spPr>
          <a:xfrm>
            <a:off x="320399" y="502276"/>
            <a:ext cx="8359961" cy="44261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77500" lnSpcReduction="20000"/>
          </a:bodyPr>
          <a:lstStyle/>
          <a:p>
            <a:pPr lvl="0" indent="180975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Итог:</a:t>
            </a:r>
          </a:p>
          <a:p>
            <a:pPr lvl="0" indent="180975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Структура проекта: Все публичные файлы (картинки, стили) принято хранить в отдельной папке (например, </a:t>
            </a:r>
            <a:r>
              <a:rPr lang="ru-RU" sz="3000" dirty="0" err="1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public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 или </a:t>
            </a:r>
            <a:r>
              <a:rPr lang="ru-RU" sz="3000" dirty="0" err="1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static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). Это разделяет логику сервера и ресурсы.</a:t>
            </a:r>
          </a:p>
          <a:p>
            <a:pPr lvl="0" indent="180975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Безопасность: Если не ограничивать пути, пользователь может запросить ../../</a:t>
            </a:r>
            <a:r>
              <a:rPr lang="ru-RU" sz="3000" dirty="0" err="1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etc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/</a:t>
            </a:r>
            <a:r>
              <a:rPr lang="ru-RU" sz="3000" dirty="0" err="1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passwd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 или ваш </a:t>
            </a:r>
            <a:r>
              <a:rPr lang="ru-RU" sz="3000" dirty="0" err="1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config.json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 с паролями. Проверка через </a:t>
            </a:r>
            <a:r>
              <a:rPr lang="ru-RU" sz="3000" dirty="0" err="1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path.join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 и ограничение папкой </a:t>
            </a:r>
            <a:r>
              <a:rPr lang="ru-RU" sz="3000" dirty="0" err="1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public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 - первый шаг к защите.</a:t>
            </a:r>
          </a:p>
          <a:p>
            <a:pPr lvl="0" indent="180975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Автоматизация: Один кусок кода теперь обслуживает десятки разных картинок и скриптов без добавления новых </a:t>
            </a:r>
            <a:r>
              <a:rPr lang="ru-RU" sz="3000" dirty="0" err="1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if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/</a:t>
            </a:r>
            <a:r>
              <a:rPr lang="ru-RU" sz="3000" dirty="0" err="1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else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.</a:t>
            </a:r>
          </a:p>
        </p:txBody>
      </p:sp>
      <p:pic>
        <p:nvPicPr>
          <p:cNvPr id="5" name="Google Shape;152;g30f32ff6c42_0_5">
            <a:extLst>
              <a:ext uri="{FF2B5EF4-FFF2-40B4-BE49-F238E27FC236}">
                <a16:creationId xmlns:a16="http://schemas.microsoft.com/office/drawing/2014/main" id="{2BFEB367-9EAA-288D-7275-48FAB72D61E3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400000">
            <a:off x="8167744" y="4110257"/>
            <a:ext cx="1474076" cy="16235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23110193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61DD"/>
        </a:solidFill>
        <a:effectLst/>
      </p:bgPr>
    </p:bg>
    <p:spTree>
      <p:nvGrpSpPr>
        <p:cNvPr id="1" name="Shape 198">
          <a:extLst>
            <a:ext uri="{FF2B5EF4-FFF2-40B4-BE49-F238E27FC236}">
              <a16:creationId xmlns:a16="http://schemas.microsoft.com/office/drawing/2014/main" id="{67E1C49C-1938-F461-02A6-5F1E16999F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49;g30f32ff6c42_0_5">
            <a:extLst>
              <a:ext uri="{FF2B5EF4-FFF2-40B4-BE49-F238E27FC236}">
                <a16:creationId xmlns:a16="http://schemas.microsoft.com/office/drawing/2014/main" id="{96A145A8-17DA-5B1A-46E6-702E9E0073C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98525" y="135467"/>
            <a:ext cx="8346900" cy="5418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20"/>
              <a:buFont typeface="Mulish Black"/>
              <a:buNone/>
            </a:pPr>
            <a:r>
              <a:rPr lang="ru-RU" sz="3420" dirty="0">
                <a:solidFill>
                  <a:schemeClr val="bg1"/>
                </a:solidFill>
                <a:latin typeface="Mulish Black"/>
                <a:ea typeface="Mulish Black"/>
                <a:cs typeface="Mulish Black"/>
                <a:sym typeface="Mulish Black"/>
              </a:rPr>
              <a:t>2. Стриминг аудио </a:t>
            </a:r>
            <a:endParaRPr lang="en-US" sz="3420" dirty="0">
              <a:solidFill>
                <a:schemeClr val="bg1"/>
              </a:solidFill>
              <a:latin typeface="Mulish Black"/>
              <a:ea typeface="Mulish Black"/>
              <a:cs typeface="Mulish Black"/>
              <a:sym typeface="Mulish Black"/>
            </a:endParaRPr>
          </a:p>
        </p:txBody>
      </p:sp>
      <p:sp>
        <p:nvSpPr>
          <p:cNvPr id="3" name="Google Shape;153;g30f32ff6c42_0_5">
            <a:extLst>
              <a:ext uri="{FF2B5EF4-FFF2-40B4-BE49-F238E27FC236}">
                <a16:creationId xmlns:a16="http://schemas.microsoft.com/office/drawing/2014/main" id="{2D864CD3-DB4C-A805-18F7-32D8CDDCBE88}"/>
              </a:ext>
            </a:extLst>
          </p:cNvPr>
          <p:cNvSpPr/>
          <p:nvPr/>
        </p:nvSpPr>
        <p:spPr>
          <a:xfrm>
            <a:off x="320400" y="767644"/>
            <a:ext cx="8150700" cy="4160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 indent="180975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Когда мы работаем с аудио или видео, наша цель - минимизировать время ожидания пользователя (TTFB - Time </a:t>
            </a:r>
            <a:r>
              <a:rPr lang="ru-RU" sz="3000" dirty="0" err="1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to</a:t>
            </a:r>
            <a:r>
              <a:rPr lang="ru-RU" sz="3000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 First </a:t>
            </a:r>
            <a:r>
              <a:rPr lang="ru-RU" sz="3000" dirty="0" err="1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Byte</a:t>
            </a:r>
            <a:r>
              <a:rPr lang="ru-RU" sz="3000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). </a:t>
            </a:r>
            <a:endParaRPr lang="en-US" sz="3000" dirty="0">
              <a:solidFill>
                <a:schemeClr val="bg1"/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lvl="0" indent="180975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Мы хотим, чтобы музыка заиграла через 100мс, а не через 5 секунд после начала загрузки.</a:t>
            </a:r>
          </a:p>
        </p:txBody>
      </p:sp>
      <p:pic>
        <p:nvPicPr>
          <p:cNvPr id="5" name="Google Shape;152;g30f32ff6c42_0_5">
            <a:extLst>
              <a:ext uri="{FF2B5EF4-FFF2-40B4-BE49-F238E27FC236}">
                <a16:creationId xmlns:a16="http://schemas.microsoft.com/office/drawing/2014/main" id="{0F399CAB-9F97-1E8C-7DF2-41B62C6C3A4F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400000">
            <a:off x="8167744" y="4110257"/>
            <a:ext cx="1474076" cy="16235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87274518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61DD"/>
        </a:solidFill>
        <a:effectLst/>
      </p:bgPr>
    </p:bg>
    <p:spTree>
      <p:nvGrpSpPr>
        <p:cNvPr id="1" name="Shape 198">
          <a:extLst>
            <a:ext uri="{FF2B5EF4-FFF2-40B4-BE49-F238E27FC236}">
              <a16:creationId xmlns:a16="http://schemas.microsoft.com/office/drawing/2014/main" id="{E624B9B6-692C-6497-3044-554AC1B20B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53;g30f32ff6c42_0_5">
            <a:extLst>
              <a:ext uri="{FF2B5EF4-FFF2-40B4-BE49-F238E27FC236}">
                <a16:creationId xmlns:a16="http://schemas.microsoft.com/office/drawing/2014/main" id="{4AF639AD-35FB-ECE4-E649-5474A3E91C54}"/>
              </a:ext>
            </a:extLst>
          </p:cNvPr>
          <p:cNvSpPr/>
          <p:nvPr/>
        </p:nvSpPr>
        <p:spPr>
          <a:xfrm>
            <a:off x="320399" y="502276"/>
            <a:ext cx="8359961" cy="44261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 indent="180975" algn="ctr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b="1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Принцип работы потока</a:t>
            </a:r>
          </a:p>
          <a:p>
            <a:pPr lvl="0" indent="180975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Когда браузер встречает тег &lt;</a:t>
            </a:r>
            <a:r>
              <a:rPr lang="ru-RU" sz="3000" dirty="0" err="1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audio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&gt;, он делает GET-запрос к нашему серверу. Node.js не читает файл целиком. </a:t>
            </a:r>
            <a:endParaRPr lang="en-US" sz="3000" dirty="0">
              <a:solidFill>
                <a:schemeClr val="bg1">
                  <a:lumMod val="95000"/>
                </a:schemeClr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lvl="0" indent="180975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Он создает «трубу» между жестким диском и сетевым соединением.</a:t>
            </a:r>
          </a:p>
        </p:txBody>
      </p:sp>
      <p:pic>
        <p:nvPicPr>
          <p:cNvPr id="5" name="Google Shape;152;g30f32ff6c42_0_5">
            <a:extLst>
              <a:ext uri="{FF2B5EF4-FFF2-40B4-BE49-F238E27FC236}">
                <a16:creationId xmlns:a16="http://schemas.microsoft.com/office/drawing/2014/main" id="{622F868E-7414-F408-D690-F087EF6FE69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400000">
            <a:off x="8167744" y="4110257"/>
            <a:ext cx="1474076" cy="16235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65407030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61DD"/>
        </a:solidFill>
        <a:effectLst/>
      </p:bgPr>
    </p:bg>
    <p:spTree>
      <p:nvGrpSpPr>
        <p:cNvPr id="1" name="Shape 198">
          <a:extLst>
            <a:ext uri="{FF2B5EF4-FFF2-40B4-BE49-F238E27FC236}">
              <a16:creationId xmlns:a16="http://schemas.microsoft.com/office/drawing/2014/main" id="{91A779BB-B364-965C-E0F9-7170358BED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53;g30f32ff6c42_0_5">
            <a:extLst>
              <a:ext uri="{FF2B5EF4-FFF2-40B4-BE49-F238E27FC236}">
                <a16:creationId xmlns:a16="http://schemas.microsoft.com/office/drawing/2014/main" id="{9677D30F-80D4-327C-0619-1FEBFB8E4AA2}"/>
              </a:ext>
            </a:extLst>
          </p:cNvPr>
          <p:cNvSpPr/>
          <p:nvPr/>
        </p:nvSpPr>
        <p:spPr>
          <a:xfrm>
            <a:off x="320399" y="502276"/>
            <a:ext cx="8359961" cy="44261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77500" lnSpcReduction="20000"/>
          </a:bodyPr>
          <a:lstStyle/>
          <a:p>
            <a:pPr lvl="0" indent="180975" algn="ctr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b="1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Почему .</a:t>
            </a:r>
            <a:r>
              <a:rPr lang="ru-RU" sz="3000" b="1" dirty="0" err="1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pipe</a:t>
            </a:r>
            <a:r>
              <a:rPr lang="ru-RU" sz="3000" b="1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(</a:t>
            </a:r>
            <a:r>
              <a:rPr lang="ru-RU" sz="3000" b="1" dirty="0" err="1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res</a:t>
            </a:r>
            <a:r>
              <a:rPr lang="ru-RU" sz="3000" b="1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) - это магия?</a:t>
            </a:r>
          </a:p>
          <a:p>
            <a:pPr lvl="0" indent="180975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Метод </a:t>
            </a:r>
            <a:r>
              <a:rPr lang="ru-RU" sz="3000" dirty="0" err="1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pipe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 автоматически управляет скоростью передачи данных.</a:t>
            </a:r>
          </a:p>
          <a:p>
            <a:pPr lvl="0" indent="180975">
              <a:lnSpc>
                <a:spcPct val="115000"/>
              </a:lnSpc>
              <a:buClr>
                <a:srgbClr val="333333"/>
              </a:buClr>
              <a:buSzPts val="1800"/>
            </a:pPr>
            <a:endParaRPr lang="ru-RU" sz="3000" dirty="0">
              <a:solidFill>
                <a:schemeClr val="bg1">
                  <a:lumMod val="95000"/>
                </a:schemeClr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marL="457200" lvl="0" indent="-457200">
              <a:lnSpc>
                <a:spcPct val="115000"/>
              </a:lnSpc>
              <a:buClr>
                <a:srgbClr val="333333"/>
              </a:buClr>
              <a:buSzPts val="1800"/>
              <a:buFont typeface="Arial" panose="020B0604020202020204" pitchFamily="34" charset="0"/>
              <a:buChar char="•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Если интернет у пользователя медленный, </a:t>
            </a:r>
            <a:r>
              <a:rPr lang="ru-RU" sz="3000" dirty="0" err="1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pipe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 замедлит чтение с диска, чтобы не переполнять буфер.</a:t>
            </a:r>
          </a:p>
          <a:p>
            <a:pPr marL="457200" lvl="0" indent="-457200">
              <a:lnSpc>
                <a:spcPct val="115000"/>
              </a:lnSpc>
              <a:buClr>
                <a:srgbClr val="333333"/>
              </a:buClr>
              <a:buSzPts val="1800"/>
              <a:buFont typeface="Arial" panose="020B0604020202020204" pitchFamily="34" charset="0"/>
              <a:buChar char="•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Если пользователь нажал на «паузу», поток данных приостановится сам собой.</a:t>
            </a:r>
          </a:p>
          <a:p>
            <a:pPr marL="457200" lvl="0" indent="-457200">
              <a:lnSpc>
                <a:spcPct val="115000"/>
              </a:lnSpc>
              <a:buClr>
                <a:srgbClr val="333333"/>
              </a:buClr>
              <a:buSzPts val="1800"/>
              <a:buFont typeface="Arial" panose="020B0604020202020204" pitchFamily="34" charset="0"/>
              <a:buChar char="•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Это называется </a:t>
            </a:r>
            <a:r>
              <a:rPr lang="ru-RU" sz="3000" dirty="0" err="1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Backpressure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 (обратное давление) - механизм, который предотвращает «захлебывание» системы данными.</a:t>
            </a:r>
          </a:p>
        </p:txBody>
      </p:sp>
      <p:pic>
        <p:nvPicPr>
          <p:cNvPr id="5" name="Google Shape;152;g30f32ff6c42_0_5">
            <a:extLst>
              <a:ext uri="{FF2B5EF4-FFF2-40B4-BE49-F238E27FC236}">
                <a16:creationId xmlns:a16="http://schemas.microsoft.com/office/drawing/2014/main" id="{352872D6-2863-CE40-ABA3-375E3E204CC1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400000">
            <a:off x="8167744" y="4110257"/>
            <a:ext cx="1474076" cy="16235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50077255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61DD"/>
        </a:solidFill>
        <a:effectLst/>
      </p:bgPr>
    </p:bg>
    <p:spTree>
      <p:nvGrpSpPr>
        <p:cNvPr id="1" name="Shape 198">
          <a:extLst>
            <a:ext uri="{FF2B5EF4-FFF2-40B4-BE49-F238E27FC236}">
              <a16:creationId xmlns:a16="http://schemas.microsoft.com/office/drawing/2014/main" id="{15CFD7D9-2A98-4932-9A64-287D543863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53;g30f32ff6c42_0_5">
            <a:extLst>
              <a:ext uri="{FF2B5EF4-FFF2-40B4-BE49-F238E27FC236}">
                <a16:creationId xmlns:a16="http://schemas.microsoft.com/office/drawing/2014/main" id="{D561ADBD-3970-38E0-CA5D-FD8E0C66FCD6}"/>
              </a:ext>
            </a:extLst>
          </p:cNvPr>
          <p:cNvSpPr/>
          <p:nvPr/>
        </p:nvSpPr>
        <p:spPr>
          <a:xfrm>
            <a:off x="320399" y="502276"/>
            <a:ext cx="8359961" cy="44261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 indent="180975" algn="ctr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b="1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Практическая реализация</a:t>
            </a:r>
          </a:p>
          <a:p>
            <a:pPr lvl="0" indent="180975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Чтобы это заработало, нам нужно добавить всего одну строку в наш список MIME-типов и закинуть любой .mp3 файл в папку </a:t>
            </a:r>
            <a:r>
              <a:rPr lang="ru-RU" sz="3000" dirty="0" err="1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public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.</a:t>
            </a:r>
          </a:p>
        </p:txBody>
      </p:sp>
      <p:pic>
        <p:nvPicPr>
          <p:cNvPr id="5" name="Google Shape;152;g30f32ff6c42_0_5">
            <a:extLst>
              <a:ext uri="{FF2B5EF4-FFF2-40B4-BE49-F238E27FC236}">
                <a16:creationId xmlns:a16="http://schemas.microsoft.com/office/drawing/2014/main" id="{C0FE2D0D-C027-CD52-E925-0AA0389A08B4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400000">
            <a:off x="8167744" y="4110257"/>
            <a:ext cx="1474076" cy="16235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43172198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61DD"/>
        </a:solidFill>
        <a:effectLst/>
      </p:bgPr>
    </p:bg>
    <p:spTree>
      <p:nvGrpSpPr>
        <p:cNvPr id="1" name="Shape 198">
          <a:extLst>
            <a:ext uri="{FF2B5EF4-FFF2-40B4-BE49-F238E27FC236}">
              <a16:creationId xmlns:a16="http://schemas.microsoft.com/office/drawing/2014/main" id="{E6585DD0-6230-2443-06C5-F063DE083B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53;g30f32ff6c42_0_5">
            <a:extLst>
              <a:ext uri="{FF2B5EF4-FFF2-40B4-BE49-F238E27FC236}">
                <a16:creationId xmlns:a16="http://schemas.microsoft.com/office/drawing/2014/main" id="{99DE09BB-1275-561D-F394-C14EF854A06D}"/>
              </a:ext>
            </a:extLst>
          </p:cNvPr>
          <p:cNvSpPr/>
          <p:nvPr/>
        </p:nvSpPr>
        <p:spPr>
          <a:xfrm>
            <a:off x="320399" y="372534"/>
            <a:ext cx="8359961" cy="2006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10000"/>
          </a:bodyPr>
          <a:lstStyle/>
          <a:p>
            <a:pPr lvl="0" indent="180975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Чтобы это заработало, нам нужно добавить всего одну строку в наш список MIME-типов и закинуть любой .mp3 файл в папку </a:t>
            </a:r>
            <a:r>
              <a:rPr lang="ru-RU" sz="3000" dirty="0" err="1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public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.</a:t>
            </a:r>
          </a:p>
          <a:p>
            <a:pPr lvl="0" indent="180975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Дополнение в server.js:</a:t>
            </a:r>
          </a:p>
        </p:txBody>
      </p:sp>
      <p:pic>
        <p:nvPicPr>
          <p:cNvPr id="5" name="Google Shape;152;g30f32ff6c42_0_5">
            <a:extLst>
              <a:ext uri="{FF2B5EF4-FFF2-40B4-BE49-F238E27FC236}">
                <a16:creationId xmlns:a16="http://schemas.microsoft.com/office/drawing/2014/main" id="{CDFD144D-2ECA-3170-37B3-2E4DBD0F2A9B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400000">
            <a:off x="8167744" y="4110257"/>
            <a:ext cx="1474076" cy="162359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F52E6769-ED28-E1C6-598F-E9FEB010F89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13290" y="2231583"/>
            <a:ext cx="5955066" cy="26968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228823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61DD"/>
        </a:solidFill>
        <a:effectLst/>
      </p:bgPr>
    </p:bg>
    <p:spTree>
      <p:nvGrpSpPr>
        <p:cNvPr id="1" name="Shape 198">
          <a:extLst>
            <a:ext uri="{FF2B5EF4-FFF2-40B4-BE49-F238E27FC236}">
              <a16:creationId xmlns:a16="http://schemas.microsoft.com/office/drawing/2014/main" id="{27CEBCBF-63AA-367A-A2F9-6C5AB83150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53;g30f32ff6c42_0_5">
            <a:extLst>
              <a:ext uri="{FF2B5EF4-FFF2-40B4-BE49-F238E27FC236}">
                <a16:creationId xmlns:a16="http://schemas.microsoft.com/office/drawing/2014/main" id="{BEAFE2B7-4818-63DC-68FA-4344F70E564B}"/>
              </a:ext>
            </a:extLst>
          </p:cNvPr>
          <p:cNvSpPr/>
          <p:nvPr/>
        </p:nvSpPr>
        <p:spPr>
          <a:xfrm>
            <a:off x="320399" y="502276"/>
            <a:ext cx="8359961" cy="44261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 indent="180975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en-US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index.html</a:t>
            </a:r>
            <a:endParaRPr lang="ru-RU" sz="3000" dirty="0">
              <a:solidFill>
                <a:schemeClr val="bg1">
                  <a:lumMod val="95000"/>
                </a:schemeClr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</p:txBody>
      </p:sp>
      <p:pic>
        <p:nvPicPr>
          <p:cNvPr id="5" name="Google Shape;152;g30f32ff6c42_0_5">
            <a:extLst>
              <a:ext uri="{FF2B5EF4-FFF2-40B4-BE49-F238E27FC236}">
                <a16:creationId xmlns:a16="http://schemas.microsoft.com/office/drawing/2014/main" id="{4D75B813-2F67-1AAB-E1D4-9FD3FB60D72F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400000">
            <a:off x="8167744" y="4110257"/>
            <a:ext cx="1474076" cy="162359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C76CF49B-B60C-9131-F661-06751414B9F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95236" y="1147409"/>
            <a:ext cx="6586008" cy="3639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027412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61DD"/>
        </a:solidFill>
        <a:effectLst/>
      </p:bgPr>
    </p:bg>
    <p:spTree>
      <p:nvGrpSpPr>
        <p:cNvPr id="1" name="Shape 198">
          <a:extLst>
            <a:ext uri="{FF2B5EF4-FFF2-40B4-BE49-F238E27FC236}">
              <a16:creationId xmlns:a16="http://schemas.microsoft.com/office/drawing/2014/main" id="{CEDD6B81-AE21-F3EF-82C8-4A95FC218F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53;g30f32ff6c42_0_5">
            <a:extLst>
              <a:ext uri="{FF2B5EF4-FFF2-40B4-BE49-F238E27FC236}">
                <a16:creationId xmlns:a16="http://schemas.microsoft.com/office/drawing/2014/main" id="{63827E58-900B-D923-1215-AEBCF29D535C}"/>
              </a:ext>
            </a:extLst>
          </p:cNvPr>
          <p:cNvSpPr/>
          <p:nvPr/>
        </p:nvSpPr>
        <p:spPr>
          <a:xfrm>
            <a:off x="320399" y="133662"/>
            <a:ext cx="8359961" cy="47948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 indent="180975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Результат:</a:t>
            </a:r>
          </a:p>
        </p:txBody>
      </p:sp>
      <p:pic>
        <p:nvPicPr>
          <p:cNvPr id="5" name="Google Shape;152;g30f32ff6c42_0_5">
            <a:extLst>
              <a:ext uri="{FF2B5EF4-FFF2-40B4-BE49-F238E27FC236}">
                <a16:creationId xmlns:a16="http://schemas.microsoft.com/office/drawing/2014/main" id="{F1D6D422-8300-E4B0-0C83-E9BC7D5C183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400000">
            <a:off x="8167744" y="4110257"/>
            <a:ext cx="1474076" cy="162359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316614D2-73F0-5B69-B666-2266B86C9D7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2598" y="790221"/>
            <a:ext cx="7912794" cy="42196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818330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61DD"/>
        </a:solidFill>
        <a:effectLst/>
      </p:bgPr>
    </p:bg>
    <p:spTree>
      <p:nvGrpSpPr>
        <p:cNvPr id="1" name="Shape 198">
          <a:extLst>
            <a:ext uri="{FF2B5EF4-FFF2-40B4-BE49-F238E27FC236}">
              <a16:creationId xmlns:a16="http://schemas.microsoft.com/office/drawing/2014/main" id="{AD2DE7BB-942D-E974-5BDF-00E4724D4D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53;g30f32ff6c42_0_5">
            <a:extLst>
              <a:ext uri="{FF2B5EF4-FFF2-40B4-BE49-F238E27FC236}">
                <a16:creationId xmlns:a16="http://schemas.microsoft.com/office/drawing/2014/main" id="{B595E12B-7030-F446-F354-87F79EB2CC01}"/>
              </a:ext>
            </a:extLst>
          </p:cNvPr>
          <p:cNvSpPr/>
          <p:nvPr/>
        </p:nvSpPr>
        <p:spPr>
          <a:xfrm>
            <a:off x="320399" y="502276"/>
            <a:ext cx="8359961" cy="44261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85000" lnSpcReduction="10000"/>
          </a:bodyPr>
          <a:lstStyle/>
          <a:p>
            <a:pPr lvl="0" indent="180975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Итог:</a:t>
            </a:r>
          </a:p>
          <a:p>
            <a:pPr marL="457200" lvl="0" indent="-457200">
              <a:lnSpc>
                <a:spcPct val="115000"/>
              </a:lnSpc>
              <a:buClr>
                <a:srgbClr val="333333"/>
              </a:buClr>
              <a:buSzPts val="1800"/>
              <a:buFont typeface="Arial" panose="020B0604020202020204" pitchFamily="34" charset="0"/>
              <a:buChar char="•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Стриминг - передача данных частями для мгновенного доступа.</a:t>
            </a:r>
          </a:p>
          <a:p>
            <a:pPr marL="457200" lvl="0" indent="-457200">
              <a:lnSpc>
                <a:spcPct val="115000"/>
              </a:lnSpc>
              <a:buClr>
                <a:srgbClr val="333333"/>
              </a:buClr>
              <a:buSzPts val="1800"/>
              <a:buFont typeface="Arial" panose="020B0604020202020204" pitchFamily="34" charset="0"/>
              <a:buChar char="•"/>
            </a:pPr>
            <a:r>
              <a:rPr lang="ru-RU" sz="3000" dirty="0" err="1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audio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/</a:t>
            </a:r>
            <a:r>
              <a:rPr lang="ru-RU" sz="3000" dirty="0" err="1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mpeg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 - стандартный MIME-тип для mp3.</a:t>
            </a:r>
          </a:p>
          <a:p>
            <a:pPr marL="457200" lvl="0" indent="-457200">
              <a:lnSpc>
                <a:spcPct val="115000"/>
              </a:lnSpc>
              <a:buClr>
                <a:srgbClr val="333333"/>
              </a:buClr>
              <a:buSzPts val="1800"/>
              <a:buFont typeface="Arial" panose="020B0604020202020204" pitchFamily="34" charset="0"/>
              <a:buChar char="•"/>
            </a:pPr>
            <a:r>
              <a:rPr lang="ru-RU" sz="3000" dirty="0" err="1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Backpressure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 - автоматический контроль скорости потока в Node.js.</a:t>
            </a:r>
          </a:p>
          <a:p>
            <a:pPr marL="457200" lvl="0" indent="-457200">
              <a:lnSpc>
                <a:spcPct val="115000"/>
              </a:lnSpc>
              <a:buClr>
                <a:srgbClr val="333333"/>
              </a:buClr>
              <a:buSzPts val="1800"/>
              <a:buFont typeface="Arial" panose="020B0604020202020204" pitchFamily="34" charset="0"/>
              <a:buChar char="•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Использование </a:t>
            </a:r>
            <a:r>
              <a:rPr lang="ru-RU" sz="3000" dirty="0" err="1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createReadStream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 позволяет серверу обслуживать сотни слушателей одновременно, не забивая оперативную память.</a:t>
            </a:r>
          </a:p>
          <a:p>
            <a:pPr lvl="0" indent="180975">
              <a:lnSpc>
                <a:spcPct val="115000"/>
              </a:lnSpc>
              <a:buClr>
                <a:srgbClr val="333333"/>
              </a:buClr>
              <a:buSzPts val="1800"/>
            </a:pPr>
            <a:endParaRPr lang="ru-RU" sz="3000" dirty="0">
              <a:solidFill>
                <a:schemeClr val="bg1">
                  <a:lumMod val="95000"/>
                </a:schemeClr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</p:txBody>
      </p:sp>
      <p:pic>
        <p:nvPicPr>
          <p:cNvPr id="5" name="Google Shape;152;g30f32ff6c42_0_5">
            <a:extLst>
              <a:ext uri="{FF2B5EF4-FFF2-40B4-BE49-F238E27FC236}">
                <a16:creationId xmlns:a16="http://schemas.microsoft.com/office/drawing/2014/main" id="{75B5296C-5A77-C14B-D9EF-3FCD572D6953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400000">
            <a:off x="8167744" y="4110257"/>
            <a:ext cx="1474076" cy="16235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68959267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61DD"/>
        </a:solidFill>
        <a:effectLst/>
      </p:bgPr>
    </p:bg>
    <p:spTree>
      <p:nvGrpSpPr>
        <p:cNvPr id="1" name="Shape 198">
          <a:extLst>
            <a:ext uri="{FF2B5EF4-FFF2-40B4-BE49-F238E27FC236}">
              <a16:creationId xmlns:a16="http://schemas.microsoft.com/office/drawing/2014/main" id="{E58F08CA-9D27-5325-B6F3-CB0498181F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53;g30f32ff6c42_0_5">
            <a:extLst>
              <a:ext uri="{FF2B5EF4-FFF2-40B4-BE49-F238E27FC236}">
                <a16:creationId xmlns:a16="http://schemas.microsoft.com/office/drawing/2014/main" id="{613162B1-1C17-D80A-C709-56E6E298043D}"/>
              </a:ext>
            </a:extLst>
          </p:cNvPr>
          <p:cNvSpPr/>
          <p:nvPr/>
        </p:nvSpPr>
        <p:spPr>
          <a:xfrm>
            <a:off x="320399" y="502276"/>
            <a:ext cx="8359961" cy="44261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85000" lnSpcReduction="20000"/>
          </a:bodyPr>
          <a:lstStyle/>
          <a:p>
            <a:pPr indent="180975"/>
            <a:r>
              <a:rPr lang="ru-RU" sz="3100" dirty="0">
                <a:solidFill>
                  <a:schemeClr val="bg1">
                    <a:lumMod val="95000"/>
                  </a:schemeClr>
                </a:solidFill>
                <a:latin typeface="Mulish SemiBold"/>
              </a:rPr>
              <a:t>Стриминг видео в Node.js работает по тому же принципу «водопроводного крана», что и аудио, но с одним важным техническим отличием: видеофайлы обычно весят намного больше, и пользователю жизненно необходима возможность перемотки.</a:t>
            </a:r>
          </a:p>
          <a:p>
            <a:pPr indent="180975"/>
            <a:r>
              <a:rPr lang="ru-RU" sz="3100" dirty="0">
                <a:solidFill>
                  <a:schemeClr val="bg1">
                    <a:lumMod val="95000"/>
                  </a:schemeClr>
                </a:solidFill>
                <a:latin typeface="Mulish SemiBold"/>
              </a:rPr>
              <a:t>Если для аудио нам хватало простой передачи файла через .</a:t>
            </a:r>
            <a:r>
              <a:rPr lang="ru-RU" sz="3100" dirty="0" err="1">
                <a:solidFill>
                  <a:schemeClr val="bg1">
                    <a:lumMod val="95000"/>
                  </a:schemeClr>
                </a:solidFill>
                <a:latin typeface="Mulish SemiBold"/>
              </a:rPr>
              <a:t>pipe</a:t>
            </a:r>
            <a:r>
              <a:rPr lang="ru-RU" sz="3100" dirty="0">
                <a:solidFill>
                  <a:schemeClr val="bg1">
                    <a:lumMod val="95000"/>
                  </a:schemeClr>
                </a:solidFill>
                <a:latin typeface="Mulish SemiBold"/>
              </a:rPr>
              <a:t>(), то для видео браузеры ведут себя умнее: они запрашивают не весь файл целиком, а конкретные диапазоны байтов (например, «дай мне байты с 5 000 000 по 10 000 000»).</a:t>
            </a:r>
          </a:p>
          <a:p>
            <a:pPr lvl="0" indent="180975">
              <a:lnSpc>
                <a:spcPct val="115000"/>
              </a:lnSpc>
              <a:buClr>
                <a:srgbClr val="333333"/>
              </a:buClr>
              <a:buSzPts val="1800"/>
            </a:pPr>
            <a:endParaRPr lang="ru-RU" sz="3000" dirty="0">
              <a:solidFill>
                <a:schemeClr val="bg1">
                  <a:lumMod val="95000"/>
                </a:schemeClr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</p:txBody>
      </p:sp>
      <p:pic>
        <p:nvPicPr>
          <p:cNvPr id="5" name="Google Shape;152;g30f32ff6c42_0_5">
            <a:extLst>
              <a:ext uri="{FF2B5EF4-FFF2-40B4-BE49-F238E27FC236}">
                <a16:creationId xmlns:a16="http://schemas.microsoft.com/office/drawing/2014/main" id="{841AC9DE-DA4C-9BED-1F71-ADBE69000FD2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400000">
            <a:off x="8167744" y="4110257"/>
            <a:ext cx="1474076" cy="16235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98733523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61DD"/>
        </a:solidFill>
        <a:effectLst/>
      </p:bgPr>
    </p:bg>
    <p:spTree>
      <p:nvGrpSpPr>
        <p:cNvPr id="1" name="Shape 198">
          <a:extLst>
            <a:ext uri="{FF2B5EF4-FFF2-40B4-BE49-F238E27FC236}">
              <a16:creationId xmlns:a16="http://schemas.microsoft.com/office/drawing/2014/main" id="{68668DFA-706F-B91C-80D3-8EF3C361B8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49;g30f32ff6c42_0_5">
            <a:extLst>
              <a:ext uri="{FF2B5EF4-FFF2-40B4-BE49-F238E27FC236}">
                <a16:creationId xmlns:a16="http://schemas.microsoft.com/office/drawing/2014/main" id="{30182724-99D3-C12F-E60A-F8102F84D83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98525" y="135467"/>
            <a:ext cx="8346900" cy="5418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20"/>
              <a:buFont typeface="Mulish Black"/>
              <a:buNone/>
            </a:pPr>
            <a:r>
              <a:rPr lang="ru-RU" sz="3420" dirty="0">
                <a:solidFill>
                  <a:schemeClr val="bg1"/>
                </a:solidFill>
                <a:latin typeface="Mulish Black"/>
                <a:ea typeface="Mulish Black"/>
                <a:cs typeface="Mulish Black"/>
                <a:sym typeface="Mulish Black"/>
              </a:rPr>
              <a:t>Выводы:</a:t>
            </a:r>
            <a:endParaRPr lang="en-US" sz="3420" dirty="0">
              <a:solidFill>
                <a:schemeClr val="bg1"/>
              </a:solidFill>
              <a:latin typeface="Mulish Black"/>
              <a:ea typeface="Mulish Black"/>
              <a:cs typeface="Mulish Black"/>
              <a:sym typeface="Mulish Black"/>
            </a:endParaRPr>
          </a:p>
        </p:txBody>
      </p:sp>
      <p:sp>
        <p:nvSpPr>
          <p:cNvPr id="3" name="Google Shape;153;g30f32ff6c42_0_5">
            <a:extLst>
              <a:ext uri="{FF2B5EF4-FFF2-40B4-BE49-F238E27FC236}">
                <a16:creationId xmlns:a16="http://schemas.microsoft.com/office/drawing/2014/main" id="{9EBCEB76-3385-5BA6-CB55-B979D64893FD}"/>
              </a:ext>
            </a:extLst>
          </p:cNvPr>
          <p:cNvSpPr/>
          <p:nvPr/>
        </p:nvSpPr>
        <p:spPr>
          <a:xfrm>
            <a:off x="320400" y="767644"/>
            <a:ext cx="8150700" cy="4160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85000" lnSpcReduction="20000"/>
          </a:bodyPr>
          <a:lstStyle/>
          <a:p>
            <a:pPr marL="457200" lvl="0" indent="-457200">
              <a:lnSpc>
                <a:spcPct val="115000"/>
              </a:lnSpc>
              <a:buClr>
                <a:srgbClr val="333333"/>
              </a:buClr>
              <a:buSzPts val="1800"/>
              <a:buFont typeface="Arial" panose="020B0604020202020204" pitchFamily="34" charset="0"/>
              <a:buChar char="•"/>
            </a:pPr>
            <a:r>
              <a:rPr lang="ru-RU" sz="3000" dirty="0" err="1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Streams</a:t>
            </a:r>
            <a:r>
              <a:rPr lang="ru-RU" sz="3000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 (Потоки) - это способ обработки данных по частям. Это база для высоконагруженных систем.</a:t>
            </a:r>
          </a:p>
          <a:p>
            <a:pPr marL="457200" lvl="0" indent="-457200">
              <a:lnSpc>
                <a:spcPct val="115000"/>
              </a:lnSpc>
              <a:buClr>
                <a:srgbClr val="333333"/>
              </a:buClr>
              <a:buSzPts val="1800"/>
              <a:buFont typeface="Arial" panose="020B0604020202020204" pitchFamily="34" charset="0"/>
              <a:buChar char="•"/>
            </a:pPr>
            <a:r>
              <a:rPr lang="ru-RU" sz="3000" dirty="0" err="1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Pipe</a:t>
            </a:r>
            <a:r>
              <a:rPr lang="ru-RU" sz="3000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 - это "магистраль", которая соединяет источник данных и получателя, автоматически контролируя скорость (</a:t>
            </a:r>
            <a:r>
              <a:rPr lang="ru-RU" sz="3000" dirty="0" err="1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Backpressure</a:t>
            </a:r>
            <a:r>
              <a:rPr lang="ru-RU" sz="3000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).</a:t>
            </a:r>
          </a:p>
          <a:p>
            <a:pPr marL="457200" lvl="0" indent="-457200">
              <a:lnSpc>
                <a:spcPct val="115000"/>
              </a:lnSpc>
              <a:buClr>
                <a:srgbClr val="333333"/>
              </a:buClr>
              <a:buSzPts val="1800"/>
              <a:buFont typeface="Arial" panose="020B0604020202020204" pitchFamily="34" charset="0"/>
              <a:buChar char="•"/>
            </a:pPr>
            <a:r>
              <a:rPr lang="ru-RU" sz="3000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Статика - это не только HTML. Сервер должен уметь распознавать типы файлов и выдавать им правильные MIME-паспорта.</a:t>
            </a:r>
          </a:p>
        </p:txBody>
      </p:sp>
      <p:pic>
        <p:nvPicPr>
          <p:cNvPr id="5" name="Google Shape;152;g30f32ff6c42_0_5">
            <a:extLst>
              <a:ext uri="{FF2B5EF4-FFF2-40B4-BE49-F238E27FC236}">
                <a16:creationId xmlns:a16="http://schemas.microsoft.com/office/drawing/2014/main" id="{2B5D502F-BB07-ED04-235C-07463F4F938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400000">
            <a:off x="8167744" y="4110257"/>
            <a:ext cx="1474076" cy="16235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6345945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61DD"/>
        </a:solidFill>
        <a:effectLst/>
      </p:bgPr>
    </p:bg>
    <p:spTree>
      <p:nvGrpSpPr>
        <p:cNvPr id="1" name="Shape 198">
          <a:extLst>
            <a:ext uri="{FF2B5EF4-FFF2-40B4-BE49-F238E27FC236}">
              <a16:creationId xmlns:a16="http://schemas.microsoft.com/office/drawing/2014/main" id="{45F55314-7898-4958-9480-F8FB4A5845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49;g30f32ff6c42_0_5">
            <a:extLst>
              <a:ext uri="{FF2B5EF4-FFF2-40B4-BE49-F238E27FC236}">
                <a16:creationId xmlns:a16="http://schemas.microsoft.com/office/drawing/2014/main" id="{A63BED38-91CA-D9D6-6121-BF988F7C532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98525" y="215026"/>
            <a:ext cx="8346900" cy="660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20"/>
              <a:buFont typeface="Mulish Black"/>
              <a:buNone/>
            </a:pPr>
            <a:r>
              <a:rPr lang="ru-RU" sz="3420" dirty="0">
                <a:solidFill>
                  <a:schemeClr val="bg1"/>
                </a:solidFill>
                <a:latin typeface="Mulish Black"/>
                <a:ea typeface="Mulish Black"/>
                <a:cs typeface="Mulish Black"/>
                <a:sym typeface="Mulish Black"/>
              </a:rPr>
              <a:t>Контрольные вопросы</a:t>
            </a:r>
            <a:endParaRPr lang="en-US" sz="3420" dirty="0">
              <a:solidFill>
                <a:schemeClr val="bg1"/>
              </a:solidFill>
              <a:latin typeface="Mulish Black"/>
              <a:ea typeface="Mulish Black"/>
              <a:cs typeface="Mulish Black"/>
              <a:sym typeface="Mulish Black"/>
            </a:endParaRPr>
          </a:p>
        </p:txBody>
      </p:sp>
      <p:sp>
        <p:nvSpPr>
          <p:cNvPr id="3" name="Google Shape;153;g30f32ff6c42_0_5">
            <a:extLst>
              <a:ext uri="{FF2B5EF4-FFF2-40B4-BE49-F238E27FC236}">
                <a16:creationId xmlns:a16="http://schemas.microsoft.com/office/drawing/2014/main" id="{66682A93-D9C7-FBAA-14FF-26E9049451E6}"/>
              </a:ext>
            </a:extLst>
          </p:cNvPr>
          <p:cNvSpPr/>
          <p:nvPr/>
        </p:nvSpPr>
        <p:spPr>
          <a:xfrm>
            <a:off x="320400" y="978794"/>
            <a:ext cx="8150700" cy="39496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85000" lnSpcReduction="20000"/>
          </a:bodyPr>
          <a:lstStyle/>
          <a:p>
            <a:pPr marL="457200" lvl="0" indent="-457200">
              <a:lnSpc>
                <a:spcPct val="115000"/>
              </a:lnSpc>
              <a:buClr>
                <a:srgbClr val="333333"/>
              </a:buClr>
              <a:buSzPts val="1800"/>
              <a:buFont typeface="Arial" panose="020B0604020202020204" pitchFamily="34" charset="0"/>
              <a:buChar char="•"/>
            </a:pPr>
            <a:r>
              <a:rPr lang="ru-RU" sz="3000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В чем главная проблема использования </a:t>
            </a:r>
            <a:r>
              <a:rPr lang="ru-RU" sz="3000" dirty="0" err="1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fs.readFile</a:t>
            </a:r>
            <a:r>
              <a:rPr lang="ru-RU" sz="3000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 для отправки видеофайла размером 2 ГБ?</a:t>
            </a:r>
          </a:p>
          <a:p>
            <a:pPr marL="457200" lvl="0" indent="-457200">
              <a:lnSpc>
                <a:spcPct val="115000"/>
              </a:lnSpc>
              <a:buClr>
                <a:srgbClr val="333333"/>
              </a:buClr>
              <a:buSzPts val="1800"/>
              <a:buFont typeface="Arial" panose="020B0604020202020204" pitchFamily="34" charset="0"/>
              <a:buChar char="•"/>
            </a:pPr>
            <a:r>
              <a:rPr lang="ru-RU" sz="3000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Зачем нам нужен модуль </a:t>
            </a:r>
            <a:r>
              <a:rPr lang="ru-RU" sz="3000" dirty="0" err="1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path</a:t>
            </a:r>
            <a:r>
              <a:rPr lang="ru-RU" sz="3000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 при формировании пути к файлу?</a:t>
            </a:r>
          </a:p>
          <a:p>
            <a:pPr marL="457200" lvl="0" indent="-457200">
              <a:lnSpc>
                <a:spcPct val="115000"/>
              </a:lnSpc>
              <a:buClr>
                <a:srgbClr val="333333"/>
              </a:buClr>
              <a:buSzPts val="1800"/>
              <a:buFont typeface="Arial" panose="020B0604020202020204" pitchFamily="34" charset="0"/>
              <a:buChar char="•"/>
            </a:pPr>
            <a:r>
              <a:rPr lang="ru-RU" sz="3000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Что произойдет, если сервер отдаст MP3-файл, но забудет указать MIME-тип </a:t>
            </a:r>
            <a:r>
              <a:rPr lang="ru-RU" sz="3000" dirty="0" err="1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audio</a:t>
            </a:r>
            <a:r>
              <a:rPr lang="ru-RU" sz="3000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/</a:t>
            </a:r>
            <a:r>
              <a:rPr lang="ru-RU" sz="3000" dirty="0" err="1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mpeg</a:t>
            </a:r>
            <a:r>
              <a:rPr lang="ru-RU" sz="3000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?</a:t>
            </a:r>
          </a:p>
          <a:p>
            <a:pPr marL="457200" lvl="0" indent="-457200">
              <a:lnSpc>
                <a:spcPct val="115000"/>
              </a:lnSpc>
              <a:buClr>
                <a:srgbClr val="333333"/>
              </a:buClr>
              <a:buSzPts val="1800"/>
              <a:buFont typeface="Arial" panose="020B0604020202020204" pitchFamily="34" charset="0"/>
              <a:buChar char="•"/>
            </a:pPr>
            <a:r>
              <a:rPr lang="ru-RU" sz="3000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Как работает </a:t>
            </a:r>
            <a:r>
              <a:rPr lang="ru-RU" sz="3000" dirty="0" err="1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pipe</a:t>
            </a:r>
            <a:r>
              <a:rPr lang="ru-RU" sz="3000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 при медленном интернете у клиента?</a:t>
            </a:r>
          </a:p>
        </p:txBody>
      </p:sp>
      <p:pic>
        <p:nvPicPr>
          <p:cNvPr id="5" name="Google Shape;152;g30f32ff6c42_0_5">
            <a:extLst>
              <a:ext uri="{FF2B5EF4-FFF2-40B4-BE49-F238E27FC236}">
                <a16:creationId xmlns:a16="http://schemas.microsoft.com/office/drawing/2014/main" id="{76964D9A-BD29-A315-0A5D-43051D5DEF8E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400000">
            <a:off x="8167744" y="4110257"/>
            <a:ext cx="1474076" cy="16235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7571434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771</TotalTime>
  <Words>849</Words>
  <Application>Microsoft Office PowerPoint</Application>
  <PresentationFormat>Экран (16:9)</PresentationFormat>
  <Paragraphs>62</Paragraphs>
  <Slides>26</Slides>
  <Notes>26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26</vt:i4>
      </vt:variant>
    </vt:vector>
  </HeadingPairs>
  <TitlesOfParts>
    <vt:vector size="32" baseType="lpstr">
      <vt:lpstr>Times New Roman</vt:lpstr>
      <vt:lpstr>Mulish Black</vt:lpstr>
      <vt:lpstr>Mulish SemiBold</vt:lpstr>
      <vt:lpstr>Mulish ExtraBold</vt:lpstr>
      <vt:lpstr>Arial</vt:lpstr>
      <vt:lpstr>Office Theme</vt:lpstr>
      <vt:lpstr>ДЕНЬ ОТКРЫТЫХ ДВЕРЕЙ</vt:lpstr>
      <vt:lpstr>Цель занятия:</vt:lpstr>
      <vt:lpstr>Учебные вопросы:</vt:lpstr>
      <vt:lpstr>1. Отдача статических файлов (Картинки, CSS, JS)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2. Стриминг аудио 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Выводы:</vt:lpstr>
      <vt:lpstr>Контрольные вопросы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Fido</dc:creator>
  <cp:lastModifiedBy>user</cp:lastModifiedBy>
  <cp:revision>16</cp:revision>
  <dcterms:modified xsi:type="dcterms:W3CDTF">2026-04-18T15:51:14Z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45</vt:i4>
  </property>
  <property fmtid="{D5CDD505-2E9C-101B-9397-08002B2CF9AE}" pid="3" name="PresentationFormat">
    <vt:lpwstr>Экран (16:9)</vt:lpwstr>
  </property>
  <property fmtid="{D5CDD505-2E9C-101B-9397-08002B2CF9AE}" pid="4" name="Slides">
    <vt:i4>45</vt:i4>
  </property>
</Properties>
</file>