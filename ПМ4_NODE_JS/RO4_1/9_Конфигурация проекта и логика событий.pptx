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3"/>
  </p:notesMasterIdLst>
  <p:sldIdLst>
    <p:sldId id="256" r:id="rId2"/>
    <p:sldId id="263" r:id="rId3"/>
    <p:sldId id="262" r:id="rId4"/>
    <p:sldId id="264" r:id="rId5"/>
    <p:sldId id="265" r:id="rId6"/>
    <p:sldId id="298" r:id="rId7"/>
    <p:sldId id="299" r:id="rId8"/>
    <p:sldId id="300" r:id="rId9"/>
    <p:sldId id="301" r:id="rId10"/>
    <p:sldId id="302" r:id="rId11"/>
    <p:sldId id="303" r:id="rId12"/>
    <p:sldId id="304" r:id="rId13"/>
    <p:sldId id="305" r:id="rId14"/>
    <p:sldId id="296" r:id="rId15"/>
    <p:sldId id="306" r:id="rId16"/>
    <p:sldId id="307" r:id="rId17"/>
    <p:sldId id="308" r:id="rId18"/>
    <p:sldId id="310" r:id="rId19"/>
    <p:sldId id="311" r:id="rId20"/>
    <p:sldId id="312" r:id="rId21"/>
    <p:sldId id="309" r:id="rId22"/>
    <p:sldId id="313" r:id="rId23"/>
    <p:sldId id="315" r:id="rId24"/>
    <p:sldId id="316" r:id="rId25"/>
    <p:sldId id="317" r:id="rId26"/>
    <p:sldId id="318" r:id="rId27"/>
    <p:sldId id="321" r:id="rId28"/>
    <p:sldId id="319" r:id="rId29"/>
    <p:sldId id="320" r:id="rId30"/>
    <p:sldId id="314" r:id="rId31"/>
    <p:sldId id="297" r:id="rId32"/>
  </p:sldIdLst>
  <p:sldSz cx="9144000" cy="5143500" type="screen16x9"/>
  <p:notesSz cx="6858000" cy="9144000"/>
  <p:embeddedFontLst>
    <p:embeddedFont>
      <p:font typeface="Mulish Black" panose="020B0604020202020204" charset="-52"/>
      <p:bold r:id="rId34"/>
      <p:boldItalic r:id="rId35"/>
    </p:embeddedFont>
    <p:embeddedFont>
      <p:font typeface="Mulish ExtraBold" panose="020B0604020202020204" charset="-52"/>
      <p:bold r:id="rId36"/>
      <p:boldItalic r:id="rId37"/>
    </p:embeddedFont>
    <p:embeddedFont>
      <p:font typeface="Mulish SemiBold" panose="020B0604020202020204" charset="-52"/>
      <p:regular r:id="rId38"/>
      <p:bold r:id="rId39"/>
      <p:italic r:id="rId40"/>
      <p:boldItalic r:id="rId4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72" roundtripDataSignature="AMtx7miJQyI2npMiufbLtMTLZXKhjf0iD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01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82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6.fntdata"/><Relationship Id="rId21" Type="http://schemas.openxmlformats.org/officeDocument/2006/relationships/slide" Target="slides/slide20.xml"/><Relationship Id="rId34" Type="http://schemas.openxmlformats.org/officeDocument/2006/relationships/font" Target="fonts/font1.fntdata"/><Relationship Id="rId76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4.fntdata"/><Relationship Id="rId40" Type="http://schemas.openxmlformats.org/officeDocument/2006/relationships/font" Target="fonts/font7.fntdata"/><Relationship Id="rId7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73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2.fntdata"/><Relationship Id="rId8" Type="http://schemas.openxmlformats.org/officeDocument/2006/relationships/slide" Target="slides/slide7.xml"/><Relationship Id="rId72" Type="http://customschemas.google.com/relationships/presentationmetadata" Target="meta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font" Target="fonts/font5.fntdata"/><Relationship Id="rId20" Type="http://schemas.openxmlformats.org/officeDocument/2006/relationships/slide" Target="slides/slide19.xml"/><Relationship Id="rId41" Type="http://schemas.openxmlformats.org/officeDocument/2006/relationships/font" Target="fonts/font8.fntdata"/><Relationship Id="rId75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16000" y="812520"/>
            <a:ext cx="7127280" cy="400896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" name="Google Shape;6;n"/>
          <p:cNvSpPr txBox="1">
            <a:spLocks noGrp="1"/>
          </p:cNvSpPr>
          <p:nvPr>
            <p:ph type="dt" idx="10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ru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9" name="Google Shape;13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8DAFB3B4-A6E1-27FF-8B6C-9E40294AFD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EFDA7AD0-34A6-33DA-4F4A-36A4D6BF75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8AE18F91-DCA6-3D83-956D-0E4D9AD34F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9734238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1D941BEB-544D-4C7F-AB84-40777C546A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FBCEB855-C630-8AC8-5683-AFBCAFD155E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7A07A61D-02CE-7DD4-CD80-D605E40607F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7662910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BEE044EC-29C7-3CDD-429A-8357606D42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F248B09F-DFB1-377F-EA2C-6757B0737DC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3836A5C5-16BD-7FC7-7F6F-4851AD2FDAC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5271058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213211A7-4021-13BA-0F5C-962DD5B71A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32D9551C-3857-4CC1-F644-12A929969DA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5778D12E-2568-EF62-123A-3DF2CCC70CB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42751621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C72531EB-155E-4185-E4EB-41131571D5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0A811B5E-2D75-E497-9F6E-51FF1AC437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C8C33C06-1536-CFD6-6545-4845253EA17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782300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D3A0B661-066B-583E-57F4-734E1B8810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BCD81C44-39B6-18AA-F5B5-23AA15D705C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A48CBD64-665C-443C-808A-87AE8050D69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44569957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0CCEDEC4-47DF-514C-B749-EF32B407FF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7900943A-CFF6-204D-8E2B-DE660D443F6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8526C7CE-4EB7-69D1-60DA-DF92F97C012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61961177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ECC9DA57-C45D-5A21-663A-9E5E7E6D9D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18F5460A-BD0E-6BDD-3502-4529FBB13A0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091C334D-90AD-641F-23D4-89A98B6D6B0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70025757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6E6C3241-74FC-BD40-7EF3-5DDA23123C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E37BDB5F-D4D7-F439-CAA9-44EB52DE1E4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4867850A-B375-0CA2-6EC0-CC83EA3D40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21296245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A0D44A50-CC5F-5A2C-A17A-F41243632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20EF3F44-D5E7-D5AD-E96C-DD304A7A58A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ABDE92F9-C874-BA49-5C8B-41E2E3A6A1A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55111789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800429F0-CD53-3781-9949-BB5804F150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529B688F-6062-45E6-CB79-CE34838637A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85A33531-7B2C-0252-2355-803FC667D9A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54969326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C17E1C49-3313-6E58-F661-2A86CC9FD1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0A3CD291-2D23-6E61-2B18-1E4E2785E81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1B2FD83A-D393-289C-1025-37482C87871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41284380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89D41FDF-5D43-5777-B48E-D917E1F48F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6A0921AC-BEF8-FE45-04B6-549D9D25532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F7DEF425-1D0E-8689-EDDE-0E65578ED80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997308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73A6CB9B-A9DB-C56D-3CF2-AA453E1309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A09219EA-AE12-C977-09F1-2D2AD554EE4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0F2D88DB-5F31-52BC-070B-B3FA83823BF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93735417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D3FE961D-492E-7075-AD79-1A7940D908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69217B7A-2602-8B01-4B19-C280AD836E6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0BB6E403-0F5A-A570-DE9F-1AD45D4D1E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34876414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AB4C3B94-D183-CDB9-98FD-0E6388B9FB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4CFC7D0E-2827-0D0C-D5C9-D4B737A3C70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3260BB62-66BC-EB1A-8509-3FB4DFA869F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94614924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D478EA5C-699D-BFA7-E262-D162D2242C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C84D1917-010E-CFA3-BC04-BCEA1490CAA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10603DDB-2084-19AD-7B0C-2A02505B40E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09672681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2C5A5E9A-7A60-16E4-B6D5-6FA9BF53F2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8FBDEE58-FB5A-93BE-F739-ED8B9D4FA33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05595482-D3C5-0F4A-4750-E7C7AA9859B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53311865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F79134AB-9996-4EA9-C248-A100F29786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BFAF4659-FFA9-4E74-BDB4-8C290B0486B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307E2FD9-C67D-77B4-72A7-5AEC645F84B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52633858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24F338E1-A106-9323-0359-C0D68312D2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97CDD9A1-2C89-8F4A-8A60-1115BBF396C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9304556A-7F6D-E580-D160-69E6F18293E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66126417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AC02CF54-A0A3-FB3D-F46D-2381F0315D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69070272-617D-A96B-282C-1937225EE14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29DDBDCD-B7CA-093D-F05A-C83D5AE991D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62913731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E0E0D17C-2577-BA57-250C-8B508577FF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45BD11CE-FFE8-2579-6B53-C509BAA12A8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D0A46F13-47F1-89E4-DC0F-9A86BC3AFA3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77403080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732D7F6B-33B5-02AA-DC12-3883D50B60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90870D97-654D-AFDD-97ED-120288D802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E1EEB41F-C020-B647-BD71-6D63E3195BB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90081149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C08827CC-02B6-79CF-16FE-B1493C56B7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8E0048BF-1653-4F39-8891-A7A95935326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915E2FC2-CC64-23DC-9D5F-4C60E00B262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43179973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FF1FF535-CD38-D061-EB63-202A64F448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5EE647AD-ABFE-BF0A-3FBA-159E448434D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F035BBC3-F7E7-EDCE-9F77-FC0F5C33FF7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57419624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76175188-D812-D1B3-97A5-16E9E11109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E5140594-34C5-1AA7-2988-9FEAE2526A7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40EE7180-B86F-E2DD-02B0-D5D1BEAB692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428969613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3BE1CCE3-BC18-12FD-59AB-BB879E6F49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B11B038F-24E1-0481-0445-551A0BE522A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F566F2B8-7E68-B95F-0524-4A25E78038A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421988740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D46792B0-9133-04A2-2759-C4228F02CA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2E2B91A1-0A84-6A61-5F42-0F1152136D4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CD58613D-5CCB-2F07-9879-B193BB084E0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06409822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CC3C8252-301C-5851-DD96-CB0B3D1E02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ED08F3A7-AE80-143C-600B-4627A889B1F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2B5399B4-772E-8DAE-581C-EE42F1B256E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2559934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46"/>
          <p:cNvSpPr txBox="1"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46"/>
          <p:cNvSpPr txBox="1">
            <a:spLocks noGrp="1"/>
          </p:cNvSpPr>
          <p:nvPr>
            <p:ph type="subTitle" idx="1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46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63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64"/>
          <p:cNvSpPr txBox="1"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64"/>
          <p:cNvSpPr txBox="1">
            <a:spLocks noGrp="1"/>
          </p:cNvSpPr>
          <p:nvPr>
            <p:ph type="body" idx="1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64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" type="twoObj">
  <p:cSld name="TWO_OBJECTS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5"/>
          <p:cNvSpPr txBox="1"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65"/>
          <p:cNvSpPr txBox="1">
            <a:spLocks noGrp="1"/>
          </p:cNvSpPr>
          <p:nvPr>
            <p:ph type="body" idx="1"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65"/>
          <p:cNvSpPr txBox="1">
            <a:spLocks noGrp="1"/>
          </p:cNvSpPr>
          <p:nvPr>
            <p:ph type="body" idx="2"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5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6"/>
          <p:cNvSpPr txBox="1"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66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entered Text" type="objOnly">
  <p:cSld name="OBJECT_ONL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7"/>
          <p:cNvSpPr txBox="1">
            <a:spLocks noGrp="1"/>
          </p:cNvSpPr>
          <p:nvPr>
            <p:ph type="subTitle" idx="1"/>
          </p:nvPr>
        </p:nvSpPr>
        <p:spPr>
          <a:xfrm>
            <a:off x="311760" y="744480"/>
            <a:ext cx="8520120" cy="95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67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and Content" type="twoObjAndObj">
  <p:cSld name="TWO_OBJECTS_AND_OBJEC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8"/>
          <p:cNvSpPr txBox="1"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68"/>
          <p:cNvSpPr txBox="1">
            <a:spLocks noGrp="1"/>
          </p:cNvSpPr>
          <p:nvPr>
            <p:ph type="body" idx="1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68"/>
          <p:cNvSpPr txBox="1">
            <a:spLocks noGrp="1"/>
          </p:cNvSpPr>
          <p:nvPr>
            <p:ph type="body" idx="2"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8"/>
          <p:cNvSpPr txBox="1">
            <a:spLocks noGrp="1"/>
          </p:cNvSpPr>
          <p:nvPr>
            <p:ph type="body" idx="3"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8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Content and 2 Content" type="objAndTwoObj">
  <p:cSld name="OBJECT_AND_TWO_OBJECTS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9"/>
          <p:cNvSpPr txBox="1"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69"/>
          <p:cNvSpPr txBox="1">
            <a:spLocks noGrp="1"/>
          </p:cNvSpPr>
          <p:nvPr>
            <p:ph type="body" idx="1"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69"/>
          <p:cNvSpPr txBox="1">
            <a:spLocks noGrp="1"/>
          </p:cNvSpPr>
          <p:nvPr>
            <p:ph type="body" idx="2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69"/>
          <p:cNvSpPr txBox="1">
            <a:spLocks noGrp="1"/>
          </p:cNvSpPr>
          <p:nvPr>
            <p:ph type="body" idx="3"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9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over Content" type="twoObjOverTx">
  <p:cSld name="TWO_OBJECTS_OVER_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0"/>
          <p:cNvSpPr txBox="1"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0"/>
          <p:cNvSpPr txBox="1">
            <a:spLocks noGrp="1"/>
          </p:cNvSpPr>
          <p:nvPr>
            <p:ph type="body" idx="1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0"/>
          <p:cNvSpPr txBox="1">
            <a:spLocks noGrp="1"/>
          </p:cNvSpPr>
          <p:nvPr>
            <p:ph type="body" idx="2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70"/>
          <p:cNvSpPr txBox="1">
            <a:spLocks noGrp="1"/>
          </p:cNvSpPr>
          <p:nvPr>
            <p:ph type="body" idx="3"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0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 over Content" type="objOverTx">
  <p:cSld name="OBJECT_OVER_TEXT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1"/>
          <p:cNvSpPr txBox="1"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71"/>
          <p:cNvSpPr txBox="1">
            <a:spLocks noGrp="1"/>
          </p:cNvSpPr>
          <p:nvPr>
            <p:ph type="body" idx="1"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71"/>
          <p:cNvSpPr txBox="1">
            <a:spLocks noGrp="1"/>
          </p:cNvSpPr>
          <p:nvPr>
            <p:ph type="body" idx="2"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71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4 Content" type="fourObj">
  <p:cSld name="FOUR_OBJECTS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72"/>
          <p:cNvSpPr txBox="1"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72"/>
          <p:cNvSpPr txBox="1">
            <a:spLocks noGrp="1"/>
          </p:cNvSpPr>
          <p:nvPr>
            <p:ph type="body" idx="1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72"/>
          <p:cNvSpPr txBox="1">
            <a:spLocks noGrp="1"/>
          </p:cNvSpPr>
          <p:nvPr>
            <p:ph type="body" idx="2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72"/>
          <p:cNvSpPr txBox="1">
            <a:spLocks noGrp="1"/>
          </p:cNvSpPr>
          <p:nvPr>
            <p:ph type="body" idx="3"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72"/>
          <p:cNvSpPr txBox="1">
            <a:spLocks noGrp="1"/>
          </p:cNvSpPr>
          <p:nvPr>
            <p:ph type="body" idx="4"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72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6 Content">
  <p:cSld name="Title, 6 Conten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73"/>
          <p:cNvSpPr txBox="1"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73"/>
          <p:cNvSpPr txBox="1">
            <a:spLocks noGrp="1"/>
          </p:cNvSpPr>
          <p:nvPr>
            <p:ph type="body" idx="1"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73"/>
          <p:cNvSpPr txBox="1">
            <a:spLocks noGrp="1"/>
          </p:cNvSpPr>
          <p:nvPr>
            <p:ph type="body" idx="2"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73"/>
          <p:cNvSpPr txBox="1">
            <a:spLocks noGrp="1"/>
          </p:cNvSpPr>
          <p:nvPr>
            <p:ph type="body" idx="3"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73"/>
          <p:cNvSpPr txBox="1">
            <a:spLocks noGrp="1"/>
          </p:cNvSpPr>
          <p:nvPr>
            <p:ph type="body" idx="4"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73"/>
          <p:cNvSpPr txBox="1">
            <a:spLocks noGrp="1"/>
          </p:cNvSpPr>
          <p:nvPr>
            <p:ph type="body" idx="5"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73"/>
          <p:cNvSpPr txBox="1">
            <a:spLocks noGrp="1"/>
          </p:cNvSpPr>
          <p:nvPr>
            <p:ph type="body" idx="6"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73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5"/>
          <p:cNvSpPr txBox="1"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45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" name="Google Shape;12;p45"/>
          <p:cNvSpPr txBox="1">
            <a:spLocks noGrp="1"/>
          </p:cNvSpPr>
          <p:nvPr>
            <p:ph type="body" idx="1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"/>
          <p:cNvSpPr txBox="1">
            <a:spLocks noGrp="1"/>
          </p:cNvSpPr>
          <p:nvPr>
            <p:ph type="title"/>
          </p:nvPr>
        </p:nvSpPr>
        <p:spPr>
          <a:xfrm>
            <a:off x="311760" y="217080"/>
            <a:ext cx="8520120" cy="2052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b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61DD"/>
              </a:buClr>
              <a:buSzPts val="4600"/>
              <a:buFont typeface="Mulish ExtraBold"/>
              <a:buNone/>
            </a:pPr>
            <a:r>
              <a:rPr lang="ru" sz="4600" b="0" strike="noStrike">
                <a:solidFill>
                  <a:srgbClr val="7F61DD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ДЕНЬ ОТКРЫТЫХ ДВЕРЕЙ</a:t>
            </a:r>
            <a:endParaRPr sz="46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2" name="Google Shape;142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5" y="275"/>
            <a:ext cx="9143640" cy="514296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"/>
          <p:cNvSpPr txBox="1">
            <a:spLocks noGrp="1"/>
          </p:cNvSpPr>
          <p:nvPr>
            <p:ph type="title"/>
          </p:nvPr>
        </p:nvSpPr>
        <p:spPr>
          <a:xfrm>
            <a:off x="311760" y="499860"/>
            <a:ext cx="4813200" cy="261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noAutofit/>
          </a:bodyPr>
          <a:lstStyle/>
          <a:p>
            <a:pPr lvl="0" algn="ctr">
              <a:buClr>
                <a:srgbClr val="FFFFFF"/>
              </a:buClr>
              <a:buSzPts val="5200"/>
            </a:pPr>
            <a:r>
              <a:rPr lang="ru-RU" sz="4000" dirty="0">
                <a:solidFill>
                  <a:srgbClr val="FFFFFF"/>
                </a:solidFill>
                <a:latin typeface="Mulish Black"/>
                <a:ea typeface="Mulish Black"/>
                <a:cs typeface="Mulish Black"/>
                <a:sym typeface="Mulish Black"/>
              </a:rPr>
              <a:t>Тема</a:t>
            </a:r>
            <a:r>
              <a:rPr lang="en-US" sz="4000" dirty="0">
                <a:solidFill>
                  <a:srgbClr val="FFFFFF"/>
                </a:solidFill>
                <a:latin typeface="Mulish Black"/>
                <a:ea typeface="Mulish Black"/>
                <a:cs typeface="Mulish Black"/>
                <a:sym typeface="Mulish Black"/>
              </a:rPr>
              <a:t> 9. </a:t>
            </a:r>
            <a:r>
              <a:rPr lang="ru-RU" sz="4000" dirty="0">
                <a:solidFill>
                  <a:srgbClr val="FFFFFF"/>
                </a:solidFill>
                <a:latin typeface="Mulish Black"/>
                <a:ea typeface="Mulish Black"/>
                <a:cs typeface="Mulish Black"/>
                <a:sym typeface="Mulish Black"/>
              </a:rPr>
              <a:t>Конфигурация проекта и логика событий</a:t>
            </a:r>
            <a:endParaRPr sz="4000" b="0" strike="noStrik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4" name="Google Shape;144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6040" y="4295880"/>
            <a:ext cx="3405960" cy="347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Рисунок 5" descr="Picture background">
            <a:extLst>
              <a:ext uri="{FF2B5EF4-FFF2-40B4-BE49-F238E27FC236}">
                <a16:creationId xmlns:a16="http://schemas.microsoft.com/office/drawing/2014/main" id="{3605D530-78B4-D96B-5E5D-8AD558CBAD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3000" y="2396837"/>
            <a:ext cx="2619000" cy="2619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1661189C-46F6-4CD9-DDDE-0B2E5FF572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9;g30f32ff6c42_0_5">
            <a:extLst>
              <a:ext uri="{FF2B5EF4-FFF2-40B4-BE49-F238E27FC236}">
                <a16:creationId xmlns:a16="http://schemas.microsoft.com/office/drawing/2014/main" id="{DB4BADD6-2AE5-D570-8470-5225E447047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8525" y="283676"/>
            <a:ext cx="8346900" cy="75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20"/>
              <a:buFont typeface="Mulish Black"/>
              <a:buNone/>
            </a:pPr>
            <a:r>
              <a:rPr lang="ru" sz="3420" dirty="0">
                <a:solidFill>
                  <a:schemeClr val="bg1">
                    <a:lumMod val="85000"/>
                  </a:schemeClr>
                </a:solidFill>
                <a:latin typeface="Mulish Black"/>
                <a:ea typeface="Mulish Black"/>
                <a:cs typeface="Mulish Black"/>
                <a:sym typeface="Mulish Black"/>
              </a:rPr>
              <a:t>Цель занятия:</a:t>
            </a:r>
            <a:endParaRPr sz="3420" dirty="0">
              <a:solidFill>
                <a:schemeClr val="bg1">
                  <a:lumMod val="85000"/>
                </a:schemeClr>
              </a:solidFill>
              <a:latin typeface="Mulish Black"/>
              <a:ea typeface="Mulish Black"/>
              <a:cs typeface="Mulish Black"/>
              <a:sym typeface="Mulish Black"/>
            </a:endParaRPr>
          </a:p>
        </p:txBody>
      </p:sp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6067664F-4901-0A1E-CE0D-48ECCE427D2C}"/>
              </a:ext>
            </a:extLst>
          </p:cNvPr>
          <p:cNvSpPr/>
          <p:nvPr/>
        </p:nvSpPr>
        <p:spPr>
          <a:xfrm>
            <a:off x="320400" y="1207911"/>
            <a:ext cx="8150700" cy="3720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Научить студентов «упаковывать» проект профессионально и понимать событийную природу Node.js.</a:t>
            </a:r>
            <a:endParaRPr sz="3000" b="0" i="0" u="none" strike="noStrike" cap="none" dirty="0">
              <a:solidFill>
                <a:srgbClr val="333333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E8A47345-2906-5DA2-08C2-6D36778F9F0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532469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9;g30f32ff6c42_0_5">
            <a:extLst>
              <a:ext uri="{FF2B5EF4-FFF2-40B4-BE49-F238E27FC236}">
                <a16:creationId xmlns:a16="http://schemas.microsoft.com/office/drawing/2014/main" id="{2C321365-8BB3-751B-D626-A8C38FD08C1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8525" y="283676"/>
            <a:ext cx="8346900" cy="75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20"/>
              <a:buFont typeface="Mulish Black"/>
              <a:buNone/>
            </a:pPr>
            <a:r>
              <a:rPr lang="ru" sz="3420" dirty="0">
                <a:solidFill>
                  <a:schemeClr val="bg1">
                    <a:lumMod val="85000"/>
                  </a:schemeClr>
                </a:solidFill>
                <a:latin typeface="Mulish Black"/>
                <a:ea typeface="Mulish Black"/>
                <a:cs typeface="Mulish Black"/>
                <a:sym typeface="Mulish Black"/>
              </a:rPr>
              <a:t>Учебные вопросы:</a:t>
            </a:r>
            <a:endParaRPr sz="3420" dirty="0">
              <a:solidFill>
                <a:schemeClr val="bg1">
                  <a:lumMod val="85000"/>
                </a:schemeClr>
              </a:solidFill>
              <a:latin typeface="Mulish Black"/>
              <a:ea typeface="Mulish Black"/>
              <a:cs typeface="Mulish Black"/>
              <a:sym typeface="Mulish Black"/>
            </a:endParaRPr>
          </a:p>
        </p:txBody>
      </p:sp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CC3C143E-0B54-BCC4-7C01-340D803FF658}"/>
              </a:ext>
            </a:extLst>
          </p:cNvPr>
          <p:cNvSpPr/>
          <p:nvPr/>
        </p:nvSpPr>
        <p:spPr>
          <a:xfrm>
            <a:off x="320400" y="1207911"/>
            <a:ext cx="8150700" cy="3720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1. Безопасность и гибкость: 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dotenv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и 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process.env</a:t>
            </a:r>
            <a:endParaRPr lang="en-US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sym typeface="Mulish SemiBold"/>
              </a:rPr>
              <a:t>2. Логика событий: Модуль 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sym typeface="Mulish SemiBold"/>
              </a:rPr>
              <a:t>events</a:t>
            </a:r>
            <a:endParaRPr lang="en-US" sz="3000" dirty="0">
              <a:solidFill>
                <a:schemeClr val="bg1">
                  <a:lumMod val="95000"/>
                </a:schemeClr>
              </a:solidFill>
              <a:latin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en-US" sz="3000" dirty="0">
              <a:solidFill>
                <a:srgbClr val="333333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sz="3000" b="0" i="0" u="none" strike="noStrike" cap="none" dirty="0">
              <a:solidFill>
                <a:srgbClr val="333333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5F77FDE5-30BB-2C80-0149-A5DF95C8B0E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D6A9EA9D-1834-3F87-97B3-C8D3490C6C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9;g30f32ff6c42_0_5">
            <a:extLst>
              <a:ext uri="{FF2B5EF4-FFF2-40B4-BE49-F238E27FC236}">
                <a16:creationId xmlns:a16="http://schemas.microsoft.com/office/drawing/2014/main" id="{05BCE706-32DC-49BF-5BEF-B7F6F1A62FF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8525" y="283676"/>
            <a:ext cx="8346900" cy="75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20"/>
              <a:buFont typeface="Mulish Black"/>
              <a:buNone/>
            </a:pPr>
            <a:r>
              <a:rPr lang="ru-RU" sz="3420" dirty="0">
                <a:solidFill>
                  <a:schemeClr val="bg1">
                    <a:lumMod val="85000"/>
                  </a:schemeClr>
                </a:solidFill>
                <a:latin typeface="Mulish Black"/>
                <a:ea typeface="Mulish Black"/>
                <a:cs typeface="Mulish Black"/>
                <a:sym typeface="Mulish Black"/>
              </a:rPr>
              <a:t>1. Безопасность и гибкость: </a:t>
            </a:r>
            <a:r>
              <a:rPr lang="ru-RU" sz="3420" dirty="0" err="1">
                <a:solidFill>
                  <a:schemeClr val="bg1">
                    <a:lumMod val="85000"/>
                  </a:schemeClr>
                </a:solidFill>
                <a:latin typeface="Mulish Black"/>
                <a:ea typeface="Mulish Black"/>
                <a:cs typeface="Mulish Black"/>
                <a:sym typeface="Mulish Black"/>
              </a:rPr>
              <a:t>dotenv</a:t>
            </a:r>
            <a:r>
              <a:rPr lang="ru-RU" sz="3420" dirty="0">
                <a:solidFill>
                  <a:schemeClr val="bg1">
                    <a:lumMod val="85000"/>
                  </a:schemeClr>
                </a:solidFill>
                <a:latin typeface="Mulish Black"/>
                <a:ea typeface="Mulish Black"/>
                <a:cs typeface="Mulish Black"/>
                <a:sym typeface="Mulish Black"/>
              </a:rPr>
              <a:t> и </a:t>
            </a:r>
            <a:r>
              <a:rPr lang="ru-RU" sz="3420" dirty="0" err="1">
                <a:solidFill>
                  <a:schemeClr val="bg1">
                    <a:lumMod val="85000"/>
                  </a:schemeClr>
                </a:solidFill>
                <a:latin typeface="Mulish Black"/>
                <a:ea typeface="Mulish Black"/>
                <a:cs typeface="Mulish Black"/>
                <a:sym typeface="Mulish Black"/>
              </a:rPr>
              <a:t>process.env</a:t>
            </a:r>
            <a:endParaRPr sz="3420" dirty="0">
              <a:solidFill>
                <a:schemeClr val="bg1">
                  <a:lumMod val="85000"/>
                </a:schemeClr>
              </a:solidFill>
              <a:latin typeface="Mulish Black"/>
              <a:ea typeface="Mulish Black"/>
              <a:cs typeface="Mulish Black"/>
              <a:sym typeface="Mulish Black"/>
            </a:endParaRPr>
          </a:p>
        </p:txBody>
      </p:sp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935EFA4D-36CB-FFB1-B428-A3FE2F4BEECA}"/>
              </a:ext>
            </a:extLst>
          </p:cNvPr>
          <p:cNvSpPr/>
          <p:nvPr/>
        </p:nvSpPr>
        <p:spPr>
          <a:xfrm>
            <a:off x="320400" y="1806221"/>
            <a:ext cx="8150700" cy="31222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Код - это общественное достояние (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Git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), а настройки - это личная тайна.</a:t>
            </a:r>
            <a:endParaRPr sz="3000" b="0" i="0" u="none" strike="noStrike" cap="none" dirty="0">
              <a:solidFill>
                <a:srgbClr val="333333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36E7D912-FA7F-2A52-855B-84A9B7456D9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130625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10BF6BB5-4D44-092C-CB17-AB7FE8B66F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6B6B94BE-9935-740D-1677-3A6C3470B8DC}"/>
              </a:ext>
            </a:extLst>
          </p:cNvPr>
          <p:cNvSpPr/>
          <p:nvPr/>
        </p:nvSpPr>
        <p:spPr>
          <a:xfrm>
            <a:off x="320399" y="502276"/>
            <a:ext cx="8359961" cy="442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 indent="180975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В профессиональной разработке нельзя записывать настройки (пароли, ключи API, порты) прямо в исходный код. </a:t>
            </a:r>
          </a:p>
          <a:p>
            <a:pPr lvl="0" indent="180975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Если такой код попадет в публичный репозиторий, проект будет скомпрометирован.</a:t>
            </a: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2E2E7FB7-A9C9-18AF-D5E5-AD0C9A6AAF3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935798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666ED7FF-6A75-0C40-7DFA-06000ABFBD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EE7F9C6C-A6FA-2B6C-34B2-FFFA6B02BC67}"/>
              </a:ext>
            </a:extLst>
          </p:cNvPr>
          <p:cNvSpPr/>
          <p:nvPr/>
        </p:nvSpPr>
        <p:spPr>
          <a:xfrm>
            <a:off x="320399" y="502276"/>
            <a:ext cx="8359961" cy="442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lvl="0" indent="180975" algn="ctr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b="1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Глобальный объект </a:t>
            </a:r>
            <a:r>
              <a:rPr lang="ru-RU" sz="3000" b="1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process.env</a:t>
            </a:r>
            <a:endParaRPr lang="ru-RU" sz="3000" b="1" dirty="0">
              <a:solidFill>
                <a:srgbClr val="FFFF00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 indent="180975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В Node.js есть встроенный объект 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process.env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. В нем хранятся переменные окружения - настройки той операционной системы, в которой запущен ваш скрипт.</a:t>
            </a:r>
          </a:p>
          <a:p>
            <a:pPr lvl="0" indent="180975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 indent="180975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Например, 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process.env.USER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вернет имя пользователя в системе.</a:t>
            </a:r>
          </a:p>
          <a:p>
            <a:pPr lvl="0" indent="180975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 indent="180975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Мы можем использовать этот объект для передачи настроек в наше приложение.</a:t>
            </a:r>
            <a:endParaRPr sz="3000" b="0" i="0" u="none" strike="noStrike" cap="none" dirty="0">
              <a:solidFill>
                <a:srgbClr val="333333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5CFE9647-0761-8B04-D5E1-D4884DAC485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968263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BDD51A07-5007-B08B-F23A-C039125E77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5AE2CF08-8CC9-34F6-CD90-D0D96FF9CC5C}"/>
              </a:ext>
            </a:extLst>
          </p:cNvPr>
          <p:cNvSpPr/>
          <p:nvPr/>
        </p:nvSpPr>
        <p:spPr>
          <a:xfrm>
            <a:off x="320399" y="502276"/>
            <a:ext cx="8359961" cy="442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 indent="180975" algn="ctr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b="1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Зачем нужен модуль </a:t>
            </a:r>
            <a:r>
              <a:rPr lang="ru-RU" sz="3000" b="1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dotenv</a:t>
            </a:r>
            <a:r>
              <a:rPr lang="ru-RU" sz="3000" b="1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?</a:t>
            </a:r>
          </a:p>
          <a:p>
            <a:pPr lvl="0" indent="180975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Настраивать переменные в Windows или Linux вручную перед каждым запуском неудобно. </a:t>
            </a:r>
            <a:endParaRPr lang="en-US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 indent="180975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Модуль 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dotenv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позволяет хранить все настройки в простом текстовом файле, который автоматически «подгружается» в 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process.env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при старте программы.</a:t>
            </a: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C38003B2-04D8-B48C-3E3C-40AB00C1A4A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864068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DEE39DB7-5A2A-4E2F-DD2A-2BB575ABF9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3CC17C74-1383-E967-AD65-796F5B4B8B03}"/>
              </a:ext>
            </a:extLst>
          </p:cNvPr>
          <p:cNvSpPr/>
          <p:nvPr/>
        </p:nvSpPr>
        <p:spPr>
          <a:xfrm>
            <a:off x="320399" y="502276"/>
            <a:ext cx="8359961" cy="442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 indent="180975" algn="ctr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b="1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Практическая реализация</a:t>
            </a:r>
          </a:p>
          <a:p>
            <a:pPr lvl="0" indent="180975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Шаг 1: Установка</a:t>
            </a:r>
          </a:p>
          <a:p>
            <a:pPr lvl="0" indent="180975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Так как эта библиотека нужна для работы самого приложения, устанавливаем её как обычную зависимость:</a:t>
            </a:r>
            <a:endParaRPr sz="3000" b="0" i="0" u="none" strike="noStrike" cap="none" dirty="0">
              <a:solidFill>
                <a:srgbClr val="333333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6B507B4E-6A86-D70B-1DC4-FC7F6AF6205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A36AB09-E135-E3AD-0015-B92198D9C6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640" y="3352798"/>
            <a:ext cx="8049491" cy="846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1169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164E85BB-98BC-4E6F-5D86-133A5009D0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4E47CC39-C3C0-C90C-62F1-12C9C8F623EF}"/>
              </a:ext>
            </a:extLst>
          </p:cNvPr>
          <p:cNvSpPr/>
          <p:nvPr/>
        </p:nvSpPr>
        <p:spPr>
          <a:xfrm>
            <a:off x="320399" y="502277"/>
            <a:ext cx="8359961" cy="2850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lvl="0" indent="180975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Шаг 2: Создание файла .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env</a:t>
            </a: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 indent="180975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В корне проекта создается файл с названием .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env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(точка в начале обязательна). </a:t>
            </a:r>
          </a:p>
          <a:p>
            <a:pPr lvl="0" indent="180975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В левой панели (Explorer) нажмите правой кнопкой мыши на пустом месте (или нажмите иконку листочка с плюсиком).</a:t>
            </a:r>
          </a:p>
          <a:p>
            <a:pPr lvl="0" indent="180975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Введите имя файла: 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.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env</a:t>
            </a:r>
            <a:endParaRPr lang="ru-RU" sz="3000" dirty="0">
              <a:solidFill>
                <a:srgbClr val="FFFF00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 indent="180975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Нажмите Enter.</a:t>
            </a:r>
            <a:endParaRPr sz="3000" b="0" i="0" u="none" strike="noStrike" cap="none" dirty="0">
              <a:solidFill>
                <a:srgbClr val="333333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27DCF598-B2A9-08BB-4151-2AE61075C61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730DC61-E7E5-3CDB-13CB-8400E7CB72A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38343"/>
          <a:stretch>
            <a:fillRect/>
          </a:stretch>
        </p:blipFill>
        <p:spPr>
          <a:xfrm>
            <a:off x="1933045" y="3386666"/>
            <a:ext cx="4600575" cy="1474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4045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74936C18-02D2-78C0-040F-DFDC3BC6B6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8ADB8F17-E55C-4182-C2FF-6875A7C4604C}"/>
              </a:ext>
            </a:extLst>
          </p:cNvPr>
          <p:cNvSpPr/>
          <p:nvPr/>
        </p:nvSpPr>
        <p:spPr>
          <a:xfrm>
            <a:off x="320399" y="502276"/>
            <a:ext cx="8359961" cy="442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 indent="180975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В нем пишутся пары ключ-значение без пробелов:</a:t>
            </a:r>
          </a:p>
          <a:p>
            <a:pPr lvl="0" indent="180975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BDB72120-9A58-037F-80F4-61955548622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5B54692-23C8-D0C9-819D-40203ABC65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167" y="1811867"/>
            <a:ext cx="7639665" cy="187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37683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0175852C-A3C9-3A5C-946D-AA513942F6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27B3A7DE-CA73-DF4F-84B5-2B77BF89A596}"/>
              </a:ext>
            </a:extLst>
          </p:cNvPr>
          <p:cNvSpPr/>
          <p:nvPr/>
        </p:nvSpPr>
        <p:spPr>
          <a:xfrm>
            <a:off x="320399" y="502277"/>
            <a:ext cx="8359961" cy="2069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lvl="0" indent="180975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Шаг 3: Использование в коде</a:t>
            </a:r>
          </a:p>
          <a:p>
            <a:pPr lvl="0" indent="180975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Чтобы Node.js «увидел» эти данные, библиотеку нужно подключить в самом начале главного файла (index.js):</a:t>
            </a:r>
            <a:endParaRPr sz="3000" b="0" i="0" u="none" strike="noStrike" cap="none" dirty="0">
              <a:solidFill>
                <a:srgbClr val="333333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DC8B7310-2748-E295-CB27-8D0DF80A176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C79D563-0F84-8130-AE41-F783F54295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3190" y="2488930"/>
            <a:ext cx="6976006" cy="2338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15865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C5132D1E-391E-7D0B-A72F-71B58BDC2D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15F0E277-AC03-F123-E966-44CE3D1BE671}"/>
              </a:ext>
            </a:extLst>
          </p:cNvPr>
          <p:cNvSpPr/>
          <p:nvPr/>
        </p:nvSpPr>
        <p:spPr>
          <a:xfrm>
            <a:off x="320399" y="502276"/>
            <a:ext cx="8359961" cy="442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lvl="0" indent="180975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Золотое правило безопасности: 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.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gitignore</a:t>
            </a:r>
            <a:endParaRPr lang="ru-RU" sz="3000" dirty="0">
              <a:solidFill>
                <a:srgbClr val="FFFF00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 indent="180975">
              <a:lnSpc>
                <a:spcPct val="115000"/>
              </a:lnSpc>
              <a:buClr>
                <a:srgbClr val="333333"/>
              </a:buClr>
              <a:buSzPts val="1800"/>
            </a:pPr>
            <a:endParaRPr lang="en-US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 indent="180975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Файл 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.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env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никогда не должен попадать в 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Git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(на 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GitHub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/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GitLab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).</a:t>
            </a:r>
          </a:p>
          <a:p>
            <a:pPr lvl="0" indent="180975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Создайте файл 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.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gitignore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.</a:t>
            </a:r>
          </a:p>
          <a:p>
            <a:pPr lvl="0" indent="180975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Добавьте в него строку: .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env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.</a:t>
            </a:r>
          </a:p>
          <a:p>
            <a:pPr lvl="0" indent="180975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 indent="180975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Чтобы другие разработчики знали, какие настройки нужны проекту, принято создавать файл-шаблон 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.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env.example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, где ключи есть, а реальных секретных значений (паролей) - нет.</a:t>
            </a: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5E7C48CB-87CD-7014-2315-F5929CC75B6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246648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3F9164D3-21D0-5909-181A-1A8A9429FF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D2E4D460-5F2C-2D1D-778B-34F490D34556}"/>
              </a:ext>
            </a:extLst>
          </p:cNvPr>
          <p:cNvSpPr/>
          <p:nvPr/>
        </p:nvSpPr>
        <p:spPr>
          <a:xfrm>
            <a:off x="320399" y="502276"/>
            <a:ext cx="8359961" cy="442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lvl="0" indent="180975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Итог:</a:t>
            </a:r>
          </a:p>
          <a:p>
            <a:pPr lvl="0" indent="180975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100" dirty="0" err="1">
                <a:solidFill>
                  <a:srgbClr val="FFFF00"/>
                </a:solidFill>
                <a:latin typeface="Mulish SemiBold"/>
                <a:sym typeface="Mulish SemiBold"/>
              </a:rPr>
              <a:t>process.env</a:t>
            </a:r>
            <a:r>
              <a:rPr lang="ru-RU" sz="3100" dirty="0">
                <a:solidFill>
                  <a:srgbClr val="FFFF00"/>
                </a:solidFill>
                <a:latin typeface="Mulish SemiBold"/>
                <a:sym typeface="Mulish SemiBold"/>
              </a:rPr>
              <a:t> </a:t>
            </a:r>
            <a:r>
              <a:rPr lang="ru-RU" sz="3100" dirty="0">
                <a:solidFill>
                  <a:schemeClr val="bg1">
                    <a:lumMod val="95000"/>
                  </a:schemeClr>
                </a:solidFill>
                <a:latin typeface="Mulish SemiBold"/>
                <a:sym typeface="Mulish SemiBold"/>
              </a:rPr>
              <a:t>- встроенный объект Node.js для доступа к настройкам окружения.</a:t>
            </a:r>
          </a:p>
          <a:p>
            <a:pPr lvl="0" indent="180975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100" dirty="0">
              <a:solidFill>
                <a:schemeClr val="bg1">
                  <a:lumMod val="95000"/>
                </a:schemeClr>
              </a:solidFill>
              <a:latin typeface="Mulish SemiBold"/>
              <a:sym typeface="Mulish SemiBold"/>
            </a:endParaRPr>
          </a:p>
          <a:p>
            <a:pPr lvl="0" indent="180975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100" dirty="0">
                <a:solidFill>
                  <a:srgbClr val="FFFF00"/>
                </a:solidFill>
                <a:latin typeface="Mulish SemiBold"/>
                <a:sym typeface="Mulish SemiBold"/>
              </a:rPr>
              <a:t>.</a:t>
            </a:r>
            <a:r>
              <a:rPr lang="ru-RU" sz="3100" dirty="0" err="1">
                <a:solidFill>
                  <a:srgbClr val="FFFF00"/>
                </a:solidFill>
                <a:latin typeface="Mulish SemiBold"/>
                <a:sym typeface="Mulish SemiBold"/>
              </a:rPr>
              <a:t>env</a:t>
            </a:r>
            <a:r>
              <a:rPr lang="ru-RU" sz="3100" dirty="0">
                <a:solidFill>
                  <a:srgbClr val="FFFF00"/>
                </a:solidFill>
                <a:latin typeface="Mulish SemiBold"/>
                <a:sym typeface="Mulish SemiBold"/>
              </a:rPr>
              <a:t> </a:t>
            </a:r>
            <a:r>
              <a:rPr lang="ru-RU" sz="3100" dirty="0">
                <a:solidFill>
                  <a:schemeClr val="bg1">
                    <a:lumMod val="95000"/>
                  </a:schemeClr>
                </a:solidFill>
                <a:latin typeface="Mulish SemiBold"/>
                <a:sym typeface="Mulish SemiBold"/>
              </a:rPr>
              <a:t>- файл-хранилище секретов и настроек.</a:t>
            </a:r>
          </a:p>
          <a:p>
            <a:pPr lvl="0" indent="180975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100" dirty="0">
              <a:solidFill>
                <a:schemeClr val="bg1">
                  <a:lumMod val="95000"/>
                </a:schemeClr>
              </a:solidFill>
              <a:latin typeface="Mulish SemiBold"/>
              <a:sym typeface="Mulish SemiBold"/>
            </a:endParaRPr>
          </a:p>
          <a:p>
            <a:pPr lvl="0" indent="180975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100" dirty="0" err="1">
                <a:solidFill>
                  <a:srgbClr val="FFFF00"/>
                </a:solidFill>
                <a:latin typeface="Mulish SemiBold"/>
                <a:sym typeface="Mulish SemiBold"/>
              </a:rPr>
              <a:t>dotenv</a:t>
            </a:r>
            <a:r>
              <a:rPr lang="ru-RU" sz="3100" dirty="0">
                <a:solidFill>
                  <a:schemeClr val="bg1">
                    <a:lumMod val="95000"/>
                  </a:schemeClr>
                </a:solidFill>
                <a:latin typeface="Mulish SemiBold"/>
                <a:sym typeface="Mulish SemiBold"/>
              </a:rPr>
              <a:t> - мост, который переносит данные из файла в объект </a:t>
            </a:r>
            <a:r>
              <a:rPr lang="ru-RU" sz="3100" dirty="0" err="1">
                <a:solidFill>
                  <a:schemeClr val="bg1">
                    <a:lumMod val="95000"/>
                  </a:schemeClr>
                </a:solidFill>
                <a:latin typeface="Mulish SemiBold"/>
                <a:sym typeface="Mulish SemiBold"/>
              </a:rPr>
              <a:t>process.env</a:t>
            </a:r>
            <a:r>
              <a:rPr lang="ru-RU" sz="3100" dirty="0">
                <a:solidFill>
                  <a:schemeClr val="bg1">
                    <a:lumMod val="95000"/>
                  </a:schemeClr>
                </a:solidFill>
                <a:latin typeface="Mulish SemiBold"/>
                <a:sym typeface="Mulish SemiBold"/>
              </a:rPr>
              <a:t>.</a:t>
            </a:r>
          </a:p>
          <a:p>
            <a:pPr lvl="0" indent="180975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100" dirty="0">
              <a:solidFill>
                <a:schemeClr val="bg1">
                  <a:lumMod val="95000"/>
                </a:schemeClr>
              </a:solidFill>
              <a:latin typeface="Mulish SemiBold"/>
              <a:sym typeface="Mulish SemiBold"/>
            </a:endParaRPr>
          </a:p>
          <a:p>
            <a:pPr lvl="0" indent="180975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100" dirty="0">
                <a:solidFill>
                  <a:srgbClr val="FFFF00"/>
                </a:solidFill>
                <a:latin typeface="Mulish SemiBold"/>
                <a:sym typeface="Mulish SemiBold"/>
              </a:rPr>
              <a:t>.</a:t>
            </a:r>
            <a:r>
              <a:rPr lang="ru-RU" sz="3100" dirty="0" err="1">
                <a:solidFill>
                  <a:srgbClr val="FFFF00"/>
                </a:solidFill>
                <a:latin typeface="Mulish SemiBold"/>
                <a:sym typeface="Mulish SemiBold"/>
              </a:rPr>
              <a:t>gitignore</a:t>
            </a:r>
            <a:r>
              <a:rPr lang="ru-RU" sz="3100" dirty="0">
                <a:solidFill>
                  <a:srgbClr val="FFFF00"/>
                </a:solidFill>
                <a:latin typeface="Mulish SemiBold"/>
                <a:sym typeface="Mulish SemiBold"/>
              </a:rPr>
              <a:t> </a:t>
            </a:r>
            <a:r>
              <a:rPr lang="ru-RU" sz="3100" dirty="0">
                <a:solidFill>
                  <a:schemeClr val="bg1">
                    <a:lumMod val="95000"/>
                  </a:schemeClr>
                </a:solidFill>
                <a:latin typeface="Mulish SemiBold"/>
                <a:sym typeface="Mulish SemiBold"/>
              </a:rPr>
              <a:t>- обязательный щит, защищающий ваш .</a:t>
            </a:r>
            <a:r>
              <a:rPr lang="ru-RU" sz="3100" dirty="0" err="1">
                <a:solidFill>
                  <a:schemeClr val="bg1">
                    <a:lumMod val="95000"/>
                  </a:schemeClr>
                </a:solidFill>
                <a:latin typeface="Mulish SemiBold"/>
                <a:sym typeface="Mulish SemiBold"/>
              </a:rPr>
              <a:t>env</a:t>
            </a:r>
            <a:r>
              <a:rPr lang="ru-RU" sz="3100" dirty="0">
                <a:solidFill>
                  <a:schemeClr val="bg1">
                    <a:lumMod val="95000"/>
                  </a:schemeClr>
                </a:solidFill>
                <a:latin typeface="Mulish SemiBold"/>
                <a:sym typeface="Mulish SemiBold"/>
              </a:rPr>
              <a:t> от публикации.</a:t>
            </a:r>
            <a:endParaRPr sz="3100" dirty="0">
              <a:solidFill>
                <a:schemeClr val="bg1">
                  <a:lumMod val="95000"/>
                </a:schemeClr>
              </a:solidFill>
              <a:latin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5E21A174-A6D3-9763-CF91-1FCDD6AA08F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78798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67E1C49C-1938-F461-02A6-5F1E16999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9;g30f32ff6c42_0_5">
            <a:extLst>
              <a:ext uri="{FF2B5EF4-FFF2-40B4-BE49-F238E27FC236}">
                <a16:creationId xmlns:a16="http://schemas.microsoft.com/office/drawing/2014/main" id="{96A145A8-17DA-5B1A-46E6-702E9E0073C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8525" y="135467"/>
            <a:ext cx="8346900" cy="541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20"/>
              <a:buFont typeface="Mulish Black"/>
              <a:buNone/>
            </a:pPr>
            <a:r>
              <a:rPr lang="ru-RU" sz="3420" dirty="0">
                <a:solidFill>
                  <a:schemeClr val="bg1"/>
                </a:solidFill>
                <a:latin typeface="Mulish Black"/>
                <a:ea typeface="Mulish Black"/>
                <a:cs typeface="Mulish Black"/>
                <a:sym typeface="Mulish Black"/>
              </a:rPr>
              <a:t>2. Логика событий: Модуль </a:t>
            </a:r>
            <a:r>
              <a:rPr lang="ru-RU" sz="3420" dirty="0" err="1">
                <a:solidFill>
                  <a:schemeClr val="bg1"/>
                </a:solidFill>
                <a:latin typeface="Mulish Black"/>
                <a:ea typeface="Mulish Black"/>
                <a:cs typeface="Mulish Black"/>
                <a:sym typeface="Mulish Black"/>
              </a:rPr>
              <a:t>events</a:t>
            </a:r>
            <a:endParaRPr lang="en-US" sz="3420" dirty="0">
              <a:solidFill>
                <a:schemeClr val="bg1"/>
              </a:solidFill>
              <a:latin typeface="Mulish Black"/>
              <a:ea typeface="Mulish Black"/>
              <a:cs typeface="Mulish Black"/>
              <a:sym typeface="Mulish Black"/>
            </a:endParaRPr>
          </a:p>
        </p:txBody>
      </p:sp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2D864CD3-DB4C-A805-18F7-32D8CDDCBE88}"/>
              </a:ext>
            </a:extLst>
          </p:cNvPr>
          <p:cNvSpPr/>
          <p:nvPr/>
        </p:nvSpPr>
        <p:spPr>
          <a:xfrm>
            <a:off x="320400" y="1467556"/>
            <a:ext cx="8150700" cy="34609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/>
          </a:bodyPr>
          <a:lstStyle/>
          <a:p>
            <a:pPr lvl="0" indent="180975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Большинство встроенных модулей Node.js (включая будущий </a:t>
            </a:r>
            <a:r>
              <a:rPr lang="ru-RU" sz="3000" dirty="0" err="1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http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, </a:t>
            </a:r>
            <a:r>
              <a:rPr lang="ru-RU" sz="3000" dirty="0" err="1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fs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или </a:t>
            </a:r>
            <a:r>
              <a:rPr lang="ru-RU" sz="3000" dirty="0" err="1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stream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) построены на базе событийной архитектуры. </a:t>
            </a:r>
          </a:p>
          <a:p>
            <a:pPr lvl="0" indent="180975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Это означает, что объекты периодически испускают события, а другие объекты на них «подписываются».</a:t>
            </a: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0F399CAB-9F97-1E8C-7DF2-41B62C6C3A4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727451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8E282221-1CA8-449A-3845-4D38AE1424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75B63778-B7E0-BDB0-0595-8CAB3D1E84A0}"/>
              </a:ext>
            </a:extLst>
          </p:cNvPr>
          <p:cNvSpPr/>
          <p:nvPr/>
        </p:nvSpPr>
        <p:spPr>
          <a:xfrm>
            <a:off x="320399" y="502276"/>
            <a:ext cx="8359961" cy="442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/>
          </a:bodyPr>
          <a:lstStyle/>
          <a:p>
            <a:pPr lvl="0" indent="180975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Концепция: Издатель и Слушатель</a:t>
            </a:r>
          </a:p>
          <a:p>
            <a:pPr lvl="0" indent="180975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Представьте кнопку в веб-интерфейсе. Кнопка сама по себе ничего не делает. Но мы можем сказать: «Когда по тебе кликнут - выполни эту функцию». </a:t>
            </a:r>
          </a:p>
          <a:p>
            <a:pPr lvl="0" indent="180975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В Node.js это работает так же, только вместо кликов могут быть любые события: приход данных, завершение загрузки или ошибка.</a:t>
            </a: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E60D0FF3-54F4-D21A-FED4-1C502DA59D7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682017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13A496D1-CC1B-3E29-FDD3-8721487C91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96201F6E-AEDF-3F2F-E9D8-85FC5C247585}"/>
              </a:ext>
            </a:extLst>
          </p:cNvPr>
          <p:cNvSpPr/>
          <p:nvPr/>
        </p:nvSpPr>
        <p:spPr>
          <a:xfrm>
            <a:off x="320399" y="502276"/>
            <a:ext cx="8359961" cy="442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 indent="180975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Класс 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EventEmitter</a:t>
            </a:r>
            <a:endParaRPr lang="ru-RU" sz="3000" dirty="0">
              <a:solidFill>
                <a:srgbClr val="FFFF00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 indent="180975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Основной инструмент для работы с событиями - класс 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EventEmitter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.</a:t>
            </a:r>
          </a:p>
          <a:p>
            <a:pPr lvl="0" indent="180975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 indent="180975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Шаг 1: Подключение и создание</a:t>
            </a:r>
            <a:endParaRPr sz="3000" b="0" i="0" u="none" strike="noStrike" cap="none" dirty="0">
              <a:solidFill>
                <a:srgbClr val="333333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A74E3117-A20A-B771-2586-E35424507B0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C87A129-D4D4-26A6-0AF5-2489C20FAB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829" y="3319639"/>
            <a:ext cx="7824259" cy="1442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12711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94D81885-06CA-BCCB-BC9C-108C433838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F05289D9-2741-92DB-E6F8-D173FC743AA6}"/>
              </a:ext>
            </a:extLst>
          </p:cNvPr>
          <p:cNvSpPr/>
          <p:nvPr/>
        </p:nvSpPr>
        <p:spPr>
          <a:xfrm>
            <a:off x="320399" y="502276"/>
            <a:ext cx="8359961" cy="442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 indent="180975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Шаг 2: Регистрация слушателя (.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on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)</a:t>
            </a:r>
          </a:p>
          <a:p>
            <a:pPr lvl="0" indent="180975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Мы говорим программе, что делать, когда событие произойдет.</a:t>
            </a:r>
            <a:endParaRPr sz="3000" b="0" i="0" u="none" strike="noStrike" cap="none" dirty="0">
              <a:solidFill>
                <a:srgbClr val="333333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2ADFD739-3232-08B7-B2B9-C244018BC5A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400D50E-9175-3B3C-10FC-6AC3A556B6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672" y="2547056"/>
            <a:ext cx="7349714" cy="1291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99174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7AD9F4E9-D39E-C135-AC69-4D39BD8BC7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5BF8EDB6-C79D-0C4A-0F8A-3FD0AE4922F6}"/>
              </a:ext>
            </a:extLst>
          </p:cNvPr>
          <p:cNvSpPr/>
          <p:nvPr/>
        </p:nvSpPr>
        <p:spPr>
          <a:xfrm>
            <a:off x="320399" y="502276"/>
            <a:ext cx="8359961" cy="442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 indent="180975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Шаг 3: Генерация события (.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emit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)</a:t>
            </a:r>
          </a:p>
          <a:p>
            <a:pPr lvl="0" indent="180975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Мы «кричим» о том, что событие случилось.</a:t>
            </a:r>
            <a:endParaRPr sz="3000" b="0" i="0" u="none" strike="noStrike" cap="none" dirty="0">
              <a:solidFill>
                <a:srgbClr val="333333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F4CD652B-CE24-D0A2-4C6D-39D5A3BE254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BF5BFFC-D4F5-4379-D8DB-FE10A672B9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456" y="2571750"/>
            <a:ext cx="7934227" cy="600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2749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25A60004-3FC1-F871-6447-052B6C583C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0BE13290-601D-687C-5C38-EC49623E5806}"/>
              </a:ext>
            </a:extLst>
          </p:cNvPr>
          <p:cNvSpPr/>
          <p:nvPr/>
        </p:nvSpPr>
        <p:spPr>
          <a:xfrm>
            <a:off x="320399" y="502276"/>
            <a:ext cx="8359961" cy="442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lvl="0" indent="180975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Ключевые методы, которые нужно знать:</a:t>
            </a:r>
          </a:p>
          <a:p>
            <a:pPr lvl="0" indent="180975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 indent="180975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on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(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eventName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, 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listener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) 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- подписывается на событие. Будет срабатывать каждый раз, когда оно происходит.</a:t>
            </a:r>
          </a:p>
          <a:p>
            <a:pPr lvl="0" indent="180975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 indent="180975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once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(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eventName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, 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listener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) 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- подписывается на событие, но срабатывает только один раз, после чего подписка удаляется.</a:t>
            </a:r>
          </a:p>
          <a:p>
            <a:pPr lvl="0" indent="180975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 indent="180975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emit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(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eventName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, [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args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]) 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- вызывает событие и передает в него данные.</a:t>
            </a:r>
            <a:endParaRPr sz="3000" b="0" i="0" u="none" strike="noStrike" cap="none" dirty="0">
              <a:solidFill>
                <a:srgbClr val="333333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5CCD1898-0D9E-D9BB-A907-F93F79AFDA4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468027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55061FF4-9200-FE72-3527-0698C41C1D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5A3E0DD3-DC85-C12F-6F66-CA67D96D2C3C}"/>
              </a:ext>
            </a:extLst>
          </p:cNvPr>
          <p:cNvSpPr/>
          <p:nvPr/>
        </p:nvSpPr>
        <p:spPr>
          <a:xfrm>
            <a:off x="320399" y="502276"/>
            <a:ext cx="8359961" cy="442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/>
          <a:p>
            <a:pPr lvl="0" indent="180975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Почему это важно для понимания HTTP?</a:t>
            </a:r>
          </a:p>
          <a:p>
            <a:pPr lvl="0" indent="180975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 indent="180975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Когда мы перейдем к теме сервера, станет понятно, что сервер в Node.js - это тоже 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EventEmitter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.</a:t>
            </a:r>
          </a:p>
          <a:p>
            <a:pPr lvl="0" indent="180975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 indent="180975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Нам не нужно писать бесконечный цикл 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while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(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true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)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, который проверяет почту или запросы.</a:t>
            </a:r>
          </a:p>
          <a:p>
            <a:pPr lvl="0" indent="180975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 indent="180975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Мы просто напишем: 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server.on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('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request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', (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req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, 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res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) =&gt; { ... })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.</a:t>
            </a:r>
          </a:p>
          <a:p>
            <a:pPr lvl="0" indent="180975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 indent="180975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Node.js - это реактивная среда. Программа не идет по строгому списку команд сверху вниз, а «живет» и ждет сигналов (событий) от системы, пользователя или сети.</a:t>
            </a: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D9B94F1B-06A4-3AE9-E362-459629F15D7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812810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18E796D1-A33D-69D2-865F-91469293E2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9;g30f32ff6c42_0_5">
            <a:extLst>
              <a:ext uri="{FF2B5EF4-FFF2-40B4-BE49-F238E27FC236}">
                <a16:creationId xmlns:a16="http://schemas.microsoft.com/office/drawing/2014/main" id="{67E1E050-6FA0-4F33-2072-69B8BAAB0E7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8525" y="135467"/>
            <a:ext cx="8346900" cy="541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20"/>
              <a:buFont typeface="Mulish Black"/>
              <a:buNone/>
            </a:pPr>
            <a:r>
              <a:rPr lang="ru-RU" sz="3420" dirty="0">
                <a:solidFill>
                  <a:schemeClr val="bg1"/>
                </a:solidFill>
                <a:latin typeface="Mulish Black"/>
                <a:ea typeface="Mulish Black"/>
                <a:cs typeface="Mulish Black"/>
                <a:sym typeface="Mulish Black"/>
              </a:rPr>
              <a:t>Практика</a:t>
            </a:r>
            <a:endParaRPr lang="en-US" sz="3420" dirty="0">
              <a:solidFill>
                <a:schemeClr val="bg1"/>
              </a:solidFill>
              <a:latin typeface="Mulish Black"/>
              <a:ea typeface="Mulish Black"/>
              <a:cs typeface="Mulish Black"/>
              <a:sym typeface="Mulish Black"/>
            </a:endParaRPr>
          </a:p>
        </p:txBody>
      </p:sp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62E67028-E8F2-D6A4-8DC8-9CD4B3B69B3D}"/>
              </a:ext>
            </a:extLst>
          </p:cNvPr>
          <p:cNvSpPr/>
          <p:nvPr/>
        </p:nvSpPr>
        <p:spPr>
          <a:xfrm>
            <a:off x="320400" y="767644"/>
            <a:ext cx="8150700" cy="4160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 indent="180975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</a:endParaRPr>
          </a:p>
          <a:p>
            <a:pPr lvl="0" indent="180975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</a:rPr>
              <a:t>Создадим сервис, который следит за состоянием сервера. </a:t>
            </a:r>
          </a:p>
          <a:p>
            <a:pPr lvl="0" indent="180975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</a:rPr>
              <a:t>Если температура процессора или нагрузка превышает норму, сервис должен «прокричать» об этом.</a:t>
            </a: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3C4CC2B6-04E9-C819-3744-A84C4443386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423879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D6108743-11AC-2705-2C18-87118D209B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28929E3C-4F7B-43FE-8ACE-C581BABF2437}"/>
              </a:ext>
            </a:extLst>
          </p:cNvPr>
          <p:cNvSpPr/>
          <p:nvPr/>
        </p:nvSpPr>
        <p:spPr>
          <a:xfrm>
            <a:off x="320399" y="502276"/>
            <a:ext cx="8359961" cy="442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 indent="180975" algn="ctr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b="1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Подготовка окружения (5 минут)</a:t>
            </a:r>
          </a:p>
          <a:p>
            <a:pPr lvl="0" indent="180975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Создаем папку и инициализируем проект, в терминале:</a:t>
            </a:r>
          </a:p>
          <a:p>
            <a:pPr lvl="0" indent="180975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b="0" i="0" u="none" strike="noStrike" cap="none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 indent="180975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en-US" sz="3000" b="0" i="0" u="none" strike="noStrike" cap="none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mkdir</a:t>
            </a:r>
            <a:r>
              <a:rPr lang="en-US" sz="3000" b="0" i="0" u="none" strike="noStrike" cap="none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node-practice &amp;&amp; cd node-practice</a:t>
            </a:r>
          </a:p>
          <a:p>
            <a:pPr lvl="0" indent="180975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en-US" sz="3000" b="0" i="0" u="none" strike="noStrike" cap="none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npm</a:t>
            </a:r>
            <a:r>
              <a:rPr lang="en-US" sz="3000" b="0" i="0" u="none" strike="noStrike" cap="none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</a:t>
            </a:r>
            <a:r>
              <a:rPr lang="en-US" sz="3000" b="0" i="0" u="none" strike="noStrike" cap="none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init</a:t>
            </a:r>
            <a:r>
              <a:rPr lang="en-US" sz="3000" b="0" i="0" u="none" strike="noStrike" cap="none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-y</a:t>
            </a:r>
            <a:endParaRPr sz="3000" b="0" i="0" u="none" strike="noStrike" cap="none" dirty="0">
              <a:solidFill>
                <a:srgbClr val="FFFF00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5830ACC9-149A-BB91-9FE3-A207B2AF024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6243206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9C21D9D5-C689-CFDA-8BBB-205890D1F4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E14619D4-9701-BF63-F966-A76160FAFCD5}"/>
              </a:ext>
            </a:extLst>
          </p:cNvPr>
          <p:cNvSpPr/>
          <p:nvPr/>
        </p:nvSpPr>
        <p:spPr>
          <a:xfrm>
            <a:off x="320399" y="502276"/>
            <a:ext cx="8359961" cy="442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 indent="180975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Устанавливаем зависимости:</a:t>
            </a:r>
          </a:p>
          <a:p>
            <a:pPr lvl="0" indent="180975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 indent="180975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npm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i 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dotenv</a:t>
            </a:r>
            <a:endParaRPr lang="ru-RU" sz="3000" dirty="0">
              <a:solidFill>
                <a:srgbClr val="FFFF00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 indent="180975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npm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i -D 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nodemon</a:t>
            </a:r>
            <a:endParaRPr sz="3000" b="0" i="0" u="none" strike="noStrike" cap="none" dirty="0">
              <a:solidFill>
                <a:srgbClr val="FFFF00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2E4F70F9-C219-4BAB-8332-B943E6383B4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8103185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D049CED3-401A-2802-C14B-748EEA0657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5DB386C1-3029-FD97-FC64-B276FE9A0DDB}"/>
              </a:ext>
            </a:extLst>
          </p:cNvPr>
          <p:cNvSpPr/>
          <p:nvPr/>
        </p:nvSpPr>
        <p:spPr>
          <a:xfrm>
            <a:off x="320399" y="502276"/>
            <a:ext cx="8359961" cy="442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 indent="180975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Создаем файл .</a:t>
            </a:r>
            <a:r>
              <a:rPr lang="en-US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env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с содержимым</a:t>
            </a:r>
            <a:r>
              <a:rPr lang="en-US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:</a:t>
            </a:r>
          </a:p>
          <a:p>
            <a:pPr lvl="0" indent="180975">
              <a:lnSpc>
                <a:spcPct val="115000"/>
              </a:lnSpc>
              <a:buClr>
                <a:srgbClr val="333333"/>
              </a:buClr>
              <a:buSzPts val="1800"/>
            </a:pPr>
            <a:endParaRPr lang="en-US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 indent="180975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en-US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PORT=3000</a:t>
            </a:r>
          </a:p>
          <a:p>
            <a:pPr lvl="0" indent="180975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en-US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SAFE_TEMP=70</a:t>
            </a:r>
            <a:endParaRPr sz="3000" b="0" i="0" u="none" strike="noStrike" cap="none" dirty="0">
              <a:solidFill>
                <a:srgbClr val="FFFF00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E9F02D6F-FE2A-3DED-FD4E-6276E4CC622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0460150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1A8E27B2-F84E-F080-B64F-6367054482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A6464529-C239-19A4-4BF7-2CCF618F306E}"/>
              </a:ext>
            </a:extLst>
          </p:cNvPr>
          <p:cNvSpPr/>
          <p:nvPr/>
        </p:nvSpPr>
        <p:spPr>
          <a:xfrm>
            <a:off x="320399" y="502277"/>
            <a:ext cx="8359961" cy="1778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lvl="0" indent="180975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Напишем код в 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index.js</a:t>
            </a: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 indent="180975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Этот код наглядно показывает, как события отделяют логику «наблюдения» от логики «реакции».</a:t>
            </a:r>
            <a:endParaRPr sz="3000" b="0" i="0" u="none" strike="noStrike" cap="none" dirty="0">
              <a:solidFill>
                <a:srgbClr val="FFFF00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CB36B130-B551-7B35-6BEF-81E5166EADA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DB6FD8E-60BE-3167-1D03-5DE4FA2B3A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79739" y="2164437"/>
            <a:ext cx="5984522" cy="2764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730298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A94F663D-565E-3C9F-DF8B-257D64C0DE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2CC93D6D-D74D-C57B-E580-A618677A31B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D008BEE-1183-438F-EE59-2BEA183070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737" y="1357312"/>
            <a:ext cx="8010525" cy="2428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902115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8BC5E20C-957E-EE32-02D0-E5B7EC30A9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696D0015-955A-28D4-4C3A-8F8685F6EC0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F977237-D245-4CA4-C4E4-0EBB7F12AA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356" y="667011"/>
            <a:ext cx="7686931" cy="3837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46630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86AADF3D-F28F-4B22-3822-BAD1D8C33E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06015711-F0DB-BB95-FF34-0A871805B7F7}"/>
              </a:ext>
            </a:extLst>
          </p:cNvPr>
          <p:cNvSpPr/>
          <p:nvPr/>
        </p:nvSpPr>
        <p:spPr>
          <a:xfrm>
            <a:off x="320399" y="502276"/>
            <a:ext cx="8359961" cy="442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 indent="180975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Настройка 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package.json</a:t>
            </a:r>
            <a:endParaRPr lang="ru-RU" sz="3000" dirty="0">
              <a:solidFill>
                <a:srgbClr val="FFFF00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 indent="180975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Прописваем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скрипты, чтобы запуск стал удобным:</a:t>
            </a:r>
            <a:endParaRPr sz="3000" b="0" i="0" u="none" strike="noStrike" cap="none" dirty="0">
              <a:solidFill>
                <a:srgbClr val="FFFF00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9B7EA146-DBE4-19E5-0368-B5F221C6977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21B1881-B6A5-871C-2DB3-A9EA8C5665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28629" y="2287585"/>
            <a:ext cx="5143500" cy="2333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032008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6741196C-871E-CA34-3D18-4BA01AE8F7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8DFB7D4C-EDE6-6AC3-978D-D6080120D455}"/>
              </a:ext>
            </a:extLst>
          </p:cNvPr>
          <p:cNvSpPr/>
          <p:nvPr/>
        </p:nvSpPr>
        <p:spPr>
          <a:xfrm>
            <a:off x="320399" y="502278"/>
            <a:ext cx="8359961" cy="2331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lvl="0" indent="180975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Запуск: Выполните</a:t>
            </a:r>
            <a:r>
              <a:rPr lang="en-US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:</a:t>
            </a:r>
          </a:p>
          <a:p>
            <a:pPr lvl="0" indent="180975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npm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run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dev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</a:t>
            </a:r>
            <a:endParaRPr lang="en-US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 indent="180975">
              <a:lnSpc>
                <a:spcPct val="115000"/>
              </a:lnSpc>
              <a:buClr>
                <a:srgbClr val="333333"/>
              </a:buClr>
              <a:buSzPts val="1800"/>
            </a:pPr>
            <a:endParaRPr lang="en-US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 indent="180975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Убедитесь, что логи пошли в консоль каждые 2 секунды.</a:t>
            </a:r>
            <a:endParaRPr sz="3000" b="0" i="0" u="none" strike="noStrike" cap="none" dirty="0">
              <a:solidFill>
                <a:srgbClr val="FFFF00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A74FA799-E770-FCD3-A5FA-9DED25EA052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5BBE50E-D6FE-6FE1-04A8-2C2BA1A616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2181" y="2739540"/>
            <a:ext cx="7231951" cy="2188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265592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4FB493F7-DD8F-14F6-50B3-288A882B5E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9;g30f32ff6c42_0_5">
            <a:extLst>
              <a:ext uri="{FF2B5EF4-FFF2-40B4-BE49-F238E27FC236}">
                <a16:creationId xmlns:a16="http://schemas.microsoft.com/office/drawing/2014/main" id="{7C246B9A-5838-379D-1241-9FB572BA88E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8525" y="135467"/>
            <a:ext cx="8346900" cy="541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20"/>
              <a:buFont typeface="Mulish Black"/>
              <a:buNone/>
            </a:pPr>
            <a:r>
              <a:rPr lang="ru-RU" sz="3420" dirty="0">
                <a:solidFill>
                  <a:schemeClr val="bg1"/>
                </a:solidFill>
                <a:latin typeface="Mulish Black"/>
                <a:ea typeface="Mulish Black"/>
                <a:cs typeface="Mulish Black"/>
                <a:sym typeface="Mulish Black"/>
              </a:rPr>
              <a:t>Выводы:</a:t>
            </a:r>
            <a:endParaRPr lang="en-US" sz="3420" dirty="0">
              <a:solidFill>
                <a:schemeClr val="bg1"/>
              </a:solidFill>
              <a:latin typeface="Mulish Black"/>
              <a:ea typeface="Mulish Black"/>
              <a:cs typeface="Mulish Black"/>
              <a:sym typeface="Mulish Black"/>
            </a:endParaRPr>
          </a:p>
        </p:txBody>
      </p:sp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045915FA-DA72-F585-9B2B-EDB1DCD26D76}"/>
              </a:ext>
            </a:extLst>
          </p:cNvPr>
          <p:cNvSpPr/>
          <p:nvPr/>
        </p:nvSpPr>
        <p:spPr>
          <a:xfrm>
            <a:off x="320400" y="767644"/>
            <a:ext cx="8150700" cy="4160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55000" lnSpcReduction="20000"/>
          </a:bodyPr>
          <a:lstStyle/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Courier New" panose="02070309020205020404" pitchFamily="49" charset="0"/>
              <a:buChar char="o"/>
            </a:pPr>
            <a:r>
              <a:rPr lang="ru-RU" sz="3000" b="1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Разделение ответственности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: Настройки проекта (порты, ключи, пароли) выносятся в файл .</a:t>
            </a:r>
            <a:r>
              <a:rPr lang="ru-RU" sz="3000" dirty="0" err="1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env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, а код остается универсальным. Это стандарт безопасности.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Courier New" panose="02070309020205020404" pitchFamily="49" charset="0"/>
              <a:buChar char="o"/>
            </a:pPr>
            <a:r>
              <a:rPr lang="ru-RU" sz="3000" b="1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Глобальный доступ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: Модуль </a:t>
            </a:r>
            <a:r>
              <a:rPr lang="ru-RU" sz="3000" dirty="0" err="1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dotenv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загружает данные из файла в объект </a:t>
            </a:r>
            <a:r>
              <a:rPr lang="ru-RU" sz="3000" dirty="0" err="1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process.env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, откуда их может прочитать любой скрипт в приложении.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Courier New" panose="02070309020205020404" pitchFamily="49" charset="0"/>
              <a:buChar char="o"/>
            </a:pPr>
            <a:r>
              <a:rPr lang="ru-RU" sz="3000" b="1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Автоматизация рутины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: Секция </a:t>
            </a:r>
            <a:r>
              <a:rPr lang="ru-RU" sz="3000" dirty="0" err="1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scripts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в </a:t>
            </a:r>
            <a:r>
              <a:rPr lang="ru-RU" sz="3000" dirty="0" err="1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package.json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позволяет создавать короткие команды для запуска (</a:t>
            </a:r>
            <a:r>
              <a:rPr lang="ru-RU" sz="3000" dirty="0" err="1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npm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</a:t>
            </a:r>
            <a:r>
              <a:rPr lang="ru-RU" sz="3000" dirty="0" err="1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start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, </a:t>
            </a:r>
            <a:r>
              <a:rPr lang="ru-RU" sz="3000" dirty="0" err="1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npm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</a:t>
            </a:r>
            <a:r>
              <a:rPr lang="ru-RU" sz="3000" dirty="0" err="1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run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</a:t>
            </a:r>
            <a:r>
              <a:rPr lang="ru-RU" sz="3000" dirty="0" err="1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dev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), скрывая сложные параметры терминала.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Courier New" panose="02070309020205020404" pitchFamily="49" charset="0"/>
              <a:buChar char="o"/>
            </a:pPr>
            <a:r>
              <a:rPr lang="ru-RU" sz="3000" b="1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Событийная архитектура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: Node.js работает по принципу «Реакция на событие». Модуль </a:t>
            </a:r>
            <a:r>
              <a:rPr lang="ru-RU" sz="3000" dirty="0" err="1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events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позволяет объектам общаться друг с другом, не зная деталей реализации соседа.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Courier New" panose="02070309020205020404" pitchFamily="49" charset="0"/>
              <a:buChar char="o"/>
            </a:pPr>
            <a:r>
              <a:rPr lang="ru-RU" sz="3000" b="1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Разделение зависимостей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: Инструменты для программиста (например, </a:t>
            </a:r>
            <a:r>
              <a:rPr lang="ru-RU" sz="3000" dirty="0" err="1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nodemon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) ставятся в </a:t>
            </a:r>
            <a:r>
              <a:rPr lang="ru-RU" sz="3000" dirty="0" err="1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devDependencies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, а библиотеки для работы приложения - в основные </a:t>
            </a:r>
            <a:r>
              <a:rPr lang="ru-RU" sz="3000" dirty="0" err="1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dependencies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.</a:t>
            </a: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E2619FA2-A822-B1E0-5ACC-22FD8E08AAC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4527391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45F55314-7898-4958-9480-F8FB4A5845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9;g30f32ff6c42_0_5">
            <a:extLst>
              <a:ext uri="{FF2B5EF4-FFF2-40B4-BE49-F238E27FC236}">
                <a16:creationId xmlns:a16="http://schemas.microsoft.com/office/drawing/2014/main" id="{A63BED38-91CA-D9D6-6121-BF988F7C532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8525" y="215026"/>
            <a:ext cx="8346900" cy="660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20"/>
              <a:buFont typeface="Mulish Black"/>
              <a:buNone/>
            </a:pPr>
            <a:r>
              <a:rPr lang="ru-RU" sz="3420" dirty="0">
                <a:solidFill>
                  <a:schemeClr val="bg1"/>
                </a:solidFill>
                <a:latin typeface="Mulish Black"/>
                <a:ea typeface="Mulish Black"/>
                <a:cs typeface="Mulish Black"/>
                <a:sym typeface="Mulish Black"/>
              </a:rPr>
              <a:t>Контрольные вопросы</a:t>
            </a:r>
            <a:endParaRPr lang="en-US" sz="3420" dirty="0">
              <a:solidFill>
                <a:schemeClr val="bg1"/>
              </a:solidFill>
              <a:latin typeface="Mulish Black"/>
              <a:ea typeface="Mulish Black"/>
              <a:cs typeface="Mulish Black"/>
              <a:sym typeface="Mulish Black"/>
            </a:endParaRPr>
          </a:p>
        </p:txBody>
      </p:sp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66682A93-D9C7-FBAA-14FF-26E9049451E6}"/>
              </a:ext>
            </a:extLst>
          </p:cNvPr>
          <p:cNvSpPr/>
          <p:nvPr/>
        </p:nvSpPr>
        <p:spPr>
          <a:xfrm>
            <a:off x="320400" y="978794"/>
            <a:ext cx="8150700" cy="3949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Почему нельзя добавлять файл .</a:t>
            </a:r>
            <a:r>
              <a:rPr lang="ru-RU" sz="3000" dirty="0" err="1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env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в </a:t>
            </a:r>
            <a:r>
              <a:rPr lang="ru-RU" sz="3000" dirty="0" err="1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Git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-репозиторий?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В чем разница между командами </a:t>
            </a:r>
            <a:r>
              <a:rPr lang="ru-RU" sz="3000" dirty="0" err="1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npm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</a:t>
            </a:r>
            <a:r>
              <a:rPr lang="ru-RU" sz="3000" dirty="0" err="1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start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и </a:t>
            </a:r>
            <a:r>
              <a:rPr lang="ru-RU" sz="3000" dirty="0" err="1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npm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</a:t>
            </a:r>
            <a:r>
              <a:rPr lang="ru-RU" sz="3000" dirty="0" err="1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run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</a:t>
            </a:r>
            <a:r>
              <a:rPr lang="ru-RU" sz="3000" dirty="0" err="1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dev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?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Зачем нужен флаг -D (или --</a:t>
            </a:r>
            <a:r>
              <a:rPr lang="ru-RU" sz="3000" dirty="0" err="1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save-dev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) при установке пакетов?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Что делает метод .</a:t>
            </a:r>
            <a:r>
              <a:rPr lang="ru-RU" sz="3000" dirty="0" err="1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emit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('</a:t>
            </a:r>
            <a:r>
              <a:rPr lang="ru-RU" sz="3000" dirty="0" err="1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eventName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', </a:t>
            </a:r>
            <a:r>
              <a:rPr lang="ru-RU" sz="3000" dirty="0" err="1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data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)?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Как заставить </a:t>
            </a:r>
            <a:r>
              <a:rPr lang="ru-RU" sz="3000" dirty="0" err="1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nodemon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перезагружать проект не только при изменении JS-файлов, но и при правке настроек в .</a:t>
            </a:r>
            <a:r>
              <a:rPr lang="ru-RU" sz="3000" dirty="0" err="1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env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?</a:t>
            </a: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76964D9A-BD29-A315-0A5D-43051D5DEF8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571434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769</TotalTime>
  <Words>1090</Words>
  <Application>Microsoft Office PowerPoint</Application>
  <PresentationFormat>Экран (16:9)</PresentationFormat>
  <Paragraphs>117</Paragraphs>
  <Slides>31</Slides>
  <Notes>31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31</vt:i4>
      </vt:variant>
    </vt:vector>
  </HeadingPairs>
  <TitlesOfParts>
    <vt:vector size="38" baseType="lpstr">
      <vt:lpstr>Times New Roman</vt:lpstr>
      <vt:lpstr>Mulish ExtraBold</vt:lpstr>
      <vt:lpstr>Mulish SemiBold</vt:lpstr>
      <vt:lpstr>Arial</vt:lpstr>
      <vt:lpstr>Courier New</vt:lpstr>
      <vt:lpstr>Mulish Black</vt:lpstr>
      <vt:lpstr>Office Theme</vt:lpstr>
      <vt:lpstr>ДЕНЬ ОТКРЫТЫХ ДВЕРЕЙ</vt:lpstr>
      <vt:lpstr>Цель занятия:</vt:lpstr>
      <vt:lpstr>Учебные вопросы:</vt:lpstr>
      <vt:lpstr>1. Безопасность и гибкость: dotenv и process.env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2. Логика событий: Модуль events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Практика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Выводы:</vt:lpstr>
      <vt:lpstr>Контрольные вопросы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Fido</dc:creator>
  <cp:lastModifiedBy>user</cp:lastModifiedBy>
  <cp:revision>16</cp:revision>
  <dcterms:modified xsi:type="dcterms:W3CDTF">2026-04-11T11:09:51Z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45</vt:i4>
  </property>
  <property fmtid="{D5CDD505-2E9C-101B-9397-08002B2CF9AE}" pid="3" name="PresentationFormat">
    <vt:lpwstr>Экран (16:9)</vt:lpwstr>
  </property>
  <property fmtid="{D5CDD505-2E9C-101B-9397-08002B2CF9AE}" pid="4" name="Slides">
    <vt:i4>45</vt:i4>
  </property>
</Properties>
</file>