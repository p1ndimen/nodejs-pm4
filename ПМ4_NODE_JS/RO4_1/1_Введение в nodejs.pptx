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3" r:id="rId3"/>
    <p:sldId id="262" r:id="rId4"/>
    <p:sldId id="264" r:id="rId5"/>
    <p:sldId id="265" r:id="rId6"/>
    <p:sldId id="266" r:id="rId7"/>
    <p:sldId id="267" r:id="rId8"/>
    <p:sldId id="275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6" r:id="rId17"/>
    <p:sldId id="277" r:id="rId18"/>
    <p:sldId id="278" r:id="rId19"/>
    <p:sldId id="281" r:id="rId20"/>
    <p:sldId id="282" r:id="rId21"/>
    <p:sldId id="279" r:id="rId22"/>
    <p:sldId id="280" r:id="rId23"/>
    <p:sldId id="283" r:id="rId24"/>
    <p:sldId id="284" r:id="rId25"/>
    <p:sldId id="285" r:id="rId26"/>
    <p:sldId id="289" r:id="rId27"/>
    <p:sldId id="286" r:id="rId28"/>
    <p:sldId id="287" r:id="rId29"/>
    <p:sldId id="288" r:id="rId30"/>
    <p:sldId id="293" r:id="rId31"/>
    <p:sldId id="290" r:id="rId32"/>
    <p:sldId id="291" r:id="rId33"/>
    <p:sldId id="294" r:id="rId34"/>
    <p:sldId id="292" r:id="rId35"/>
    <p:sldId id="295" r:id="rId36"/>
    <p:sldId id="296" r:id="rId37"/>
    <p:sldId id="297" r:id="rId38"/>
  </p:sldIdLst>
  <p:sldSz cx="9144000" cy="5143500" type="screen16x9"/>
  <p:notesSz cx="6858000" cy="9144000"/>
  <p:embeddedFontLst>
    <p:embeddedFont>
      <p:font typeface="Mulish Black" panose="020B0604020202020204" charset="-52"/>
      <p:bold r:id="rId40"/>
      <p:boldItalic r:id="rId41"/>
    </p:embeddedFont>
    <p:embeddedFont>
      <p:font typeface="Mulish ExtraBold" panose="020B0604020202020204" charset="-52"/>
      <p:bold r:id="rId42"/>
      <p:boldItalic r:id="rId43"/>
    </p:embeddedFont>
    <p:embeddedFont>
      <p:font typeface="Mulish SemiBold" panose="020B0604020202020204" charset="-52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4851BB0-6472-9146-C4F2-FCB36BFE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6BC6D8-E74F-59E8-16D7-130B1947F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637FBBD-09CD-ACE5-A5C3-9A135A9B9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51684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9526930-546C-35CC-A9C1-6C0719D0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7054B3B-2B99-CFED-1574-661B2F414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5F82863-68A7-D2C3-8551-E3DBA7743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9572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E7E337B-5DF6-9394-FC0C-D5CCFBAD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A031091-6FF2-312A-A9F4-DC495E542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E7B6709-3D7D-1B3E-117E-80AC473914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9898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EF1078C-C53E-8F6A-BB58-78C47FBD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DDE4307-A40D-6614-CA14-13C30421D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A39198B-9AFC-B944-AC02-F4D6A47F5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52915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0CFB1FF-D5B9-4116-F52F-AC180395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5EAA153-9BB9-D545-487B-B506A5726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EA423E-FFF4-D6F2-86ED-12B2DF3C0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66273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EF51F09-EABD-3ED0-2638-5F5D1C3E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7840662-92B0-2D52-31CE-A89A0B656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C72DF1E-AF2E-1EB1-D10D-A32EDCF85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25375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24639A4-799C-ECEA-E5CD-DE788832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4BEC566-151D-373F-74F7-9251F038B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AF64343-74CC-5F32-02DF-8F2FF09B7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2314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469EEEC-3745-2342-1F9E-D43490FF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6C511A5-84E2-2C57-51DE-F4240EF28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98DF34F-2B2C-E7D8-6DDD-078FABC5C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13264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29DC35E-9083-7066-FF8E-263D8864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3BBB1B1-A137-6E8F-B26D-03C01029CA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23E66B4-95EE-EEDE-3F4E-540C700FE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1268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4306447-DE9E-BAF1-0D26-12DA4751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15993EB-834E-1471-3FB5-B846FEB8B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F487608-D1F3-8856-CBF0-276D2410D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86298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57A3836-9748-67BC-E6B8-BB967DA7A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CAAF3E8-F6D5-3CB2-E6F0-A4A39680C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8D9B8A6-EFA9-43D4-676E-1C6F6F869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4980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FA77D4C-9E18-429F-80FC-A04FA0DE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68CEEA0-5ACF-D8D4-0D16-8ED53E703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FE4AE2F-0953-1F05-79BB-A85E64CF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93891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6D30B12-D60C-C9E9-041C-3ED5CC74F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CD3004F-3FAE-4DB6-FB30-3BF3A0C50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5B5A5B5-1FA1-AC1D-56EC-E2552556F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47637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889AB0E-CB8C-B417-F69C-EAF5570D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EBAD35E-4F0A-4A10-92C7-5044D82C8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2C39C87-4DF3-EEE1-A88A-B852BB2E9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84813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11EC306-3DE1-FBAD-AE89-4CB0C019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E51E2F8-FFD0-1158-3D75-643F95C75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E1933CF-E760-0794-3127-4EBEA9533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3298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4B68E4C-ABBC-D2FF-75DC-D343AB2D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9DA740D-E049-BDA0-9254-2A59D4355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FDAAF29-E342-D574-FDE8-E10FAFE47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583196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5ACE1AA-CA20-7082-3C8A-528BB3B5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1059A84-C75A-1449-BF39-146D305AB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0A9D0AF-E7F9-D49E-DFF5-EF34092E6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00213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14816CF-251A-3692-C6E2-CD7CE7C7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46E1D3E-B568-3825-F185-4ECF116EF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27F719C-02CF-026E-423B-2DCEA152B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09202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97C4DA8-88AF-2EE6-7752-46566EB2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233C092-43C5-F289-0DB5-C27BCB69B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41C18B6-3DDF-2113-4D70-755FFC137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3942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53CF740-0217-273C-3661-0FA492B9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C67B956-AF33-8227-6157-96AFE1D89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F1B619F-9B1C-120B-D55E-71ECC65F2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790374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4200B93-9C81-EA5C-F0A3-D674635C3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D4A3F62-699B-0096-F8C2-ADDC83FC6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790900C-0A97-8A5E-6B2A-596082BEE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82356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EE0FFF5-C261-CE6F-E5CF-06788F01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80C8520-D9B4-D83E-EE87-574FE3324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4C4CE09-45BB-1ECB-20DD-7F85EAC07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07977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D41DD90-EA96-4E11-C2EE-B12EE18F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32D17BB-D0E4-28FA-D0C2-F22984A8A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43685C0-56C3-26A1-3F63-86B9BCC03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280587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FF80CAE-040E-0823-6BA8-B4905F96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AD36430-7620-2F00-27D5-E7955C36C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ED804E2-1B3C-E287-1D60-566D55C6F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706204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27978F7-DEC6-C864-6FBE-BE37238C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6E53A4A-5F7F-97FE-C7BF-972DBAE1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57898CD-C2AE-665E-68EB-401B152AA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759754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D34CBE0-7BD4-DE95-A498-013D2F28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C8F580E-7A1A-655D-45C8-A62D052D5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41C84F-5126-1D77-C1D9-A7D0A0570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67888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F2E4839-8BE3-299D-A2F4-8A38EB5F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96E2D93-EC77-85A9-D8A6-30663D31D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5C17AF7-7A21-A0D6-504C-127729D06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034668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6DE8DEE-1CF9-7FD7-7448-CB38BBFF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A6EEADF-7CE6-35E0-AAFF-1997C7C08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3A2B6FA-BAEE-3FE9-B54E-D0AED3F07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04099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4DA361F-0BE9-FE6F-EE04-CA40F829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BCF98E8-D775-215A-D534-58E8EA14C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844D278-9EF9-CD1C-64A6-303EC046D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58924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12BFD5E-E47C-6AAD-4058-1EB5C0D1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8AFD0DB-20E8-6006-886B-2D04EC7A6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3AA1E49-C60D-4E83-BC02-7F0CD81C7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191626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1. Введение в 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Node.js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.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60" y="151204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Сформировать у студентов базовое понимание того, что такое Node.js, где и зачем он применяется, а также получить первый практический опыт - установить Node.js и запустить простую программу.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ulish SemiBold"/>
              <a:buNone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Что такое Node.js и применяется.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Установка Node.js.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Первая программа.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Глобальные объекты Node.js.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Что такое Node.js и применяется.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История создания.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создан американским программистом Райаном Далем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Ryan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Dahl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и впервые представлен в 2009 году на конференции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JSConf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EU.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 появления Node.js JavaScript работал исключительно в браузере.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Райан Даль поставил цель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вынести JavaScript за пределы браузера и дать возможность писать на нём серверный код.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98416E0-3BC0-C3E4-2389-DCA872EF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81BFC7C0-985B-332C-28CD-77B70D4DC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Что такое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Node.js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?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2648DCB-DA58-8FBA-FBDC-9F71CCB1E4D3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это среда выполнения JavaScript вне браузера, построенная на движке V8 (тот же движок, что используется в Google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Chrome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Простыми словами: Node.js позволяет запускать JavaScript-код на компьютере или сервере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как обычную программу, без браузера.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💡 Node.js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это не язык программирования и не фреймворк. Это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runtime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-среда (среда выполнения).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DDC013E-9108-4860-FC34-262833834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01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4418B81-2E68-C8BA-C88D-DC8332F1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2A38D2-15AF-7C01-2DD2-846D6133B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Движок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V8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828D339-67F0-1E44-A51E-FD96BC9A9AE0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V8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это высокопроизводительный движок с открытым исходным кодом, разработанный компанией Google. Он компилирует JavaScript напрямую в машинный код, что обеспечивает высокую скорость выполнения.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берёт V8 и расширяет его возможностями, которых нет в браузере: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работа с файловой системой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работа с сетью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доступ к операционной системе</a:t>
            </a:r>
            <a:endParaRPr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C877F66-F646-8CC1-B308-C0358593F2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88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92CD3BD-88E5-4AB4-EB01-15462341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008808E-C459-335C-841A-3D03F170D0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Однопоточность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 и асинхронность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0CEBF3D-4A38-935C-4B86-458D88349143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работает в одном потоке, но при этом эффективно справляется с большим количеством задач одновременно за счёт событийного цикла (Event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Принцип работы: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Получил запрос → не ждёт ответа → занялся следующим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ответ готов → вернулся и обработал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называется неблокирующая (асинхронная) модель ввода-вывода.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4455023-D3D4-5FAE-98F2-F697682849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724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F79A4C5-CEC4-684D-D3EF-676B59B7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3B807B6B-903B-8314-6EE7-6D8389A1CB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Чем Node.js отличается от браузерного JavaScript?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E207BC-26FD-86AB-DE31-393B8E1D65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E0420E-96C3-D9C7-623D-A8DF4140D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99" y="1549656"/>
            <a:ext cx="7753802" cy="349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9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7D8BA17-3C2F-011F-D1F3-95294827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FE74993-9D6D-59C2-7C09-1F5C83E14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Где применяется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Node.js?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8EF1EBA-51FD-029C-9F1A-70EFF1DF3BD0}"/>
              </a:ext>
            </a:extLst>
          </p:cNvPr>
          <p:cNvSpPr/>
          <p:nvPr/>
        </p:nvSpPr>
        <p:spPr>
          <a:xfrm>
            <a:off x="320400" y="978794"/>
            <a:ext cx="8150700" cy="39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Backend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-серверы и REST API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широко используется для создания серверной части веб-приложений. На нём строят API, к которым обращаются мобильные приложения и браузеры.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CLI-утилиты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Многие инструменты разработчика написаны на Node.js и запускаются в терминале. Примеры: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webpack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eslint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prettier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Работа с файловой системой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Скрипты для автоматизации: переименование файлов, генерация отчётов, обработка данных.</a:t>
            </a:r>
            <a:endParaRPr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9B2E01-6496-FF75-6FB9-3D9BA1C472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34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613A1A2-5F0A-D83A-3225-8CD92F56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577D0E1-DCA9-DDD0-A4C8-74326088B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Итог: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5F45F68-6BE0-11D4-817A-677C147ABC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2467DA-2B07-B0A5-71E8-851B5751C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23" y="1790163"/>
            <a:ext cx="8166377" cy="154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53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E02EB03-3257-EABD-C0D9-374887E8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36020E8-10DA-D552-08DA-4AF152EF6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2. Установка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Node.js.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9D3CB39-ABC0-A2B5-7140-5D3BC0A04EC8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Скачать Node.js можно с официального сайта: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nodejs.org</a:t>
            </a:r>
            <a:endParaRPr sz="3000" b="1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B1B32D7-52E8-92B9-3CEF-BB70627294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C56210-89C4-1B64-1061-35FFB7318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232" y="2102450"/>
            <a:ext cx="5391485" cy="29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5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BC71327-8855-A789-0174-E7645F83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A08108E-D8EB-F8B9-A539-C12877C1822A}"/>
              </a:ext>
            </a:extLst>
          </p:cNvPr>
          <p:cNvSpPr/>
          <p:nvPr/>
        </p:nvSpPr>
        <p:spPr>
          <a:xfrm>
            <a:off x="320400" y="373488"/>
            <a:ext cx="8150700" cy="455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обучения и рабочих проектов всегда выбирайте LTS:</a:t>
            </a:r>
            <a:endParaRPr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52A3009-1EDB-4617-9F08-A9EA00BE82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ACE3C7-02F0-E343-3A58-7F5E673D8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76" y="1433674"/>
            <a:ext cx="6272447" cy="36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68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170E2DE-B4C5-3C9E-7B02-82D39D84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75FD047-C2BA-4EC3-110A-151B2A6E0C15}"/>
              </a:ext>
            </a:extLst>
          </p:cNvPr>
          <p:cNvSpPr/>
          <p:nvPr/>
        </p:nvSpPr>
        <p:spPr>
          <a:xfrm>
            <a:off x="320400" y="489398"/>
            <a:ext cx="8150700" cy="443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 на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Перейти на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nodejs.org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Скачать установщик .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msi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(LTS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версия)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Запустить установщик →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Next → Next → Install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Галочку "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Add to PATH"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оставить включённой - это важно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A27B9A4-A9A8-C32B-1751-9BF5E16749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34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4C37B2F-871B-D6FA-8FAB-59819503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AC24D38-A6A6-9BB0-BDA2-4DE8AF7EEBD8}"/>
              </a:ext>
            </a:extLst>
          </p:cNvPr>
          <p:cNvSpPr/>
          <p:nvPr/>
        </p:nvSpPr>
        <p:spPr>
          <a:xfrm>
            <a:off x="320400" y="489398"/>
            <a:ext cx="8150700" cy="443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 установки открыть командную строку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PowerShell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проверить: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190E740-76CC-F7C1-8FC0-2CE2C9A96B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AB49F0-F056-8EE4-D69B-CEB62486D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75" y="1765962"/>
            <a:ext cx="8197650" cy="28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38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C8C3366-8E11-5EAF-C05F-46040B11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559B18E4-EF5C-6CF6-4EA3-4340A5F2B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Выбор редактора кода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CD0691B-9299-DC81-7AFF-890962925CEB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работы с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рекомендуется </a:t>
            </a:r>
            <a:r>
              <a:rPr lang="en-US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Visual Studio Code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Бесплатный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Встроенный терминал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Подсветка синтаксиса и автодополнение для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JavaScript/Node.js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Скачать: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code.visualstudio.com</a:t>
            </a: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FA9EAC0-EDFC-6C6F-98D0-D9E452BFB7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776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4C56CF7-A2A7-070B-212C-76AAE21A2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BDCC728-81A0-5815-5FF7-038459B63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Итог: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5EF8EB0-59FD-512D-F484-26BC9064544D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020E405-97D6-E765-CD4B-B9C1831A87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B9FFD9-7DF1-ABF9-F8BD-2097B3CED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6" y="1341818"/>
            <a:ext cx="7898647" cy="24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66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DB7C397-4C13-C4E9-D823-EF8B6870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C9EE4708-FEC1-D103-12C5-748D95C36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Первая программа на </a:t>
            </a: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Node.js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.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C790246-F5EF-4F1C-C54C-B9F721242E55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можно использовать в двух режимах: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 - интерактивный режим прямо в терминале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 файла - выполнение готового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файла</a:t>
            </a: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E9E552D-6E83-F4F6-17C6-8823E6EF6B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6354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C9837D6-03D7-7773-EBBF-1494DB90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B147A8D-E316-B22A-0AAD-A92423BCE0E7}"/>
              </a:ext>
            </a:extLst>
          </p:cNvPr>
          <p:cNvSpPr/>
          <p:nvPr/>
        </p:nvSpPr>
        <p:spPr>
          <a:xfrm>
            <a:off x="307521" y="360608"/>
            <a:ext cx="8150700" cy="478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интерактивный режим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расшифровывается как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 – Eval – Print – Loop: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читает введённую команду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Eval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выполняет её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Print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выводит результат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ожидает следующую команду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 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просто ввести в терминале: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Появится приглашение &gt; - можно вводить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JavaScript.</a:t>
            </a:r>
            <a:b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Выход: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.exit</a:t>
            </a: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EA15805-A9EE-6E11-492F-C12B714D48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787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ED53E46-AE2A-C40F-8BF1-3E223A32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E9F8ECD-C59A-BE84-52E5-4B892F23361B}"/>
              </a:ext>
            </a:extLst>
          </p:cNvPr>
          <p:cNvSpPr/>
          <p:nvPr/>
        </p:nvSpPr>
        <p:spPr>
          <a:xfrm>
            <a:off x="320400" y="489398"/>
            <a:ext cx="8150700" cy="443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095C758-FBD3-E460-9347-3BA50BE2D3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E0104C-1C95-3792-CED5-1B377343F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17" y="912921"/>
            <a:ext cx="8080001" cy="327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21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CCE17AF-6E2B-E0C2-49E7-D90D4001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85AEAE95-CB4D-04ED-E934-EA2AED04A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Первая программа - запуск файла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9DB1220-B9B4-62EF-3EFB-A30FEFACBFB0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Создадим папку проекта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внутри файл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 кодом: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console.log('Hello, Node.js!’);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терминале выполним: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 index.js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BB6EBD1-DCA8-BC72-2D71-28DA3EA097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1690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3FE1886-F1CF-AC15-388A-43AAB263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F268FAB-5478-ADD4-E779-A804D5998A92}"/>
              </a:ext>
            </a:extLst>
          </p:cNvPr>
          <p:cNvSpPr/>
          <p:nvPr/>
        </p:nvSpPr>
        <p:spPr>
          <a:xfrm>
            <a:off x="320400" y="450762"/>
            <a:ext cx="8150700" cy="447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2A423EF-F659-B48D-7255-B4FFB632E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764EE5-D2C6-8298-4973-6098639E4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23" y="1476631"/>
            <a:ext cx="8137777" cy="214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92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0C33D70-4AA0-C6CE-7000-2BB1F390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EA900225-0864-03F9-428F-C6F28B9CF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Отличие от браузерного </a:t>
            </a: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JavaScript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EEAE2F5-6BAD-8476-7022-648769650CEB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браузере JavaScript взаимодействует с DOM, имеет доступ к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document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alert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т.д.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всего этого нет - здесь нет браузера, нет страницы.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Зато есть доступ к файловой системе, сети и операционной системе.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27676EB-A600-68C5-043F-E3D4A47FCD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613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AF9EFB6-308C-0B2D-7A82-E3609D1A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071D7D5-4E14-34B7-4A56-EDED2ABFA012}"/>
              </a:ext>
            </a:extLst>
          </p:cNvPr>
          <p:cNvSpPr/>
          <p:nvPr/>
        </p:nvSpPr>
        <p:spPr>
          <a:xfrm>
            <a:off x="320400" y="476518"/>
            <a:ext cx="8150700" cy="445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Быстрая проверка в index.js: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70DBD78-4FF1-1D99-8022-30501F9E1E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CF2DB6-9A9C-5725-4D77-F24C8ECDB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0" y="1164736"/>
            <a:ext cx="7862330" cy="376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33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33B2686-F615-303E-53AB-A736BBA7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E80A0D3-284A-2228-64C6-15E250F0C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Итог: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876F2DE-8E20-F3F2-781E-692215270B10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E4F43DC-37A6-76F5-5EBD-098AAAC8F9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81A6C6-B8D3-49C1-36F3-89FF068D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9" y="1970468"/>
            <a:ext cx="8173782" cy="118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2049EA7-5A74-D4CE-FEA2-38C2E65E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5DA0B30E-125D-D198-6443-EE76A12B4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Глобальные объекты Node.js. 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9CA4839-0A44-424E-8F85-D70C12158393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браузере главный глобальный объект -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Через него доступны все встроенные функции: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window.alert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window.console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window.setTimeout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т.д.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роль главного глобального объекта играет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Всё, что находится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доступно в любом месте программы без импорта.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9BB4772-C8B7-521E-77B5-327E0BD84F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133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B97954D-C8C7-87BB-C81F-658804B2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79836261-65E1-F536-8DFE-CA96E5E3B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Объект </a:t>
            </a: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global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419284A-9A8C-12A4-E759-A52999C2A444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главный глобальный объект Node.js, в котором хранятся все встроенные функции и свойства, доступные в любом месте программы без импорта.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«общая комната» программы - всё, что лежит в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доступно из любого файла в любой момент.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 браузере такой комнатой был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то в Node.js его роль играет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F06F0E4-BF19-2581-711F-16E27A99F4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1358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6385907-C8A1-1B40-EE17-148E1AFE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1654643-5610-97A2-6F34-9FE65B7B5E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BC0190-B075-D9A3-0772-AA89893B7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79" y="708456"/>
            <a:ext cx="8037688" cy="37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0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7461783-3C6A-44E0-D86F-44E8C299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F6AE66E-9EAA-CC05-F4D5-A64CDCD16CB8}"/>
              </a:ext>
            </a:extLst>
          </p:cNvPr>
          <p:cNvSpPr/>
          <p:nvPr/>
        </p:nvSpPr>
        <p:spPr>
          <a:xfrm>
            <a:off x="320400" y="327378"/>
            <a:ext cx="8150700" cy="460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Всё что находится в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доступно в любом месте программы без импорта: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не импортируем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setTimeout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он находится в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Полная запись выглядела бы так: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 одинаковый - просто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можно не писать.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D75F191-8715-9B78-546C-90DAAE053E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040628-2C41-AAA6-0DE2-95EC82B73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35" y="1035225"/>
            <a:ext cx="5874531" cy="113224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C52479-BD29-6AA0-6411-1949453D0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34" y="2976034"/>
            <a:ext cx="5874531" cy="128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62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5647C63-C788-EA5C-86C8-3AD16A4F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704F48A-CFFC-80CB-ACB0-E2C84D170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Объект </a:t>
            </a: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process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F0625ED-0D54-4EA3-9915-E66F60AF3A23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Определение: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глобальный объект Node.js, который содержит информацию о текущем запущенном процессе и предоставляет методы для взаимодействия с ним.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9B33DE5-5226-5B5A-B14E-21FDFC5148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3830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75A2F0-B227-4B0E-1F82-DFAB4BB6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43FB38D-6A62-5310-DF52-ADBEA5B78B88}"/>
              </a:ext>
            </a:extLst>
          </p:cNvPr>
          <p:cNvSpPr/>
          <p:nvPr/>
        </p:nvSpPr>
        <p:spPr>
          <a:xfrm>
            <a:off x="320400" y="395112"/>
            <a:ext cx="8150700" cy="453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объект, который содержит информацию о запущенной программе. Через него можно узнать версию Node.js, на какой системе работает программа, и какие аргументы ей передали при запуске.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54A95FE-AA04-B41A-5DDA-146F68162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167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4BE8BF1-86A1-1F96-6F7F-38D59FB8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0F56A82-C9B9-3E62-E770-399898091D04}"/>
              </a:ext>
            </a:extLst>
          </p:cNvPr>
          <p:cNvSpPr/>
          <p:nvPr/>
        </p:nvSpPr>
        <p:spPr>
          <a:xfrm>
            <a:off x="320400" y="417690"/>
            <a:ext cx="8150700" cy="451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Аргументы командной строки -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process.argv</a:t>
            </a:r>
            <a:endParaRPr lang="ru-RU" sz="3000" dirty="0">
              <a:solidFill>
                <a:schemeClr val="accent5">
                  <a:lumMod val="40000"/>
                  <a:lumOff val="60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запускаем программу, можно передать ей дополнительные данные прямо в терминале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113BE18-6860-A73D-D0CC-5B9906D693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200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808FB73-0BF8-908D-91B3-75048766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CBD6596-F6A2-3DC4-CD49-3A726016B73E}"/>
              </a:ext>
            </a:extLst>
          </p:cNvPr>
          <p:cNvSpPr/>
          <p:nvPr/>
        </p:nvSpPr>
        <p:spPr>
          <a:xfrm>
            <a:off x="320400" y="361244"/>
            <a:ext cx="8150700" cy="456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2CF3401-E1BB-4BA5-16A7-A3C4CADF8D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74E770-D38D-97CF-BBA3-3C9BE1682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55" y="1011457"/>
            <a:ext cx="7776603" cy="1133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07D730-E918-246A-BD8B-5CC1CB357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54" y="2457534"/>
            <a:ext cx="7776603" cy="189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02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277D028-E561-2FF8-6CBF-5F226E5E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D544F47-BCF1-C5B0-9E0F-8C3C6F9CA64F}"/>
              </a:ext>
            </a:extLst>
          </p:cNvPr>
          <p:cNvSpPr/>
          <p:nvPr/>
        </p:nvSpPr>
        <p:spPr>
          <a:xfrm>
            <a:off x="320400" y="564444"/>
            <a:ext cx="8150700" cy="436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Версия и платформа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F1B9BB2-D8A5-5A71-E9E2-7CD34B34AF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38B017-914C-9921-4F36-8D7043983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0" y="2636198"/>
            <a:ext cx="7658300" cy="10563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5B6446-0319-5E3F-A520-387363D40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00" y="1360750"/>
            <a:ext cx="7658300" cy="92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D339C26-BBCA-890E-1F6E-8EB3B582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4AF71EF-61DE-FBE2-E092-FAC5C23B37EB}"/>
              </a:ext>
            </a:extLst>
          </p:cNvPr>
          <p:cNvSpPr/>
          <p:nvPr/>
        </p:nvSpPr>
        <p:spPr>
          <a:xfrm>
            <a:off x="320400" y="541868"/>
            <a:ext cx="8150700" cy="438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Завершение программы - </a:t>
            </a:r>
            <a:r>
              <a:rPr lang="en-US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process.exit</a:t>
            </a:r>
            <a:r>
              <a:rPr lang="en-US" sz="3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endParaRPr lang="ru-RU" sz="3000" dirty="0">
              <a:solidFill>
                <a:schemeClr val="accent5">
                  <a:lumMod val="40000"/>
                  <a:lumOff val="60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D6DC1DE-244F-C90F-4E60-9FD2147FEC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EF8F17-2E22-9F64-663D-2100EAACF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37" y="1894240"/>
            <a:ext cx="8231734" cy="113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17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- среда выполнения JavaScript вне браузера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- это не язык и не фреймворк, это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runtime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-среда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обучения и работы всегда выбирать версию LTS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 установки: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-v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-v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 - интерактивный режим для быстрой проверки кода, запуск командой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 программы из файла: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index.js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нет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DOM - это серверная среда, не браузер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Главный глобальный объект -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аналог браузерного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объект с информацией о запущенной программе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process.argv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массив аргументов командной строки, данные начинаются с индекса [2]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Что такое Node.js и на чём он основан?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Чем Node.js отличается от JavaScript в браузере? Назовите минимум два отличия.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Что такое LTS-версия и почему её рекомендуют для обучения?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Как проверить, что Node.js установлен корректно? Какие команды нужно выполнить?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Что такое REPL? Как его запустить и как выйти из него?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6. Как запустить файл index.js через терминал?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7. Что такое объект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global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Чем он похож на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браузере?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8. Что хранится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process.argv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С какого индекса начинаются пользовательские аргументы и почему?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10. Что произойдёт, если вызвать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process.exit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в середине программы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1238</Words>
  <Application>Microsoft Office PowerPoint</Application>
  <PresentationFormat>Экран (16:9)</PresentationFormat>
  <Paragraphs>137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Mulish ExtraBold</vt:lpstr>
      <vt:lpstr>Arial</vt:lpstr>
      <vt:lpstr>Mulish Black</vt:lpstr>
      <vt:lpstr>Times New Roman</vt:lpstr>
      <vt:lpstr>Mulish SemiBold</vt:lpstr>
      <vt:lpstr>Office Theme</vt:lpstr>
      <vt:lpstr>ДЕНЬ ОТКРЫТЫХ ДВЕРЕЙ</vt:lpstr>
      <vt:lpstr>Цель занятия:</vt:lpstr>
      <vt:lpstr>Учебные вопросы:</vt:lpstr>
      <vt:lpstr>1. Что такое Node.js и применяется.</vt:lpstr>
      <vt:lpstr>Презентация PowerPoint</vt:lpstr>
      <vt:lpstr>Что такое Node.js?</vt:lpstr>
      <vt:lpstr>Движок V8</vt:lpstr>
      <vt:lpstr>Однопоточность и асинхронность</vt:lpstr>
      <vt:lpstr>Чем Node.js отличается от браузерного JavaScript?</vt:lpstr>
      <vt:lpstr>Где применяется Node.js?</vt:lpstr>
      <vt:lpstr>Итог:</vt:lpstr>
      <vt:lpstr>2. Установка Node.js.</vt:lpstr>
      <vt:lpstr>Презентация PowerPoint</vt:lpstr>
      <vt:lpstr>Презентация PowerPoint</vt:lpstr>
      <vt:lpstr>Презентация PowerPoint</vt:lpstr>
      <vt:lpstr>Выбор редактора кода</vt:lpstr>
      <vt:lpstr>Итог:</vt:lpstr>
      <vt:lpstr>3. Первая программа на Node.js.</vt:lpstr>
      <vt:lpstr>Презентация PowerPoint</vt:lpstr>
      <vt:lpstr>Презентация PowerPoint</vt:lpstr>
      <vt:lpstr>Первая программа - запуск файла</vt:lpstr>
      <vt:lpstr>Презентация PowerPoint</vt:lpstr>
      <vt:lpstr>Отличие от браузерного JavaScript:</vt:lpstr>
      <vt:lpstr>Презентация PowerPoint</vt:lpstr>
      <vt:lpstr>Итог:</vt:lpstr>
      <vt:lpstr>4. Глобальные объекты Node.js. </vt:lpstr>
      <vt:lpstr>Объект global </vt:lpstr>
      <vt:lpstr>Презентация PowerPoint</vt:lpstr>
      <vt:lpstr>Презентация PowerPoint</vt:lpstr>
      <vt:lpstr>Объект process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13</cp:revision>
  <dcterms:modified xsi:type="dcterms:W3CDTF">2026-04-06T09:24:57Z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