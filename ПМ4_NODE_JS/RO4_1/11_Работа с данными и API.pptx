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63" r:id="rId3"/>
    <p:sldId id="262" r:id="rId4"/>
    <p:sldId id="264" r:id="rId5"/>
    <p:sldId id="265" r:id="rId6"/>
    <p:sldId id="298" r:id="rId7"/>
    <p:sldId id="299" r:id="rId8"/>
    <p:sldId id="301" r:id="rId9"/>
    <p:sldId id="302" r:id="rId10"/>
    <p:sldId id="300" r:id="rId11"/>
    <p:sldId id="303" r:id="rId12"/>
    <p:sldId id="304" r:id="rId13"/>
    <p:sldId id="296" r:id="rId14"/>
    <p:sldId id="305" r:id="rId15"/>
    <p:sldId id="306" r:id="rId16"/>
    <p:sldId id="308" r:id="rId17"/>
    <p:sldId id="309" r:id="rId18"/>
    <p:sldId id="310" r:id="rId19"/>
    <p:sldId id="311" r:id="rId20"/>
    <p:sldId id="307" r:id="rId21"/>
    <p:sldId id="312" r:id="rId22"/>
    <p:sldId id="313" r:id="rId23"/>
    <p:sldId id="315" r:id="rId24"/>
    <p:sldId id="316" r:id="rId25"/>
    <p:sldId id="317" r:id="rId26"/>
    <p:sldId id="318" r:id="rId27"/>
    <p:sldId id="319" r:id="rId28"/>
    <p:sldId id="320" r:id="rId29"/>
    <p:sldId id="314" r:id="rId30"/>
    <p:sldId id="321" r:id="rId31"/>
    <p:sldId id="329" r:id="rId32"/>
    <p:sldId id="324" r:id="rId33"/>
    <p:sldId id="327" r:id="rId34"/>
    <p:sldId id="328" r:id="rId35"/>
    <p:sldId id="330" r:id="rId36"/>
    <p:sldId id="331" r:id="rId37"/>
    <p:sldId id="332" r:id="rId38"/>
    <p:sldId id="322" r:id="rId39"/>
    <p:sldId id="333" r:id="rId40"/>
    <p:sldId id="335" r:id="rId41"/>
    <p:sldId id="336" r:id="rId42"/>
    <p:sldId id="337" r:id="rId43"/>
    <p:sldId id="339" r:id="rId44"/>
    <p:sldId id="340" r:id="rId45"/>
    <p:sldId id="341" r:id="rId46"/>
    <p:sldId id="338" r:id="rId47"/>
    <p:sldId id="334" r:id="rId48"/>
    <p:sldId id="297" r:id="rId49"/>
  </p:sldIdLst>
  <p:sldSz cx="9144000" cy="5143500" type="screen16x9"/>
  <p:notesSz cx="6858000" cy="9144000"/>
  <p:embeddedFontLst>
    <p:embeddedFont>
      <p:font typeface="Mulish Black" panose="020B0604020202020204" charset="-52"/>
      <p:bold r:id="rId51"/>
      <p:boldItalic r:id="rId52"/>
    </p:embeddedFont>
    <p:embeddedFont>
      <p:font typeface="Mulish ExtraBold" panose="020B0604020202020204" charset="-52"/>
      <p:bold r:id="rId53"/>
      <p:boldItalic r:id="rId54"/>
    </p:embeddedFont>
    <p:embeddedFont>
      <p:font typeface="Mulish SemiBold" panose="020B0604020202020204" charset="-52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iJQyI2npMiufbLtMTLZXKhjf0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DAFB3B4-A6E1-27FF-8B6C-9E40294A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FDA7AD0-34A6-33DA-4F4A-36A4D6BF7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AE18F91-DCA6-3D83-956D-0E4D9AD34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73423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D941BEB-544D-4C7F-AB84-40777C54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BCEB855-C630-8AC8-5683-AFBCAFD15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A07A61D-02CE-7DD4-CD80-D605E4060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629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E044EC-29C7-3CDD-429A-8357606D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248B09F-DFB1-377F-EA2C-6757B0737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836A5C5-16BD-7FC7-7F6F-4851AD2FD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27105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13211A7-4021-13BA-0F5C-962DD5B7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2D9551C-3857-4CC1-F644-12A929969D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778D12E-2568-EF62-123A-3DF2CCC70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75162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F65C8C-86D1-5A82-6A58-A78F0849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AB0491E-608B-34F1-FDDA-EC43F94287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CE6074C-421B-892D-B739-84CB19713D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43681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B7A3186-AEAC-0C42-ABD4-DB7B69071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2D6A0C4-94AF-019A-6809-8992A4207A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9885C22-6256-0483-7699-CA39C91AA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50466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717F627-5570-6FE6-8839-3EF164875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C6175A6-B2E8-9C79-D8E7-1F245AC49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189E409-A303-5B0C-A184-89A198B8BE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18573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2F134CE-2FDF-D314-905E-1F5AF8DA5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E1F2629-7CA8-30C7-5D10-8B1AE5C0F1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61B2438-5E77-C52E-8311-7D2FD35518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11410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8C14C81-841E-11A9-FF79-C9D1BA7D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D8C1FF3-03BB-E285-4DA0-7D47444C4C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6E5D791-8333-9550-DE9B-304D3C3BC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95283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31D0B97-6333-FDB1-532B-7ACCB61CB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4E0AC00-457E-E0E8-8758-9785BC4E49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60107F8-50A1-02A4-5C08-9A0D6D7E55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94239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17E1C49-3313-6E58-F661-2A86CC9F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3CD291-2D23-6E61-2B18-1E4E2785E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B2FD83A-D393-289C-1025-37482C87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2843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25075F3-2A13-468E-46C0-0BBE4D519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58C86C5-9E52-F0B8-AEB3-A65535B526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FDA9F9D-506C-94E5-EA1D-118056F5A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44759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9E8E5B-CF90-CE61-FDA2-E4AAE68F6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4B23456-34E1-FD71-C99B-9204B71CE2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794D7F6-A1AC-F7B3-CB90-A2E6576051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430456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AF3319E-AF12-EC27-E63B-BE4DA679A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F3F0F45-1051-D7A3-CF03-C13564D939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976BDDD-D00D-2005-8C5F-A33A92C93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32017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CA9220F-729E-44CE-840E-6B28FA23E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2D6A575-4E13-2206-E1F5-785F8F9BD3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EA4B2BD-CC9F-2002-8ED1-3E439EA603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82527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5BD56E5-7987-031B-6559-830A15AC0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F6A1A42-5FEB-1C01-8FAE-8A0EEA82B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F39395B-958B-C4F0-56CE-F4C4561011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96456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6E8D701-FA82-A9ED-0B37-093B5DFD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81B95FA-BAB2-A8D2-2180-0C039A5858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129EBAC-A57C-2BEC-7C08-4868345F28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842225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BFB0CFF-C9A1-BE07-2003-82355C267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38AF85D-F4E9-543A-853C-BD8D4B89C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F345F52-5F15-4F73-BEB7-664444BCE1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375385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43DEE05-AAD1-3E44-2EFB-99E1DF917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023AC1B-45C8-28E8-4AF3-F2F49041E6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22E5BE9-F693-CDEA-F0F5-0F5731B7B6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736646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EC9A77B-4B8E-690B-46A5-C3273F89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0BDC1AA-46B6-6959-663E-3100A4F16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F0AB5C7-59D5-060A-0341-30D1675B78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964713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ABD5D60-6B93-F862-7F4A-68DCAD5B0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AC74E9D-E36E-9A38-EAEF-93E72326F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0D4CE0E-DC80-4DDD-5D85-5420EEEF54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781970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D4A4833-3473-7509-90A8-489C69D6F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5291C0A-4A11-6636-15E5-9158311E1C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C4424B4-05FA-3F7E-47AF-D745F8F427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29745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8EEFC0F-94F2-2084-F798-BE62DAF7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C0FFAB4-4748-B43F-0CD4-4B8C9E8E3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CC6934F-EF56-83F2-D40D-0F48B3728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409879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BBB4765-C6DC-E378-9CBD-999CC3FD2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EC0400B-9BAB-274E-7486-569AB09FC5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D13B10D-347F-C866-1CF6-45DB4F09E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639978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C9430EF-B752-B795-DDA5-B79C57B8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5129DBD-8E35-EF6A-49EB-487AC710E8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77C9884-6D4C-F3B6-E522-163FAF988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883672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81683BD-4667-DCE2-DE08-3DCA9E4F2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25AFB1C-BE49-B707-1724-06665AA204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139FA3D-0FE0-ED56-BFBE-5E5657CD31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111796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2C63024-0869-F30A-3360-3D29F1F0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A67CCD9-FB67-7425-BA36-2ADECFB032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5A4A887-3DFE-6E91-01FF-1C55E72AA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347673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49EF756-34C1-91E5-8FDB-A6B545795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88C64D4-2564-54D0-1977-30A05F250E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7F52AEB-8EA2-03BE-7AAE-74E424B278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721082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9932668-6B74-2775-3CC5-92906F2BE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5A872E8-B05D-01FB-A575-E75D86AD1D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0941B18-D992-A253-71A2-1DAC9C3D57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734881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4B1ED55-07B3-FE82-32DB-FEDF72CDA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02F05C7-DAC5-0680-0341-B4C34ABB88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AE88D4B-198C-B48C-D319-55C3F47C74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877541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CBD8A8C-C125-B856-053F-293CD2EB7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5C6C1A3-9801-4527-16CE-FE613A8CE9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ED16180-DE72-7F09-AB90-1A2E0B0F26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07193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159C9F1-6569-7B23-B62B-245A8D001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BC3BF48-0F37-B90E-AF21-6508171CE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AF4C356-C1BE-775C-5E1C-B5BF3A0710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487281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E858AC1-9CED-B08A-CDD3-63045405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8706692-8282-9A81-12A8-A50A67EF3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074C621-0FE2-1782-1C4E-27301E6BF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83650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ABED87D-2032-1D26-8163-2E29D00D1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91980FF-E912-4424-ECFE-7FA32CE80E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177E2DD-30BD-5117-F447-27847F3CE2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458015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99BF3E3-A34C-8685-A6E3-187057F6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83E7605-1D23-B25E-4DAD-FF9E426396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AE3DF8B-B6F2-60D7-9A26-6F4DADA64F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187311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6027C0D-A8C3-EE8F-DB44-3132A1126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4DAB092-8A7C-9639-0750-4F40E4C58E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F3FF793-FDC4-12D4-D429-BCF76B74D3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807392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09D7DB5-003A-36E6-95A7-2F6168208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E00F3ED-4589-60C0-7481-7EA91531E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CDC19F6-97EA-18AE-6928-910086C5EA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446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0BEFE7C-92E0-DDCA-A3C5-4634E644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B0A969B-CD42-E7CA-DA0D-C96FB40171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75F76E3-F7DE-F266-F619-B1A90F1D39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58738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009316A-C9FF-6A95-1B79-BC899EDE0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BD97B25-AB69-525F-568C-28E5F6FC2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F9D1D5A-D3D0-054D-A236-5BDBF4E90A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957065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04254FA-F725-381F-4ED1-B2488B628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7852850-682F-42C8-7E75-C48C2F43F0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5270F78-C054-A8FA-3CFE-E2C480325A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971222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8DCE404-0C0E-EC23-029C-B8EC5FD2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FCFA740-B2E9-0D7E-53D1-01F3064D27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041EED0-F479-A2F7-E78F-D89F32FA7D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783680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8766F29-2509-3D69-A488-4ED54C08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89E7ADA-BBF8-0857-13A4-B7DECDE654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919C969-BCB3-2520-246A-043D1F14C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6732089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6B0CE04-CA72-6167-3530-1C312644B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9467AF1-9BB2-32CE-A444-D5350BAC41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EB53C29-9C5E-AE90-0A70-BC4077589F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91622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C22BF2F-7E77-1049-36EF-79CD1F4FB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FA3D214-BCBB-A20C-E478-E42E8117B7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7E8120A-B12C-ACED-145D-FA6E99F90C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103256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600523C-EF17-4652-77E0-F63283E6B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B183DF3-875F-BA33-8D46-36F7131ED1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D259C45-AE0A-8FDA-34D6-499A4EBF1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4200969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C3C8252-301C-5851-DD96-CB0B3D1E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D08F3A7-AE80-143C-600B-4627A889B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B5399B4-772E-8DAE-581C-EE42F1B25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599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>
            <a:spLocks noGrp="1"/>
          </p:cNvSpPr>
          <p:nvPr>
            <p:ph type="subTitle" idx="1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8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9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4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title"/>
          </p:nvPr>
        </p:nvSpPr>
        <p:spPr>
          <a:xfrm>
            <a:off x="311760" y="2170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1DD"/>
              </a:buClr>
              <a:buSzPts val="4600"/>
              <a:buFont typeface="Mulish ExtraBold"/>
              <a:buNone/>
            </a:pPr>
            <a:r>
              <a:rPr lang="ru" sz="4600" b="0" strike="noStrike">
                <a:solidFill>
                  <a:srgbClr val="7F61DD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ДЕНЬ ОТКРЫТЫХ ДВЕРЕЙ</a:t>
            </a:r>
            <a:endParaRPr sz="4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" y="275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311760" y="499860"/>
            <a:ext cx="4813200" cy="26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FFFFFF"/>
              </a:buClr>
              <a:buSzPts val="5200"/>
            </a:pP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Тема 11. Работа с данными и API</a:t>
            </a:r>
            <a:endParaRPr sz="4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040" y="4295880"/>
            <a:ext cx="3405960" cy="34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3605D530-78B4-D96B-5E5D-8AD558CB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860" y="1512048"/>
            <a:ext cx="2619000" cy="261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661189C-46F6-4CD9-DDDE-0B2E5FF5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DB4BADD6-2AE5-D570-8470-5225E4470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Цель занятия: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067664F-4901-0A1E-CE0D-48ECCE427D2C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Научить сервер принимать информацию от клиента, обрабатывать её и отдавать структурированный ответ (JSON), понятный веб - приложению.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A47345-2906-5DA2-08C2-6D36778F9F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24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2C321365-8BB3-751B-D626-A8C38FD08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Учебные вопросы: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F77FDE5-30BB-2C80-0149-A5DF95C8B0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53;g30f32ff6c42_0_5">
            <a:extLst>
              <a:ext uri="{FF2B5EF4-FFF2-40B4-BE49-F238E27FC236}">
                <a16:creationId xmlns:a16="http://schemas.microsoft.com/office/drawing/2014/main" id="{C79ABC90-E477-BAF9-D09B-501578615789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Роутинг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(Маршрутизация) на нативном Node.js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GET-запросы и параметры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Query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Strings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POST-запросы: Прием больших данных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 Работа с JSON (Стандарт обмена данными)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5. Создание простейшего API (Практика)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6A9EA9D-1834-3F87-97B3-C8D3490C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5BCE706-32DC-49BF-5BEF-B7F6F1A62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1. </a:t>
            </a:r>
            <a:r>
              <a:rPr lang="ru-RU" sz="3420" dirty="0" err="1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Роутинг</a:t>
            </a: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 (Маршрутизация) на нативном Node.js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35EFA4D-36CB-FFB1-B428-A3FE2F4BEECA}"/>
              </a:ext>
            </a:extLst>
          </p:cNvPr>
          <p:cNvSpPr/>
          <p:nvPr/>
        </p:nvSpPr>
        <p:spPr>
          <a:xfrm>
            <a:off x="320400" y="1523999"/>
            <a:ext cx="8150700" cy="340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Роутинг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механизм определения того, какой код должен выполниться в зависимости от URL-адреса (req.url) и метода запроса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req.method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6E7D912-FA7F-2A52-855B-84A9B7456D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306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0BF6BB5-4D44-092C-CB17-AB7FE8B6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B6B94BE-9935-740D-1677-3A6C3470B8D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сервер понимает, куда пришел пользователь?</a:t>
            </a:r>
          </a:p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мы вводим в браузере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localhost:3000/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contacts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Node.js получает объект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где свойство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req.url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будет содержать строку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"/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contacts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Наша задача - проанализировать эту строку.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E2E7FB7-A9C9-18AF-D5E5-AD0C9A6AAF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357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66ED7FF-6A75-0C40-7DFA-06000ABF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E7F9C6C-A6FA-2B6C-34B2-FFFA6B02BC6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Простейший роутер (через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if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или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switch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нативном Node.js (без Express) мы создаем маршруты вручную.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Самый понятный способ  - конструкция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switch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CFE9647-0761-8B04-D5E1-D4884DAC48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682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B1407B4-4CD7-C722-710E-54EF70DAD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5622B37-581C-7F66-E4F2-7294C8CD395B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C6DA8CB-79F3-037F-96E2-97C9D24AEB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CD9908-CDFC-A93C-C67F-181FE0BF8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073855"/>
            <a:ext cx="8359961" cy="207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944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6F8E471-C020-5423-AED5-8651C34FA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731FB27-24F7-727E-AB58-48904949521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2368490-9729-B9BB-3851-3559DDD336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7C81F27-351C-97A0-0160-E9FE3349E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09" y="36861"/>
            <a:ext cx="6976181" cy="506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87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165DDC2-DD1E-C7B7-8848-52CF81C5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1A2A858-2823-BC58-9023-C2C752473DD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77E54AA-E046-0986-3464-290D21234D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451EDC-B8E6-006C-61D5-8FC323471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39" y="984250"/>
            <a:ext cx="8220447" cy="147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9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8366A57-17E9-06E6-B6EF-8A8A24553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FD95261-190F-E5BA-0141-5A0FBE575576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это важно для API?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Для приложения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роутинг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способ обращаться к разным функциям вашего бэкенда.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GET 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tasks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получить список дел.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GET 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profile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получить данные пользователя.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Для приложения это выглядит как разные «ручки»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endpoints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одного и того же сервера.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4BAF9D5-3F15-150E-B374-A56423A07D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6894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6635E82-EDBA-85E7-D03E-7C60D8D0F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E6EF9BD-F80E-31D1-20F9-2B0A480E6A3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Проблема «грязного» URL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Важный момент: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req.url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содержит всё, что идет после порта.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пользователь введет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users?id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=5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наш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switch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не сработает, потому что он ищет строгое совпадение с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"/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users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нативном Node.js адрес и его параметры перемешаны в одной строке. Чтобы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роутинг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работал стабильно, нам нужно научиться отделять «путь» (куда идем) от «параметров» (что несем).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5CB1263-A5C1-CA49-C0DC-2282B32C14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7090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844BAFA-8320-CD7C-5890-FC0D2939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F6ADFD8-D9E0-BEAA-F450-47C6CAB4E4FD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Роутинг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«разводка» запросов по разным функциям.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Основа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роутинга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 Node.js - объект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req.url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Блок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default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всегда должен возвращать 404 ошибку, чтобы клиент не висел в ожидании.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реальных проектах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роутинг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выносят в отдельные файлы, чтобы код сервера не превращался в бесконечный список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if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else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60C43ED-BDB7-8286-D0DC-A52F22E96B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5202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E1C49C-1938-F461-02A6-5F1E1699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6A145A8-17DA-5B1A-46E6-702E9E007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434343"/>
              </a:buClr>
              <a:buSzPts val="2620"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2. GET-запросы и параметры (</a:t>
            </a:r>
            <a:r>
              <a:rPr lang="ru-RU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Query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 </a:t>
            </a:r>
            <a:r>
              <a:rPr lang="ru-RU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Strings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)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D864CD3-DB4C-A805-18F7-32D8CDDCBE88}"/>
              </a:ext>
            </a:extLst>
          </p:cNvPr>
          <p:cNvSpPr/>
          <p:nvPr/>
        </p:nvSpPr>
        <p:spPr>
          <a:xfrm>
            <a:off x="320400" y="1399822"/>
            <a:ext cx="8150700" cy="3528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вы ищете что-то в Google, ваш запрос отображается прямо в адресной строке: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google.com/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search?q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=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nodeJS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Всё, что идет после знака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называется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Query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String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(строка запроса).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F399CAB-9F97-1E8C-7DF2-41B62C6C3A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745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1EB41BE-63B3-DB44-9645-E31322D3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8DE6C16-E90C-C360-EF3F-2A09E3B668B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Анатомия URL с параметрами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http://localhost:3000/products?category=phones&amp;limit=10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products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Путь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 Куда мы идем.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Разделитель. Говорит: «Дальше пошли данные».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category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=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phones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Первый параметр (ключ=значение).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&amp;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Соединитель. Позволяет передать несколько параметров.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limit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=10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Второй параметр.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73001CC-E8B9-B5A3-E2FD-218EC1BE63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8626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7EAA793-64A1-21EA-DD34-78632327C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2AF85FC-7A8F-4A37-760A-F3F4BBDE57DB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Проблема в Node.js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мы уже выяснили,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req.url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выдает всё одной кучей: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"/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products?category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=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phones&amp;limit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=10"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Делить эту строку вручную через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split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('?') - плохая практика, потому что параметры могут быть закодированы или идти в разном порядке.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Современный способ: Объект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URL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Для удобного разбора параметров в Node.js используется встроенный класс URL.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5D9D6FA-40E9-A786-C24C-720FCE7808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98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529B87D-6914-6218-15C5-6B0F7981D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4EC1A47-E71E-EC45-D519-926B66FC62E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B5E2792-196C-F634-D8C0-EBC0F29165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7E9164-57E7-0804-268B-2BA7F1CE4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88" y="232208"/>
            <a:ext cx="7704634" cy="469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83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7601C11-A9AC-F28E-B325-567EC4286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927245F-8CBD-F7DD-412B-438C477232FD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 это нужно в приложении?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Представьте, что ваше приложение отображает список товаров.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Пользователь выбирает фильтр «Электроника».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Приложение отправляет запрос: GET 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products?type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=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electronics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Сервер вытаскивает слово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electronics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идет в базу данных и отдает только нужные товары.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7771D96-7ED8-0E52-13D5-661B787217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7804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2379149-DCE2-3C2D-7478-2E1ADA21D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E9D7B57-46ED-C466-0615-FC61B62B7A3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Важные нюансы: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Типы данных: Все параметры из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searchParams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приходят как строки. Если вам нужно число (например, для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limit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), не забудьте сделать Number(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limit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Безопасность: Никогда не передавайте через GET-параметры пароли или секретные данные. Они сохраняются в истории браузера и в логах сервера. Для этого есть POST-запросы.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3A69EEA-173E-39AF-F7ED-9C43D9FCAD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9141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F7614EE-D3D3-B0AC-87A4-92C96C2B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0A7450A-A02E-1511-C0F3-65C181A5261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Query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String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способ передать серверу мелкие настройки запроса через URL.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Параметры начинаются с ? и разделяются &amp;.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Node.js для разбора параметров используем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new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URL(req.url, ...).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Свойство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searchParams.get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('ключ') - самый быстрый способ достать значение.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F498A6B-E436-5828-EC9A-6E3FC4B5AF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896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60E8F35-D39B-C038-A5B8-59F098DF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1F8AAC93-AFF3-0871-7DCD-C84787EED0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3. POST-запросы: Прием больших данных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2E09E80-EB2E-0FCE-F0F7-DDBEB11E301A}"/>
              </a:ext>
            </a:extLst>
          </p:cNvPr>
          <p:cNvSpPr/>
          <p:nvPr/>
        </p:nvSpPr>
        <p:spPr>
          <a:xfrm>
            <a:off x="320400" y="1332089"/>
            <a:ext cx="8150700" cy="359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GET-запрос - это «открытка», где всё написано на виду, то POST-запрос - это «посылка». 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Данных в ней может быть очень много (например, фотография или длинный текст), поэтому Node.js не ждет, пока посылка дойдет целиком, а начинает обрабатывать её частями.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0072BF0-3C33-24A6-50E9-49274F1369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5941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0C22201-BAA2-E748-28A0-2E17679C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B250619-0E21-EA85-5BAC-A9D7536624A9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данные приходят «кусками»?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Представьте, что вам присылают файл размером 100 МБ.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Node.js будет ждать полной загрузки в оперативную память перед обработкой, сервер «умрет», когда придет 10 таких пользователей.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Поэтому Node.js использует событийную модель: он говорит: «О, прилетела порция байтов! Держи её. О, еще одна!».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FD4ACAF-9BE9-DD22-076F-16F33AFF4A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5403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41C6D9D-9C21-1C3D-CC93-5CABD4B63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E03A788-EBEB-69BD-4AC6-5DC75B2E5D60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собрать данные (События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Для работы с телом POST-запроса нам нужно прослушать два события у объекта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('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chunk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=&gt; { ... })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срабатывает, когда пришла очередная порция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чанк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данных.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('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', () =&gt; { ... })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срабатывает, когда передача данных полностью завершена.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FBD73B4-31C8-C229-7523-2C240848BC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4809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1E9688E-912A-4050-08C9-6A230FE8F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5CC0099-C73D-256C-A6BA-C552AD0D576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 кода: Прием данных от клиента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F92C8ED-0977-5C0F-1D49-64D5FCB546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834D83-A7F1-02F8-F2AB-E4F64DF83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72" y="1266118"/>
            <a:ext cx="7951413" cy="261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35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994596D-B00C-F253-765F-35EDFF2CD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8867704-5ECC-6636-04B3-A0861DFAB23B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DC30D41-E24B-35AD-5A6C-EF92049EB3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536C09-6293-1F73-DF2B-03ACFBF5B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38" y="502276"/>
            <a:ext cx="7926917" cy="349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85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3B0CB1F-9243-73D2-46EE-F8CED774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C59426C-08F0-E8F2-5786-275DD41A05FA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Проверяем: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09BE7B8-6645-794F-AADB-A5D86D3625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46B223-B930-41A1-CBEF-C60F55BF8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39" y="1425046"/>
            <a:ext cx="8146221" cy="92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265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B342206-24F3-A18A-7853-D41B3F44B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2E7BA88-794B-5068-108F-3B86C23C1699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Или в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Postman: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4505044-C161-DAAA-9BDE-607A278D59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DD7B8A-B5D8-5DB1-16AD-17894BAAA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16" y="1136826"/>
            <a:ext cx="808672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AD58ECF-EC1E-F7AA-75C3-A3D960E14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0F41AA4-E5A7-46E9-B7FA-037D55340E9F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Важно: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Буферы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Buffers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chunk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не строка, а массив байтов. Мы делаем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toString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(), потому что ожидаем текст (JSON или форму).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Безопасность (Anti-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Flood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В реальных серверах стоит ограничитель. Если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body.length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превышает, допустим, 1 МБ, соединение нужно обрывать, чтобы серверу не переполнили память вредоносным огромным запросом.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Синхронность: Важно подчеркнуть, что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res.end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должен находиться внутри обработчика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Если написать его снаружи, сервер ответит клиенту еще до того, как данные дойдут.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25FF8C5-75F2-7038-9F74-03BEBBC84F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0166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91F0040-6144-21FB-655D-51C37E09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8828E1A-7305-1B50-D8F3-B1F220E4818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POST используется для передачи чувствительных или больших данных.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Данные в Node.js передаются потоком (кусками).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Используем событие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для накопления данных 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для финальной обработки.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Объект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сам по себе является «читаемым потоком»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Readable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Stream).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916AFEB-8174-7786-0DDC-7803391041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5147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6365A0B-C385-765B-31EA-1C82A3A0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6CC8886A-3E39-C366-0324-5EE7323200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4. Работа с JSON (Стандарт обмена данными)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E587085-D79C-CB7C-BDFD-E7BA51FCBF69}"/>
              </a:ext>
            </a:extLst>
          </p:cNvPr>
          <p:cNvSpPr/>
          <p:nvPr/>
        </p:nvSpPr>
        <p:spPr>
          <a:xfrm>
            <a:off x="320400" y="1411111"/>
            <a:ext cx="8150700" cy="351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 (JavaScript Object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Notation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- это текстовый формат обмена данными. Он выглядит как объект JavaScript, но технически это просто строка.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Чтобы сервер мог работать с этими данными, нам нужно выполнить два действия: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Парсинг (Разбор): Превратить входящую JSON-строку от клиента в JS-объект.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Сериализация: Превратить наш JS-объект в JSON-строку для отправки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отв</a:t>
            </a: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7F29954-D91B-1761-9A4F-2184A3EFD9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6178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8467312-819E-0F93-6735-70934565F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FFEC376-CF57-5E14-AB52-5EFCE9AACD9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А. Прием JSON (Парсинг)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данные приходят через POST, они прилетают в виде сырого текста. Чтобы достать из них значения, мы используем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JSON.parse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B7D7898-B8A9-B5CF-2CC8-C0879E535F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6564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B024274-E9A0-6758-CE0A-1F0E0D652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BABEE52-579C-4670-03AA-2C54C1145F1E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F69BAA7-F116-13FB-BBB0-5A3EDE643B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FC7093-4AE6-52E2-4665-E740F203D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926890"/>
            <a:ext cx="8216720" cy="328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6359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10C70FD-F51D-479D-140C-83295C95E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B53E0E0-982A-A835-38BB-60A55B8A1B40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Б. Отправка JSON (Ответ)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Чтобы клиент (например, ваш смартфон) понял, что вы прислали ему не просто текст, а структурированные данные, нужно: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Указать заголовок Content-Type: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application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Превратить объект в строку через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JSON.stringify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8D02084-C5A8-4786-6DFC-3652D36D61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38029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2DB795E-9937-C35D-7EA7-4BEEBDDA8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FA8F279-AD6E-0099-437A-A0E5F68645B6}"/>
              </a:ext>
            </a:extLst>
          </p:cNvPr>
          <p:cNvSpPr/>
          <p:nvPr/>
        </p:nvSpPr>
        <p:spPr>
          <a:xfrm>
            <a:off x="320399" y="259645"/>
            <a:ext cx="8359961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Полный пример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API-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обработчика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1A75BFA-5FFA-DC4F-71CF-F858CBD660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A3BE60-FB0D-623B-7853-E0F0C2A51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" y="767645"/>
            <a:ext cx="780097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044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86BD878-56EE-118C-397F-BA87389E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CEEE13B-A40B-C48A-DBF4-D7C79BB21CB9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E628804-6B42-EE29-AF09-F233466B6C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90186C-6876-49F2-F02C-07F38E0B9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62" y="1200855"/>
            <a:ext cx="776287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043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CCC332F-BC8E-423E-24F0-54413C80A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9047540-6DBC-4C2C-3353-E9C91BC1F90C}"/>
              </a:ext>
            </a:extLst>
          </p:cNvPr>
          <p:cNvSpPr/>
          <p:nvPr/>
        </p:nvSpPr>
        <p:spPr>
          <a:xfrm>
            <a:off x="320399" y="215026"/>
            <a:ext cx="8359961" cy="586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Проверка: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5BD1A9A-6721-2088-DB6A-8E18F72FCE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B63755-CD97-DC45-87FA-C13D9D616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86" y="801512"/>
            <a:ext cx="8003027" cy="409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31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E40708B-0705-6513-5A36-0F3E327C8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FE92932-82E0-AB3B-DC11-E6BE3C30AA63}"/>
              </a:ext>
            </a:extLst>
          </p:cNvPr>
          <p:cNvSpPr/>
          <p:nvPr/>
        </p:nvSpPr>
        <p:spPr>
          <a:xfrm>
            <a:off x="320399" y="112890"/>
            <a:ext cx="8359961" cy="5030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Схема взаимодействия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Frontend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+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Backend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Браузер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Frontend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Скрипт на странице (например, при нажатии кнопки «Добавить») отправляет запрос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fetch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методом POST с телом {"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title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": "Купить хлеб"}.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Backend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Принимает данные как поток байтов, собирает их в строку, превращает в объект и сохраняет (в массив или базу данных).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Backend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Формирует ответный объект {"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status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": "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success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", "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": 1}, превращает его в JSON-строку и отправляет обратно с кодом 201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Created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Браузер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Frontend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Получает ответ,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парсит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JSON и с помощью JavaScript динамически обновляет страницу (добавляет новый элемент в список задач без перезагрузки).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E299371-330D-C5A1-4BD8-CCE546D521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81972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14E8D9-116F-2446-6B5A-B95C8A42A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05A9913-1306-550B-40BE-65E1C192224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JSON.parse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string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- превращает текст в объект (используем при приеме).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JSON.stringify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object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- превращает объект в текст (используем при ответе).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Try-Catch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обязателен при парсинге, так как любая лишняя запятая в JSON вызовет фатальную ошибку сервера.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Заголовок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application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обязательный маркер для современных API.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CE506B0-8D42-AC6F-8C12-DC64A862B5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28268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2B9B7B9-74F0-81E7-D965-7595BCF8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3346051D-F41D-BDD1-FFCB-07CF8DAAB6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5. Создание простейшего API (Практика)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27BC3E2-85BB-E91C-34BC-077540382A71}"/>
              </a:ext>
            </a:extLst>
          </p:cNvPr>
          <p:cNvSpPr/>
          <p:nvPr/>
        </p:nvSpPr>
        <p:spPr>
          <a:xfrm>
            <a:off x="320400" y="1422400"/>
            <a:ext cx="8150700" cy="350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 практике API (Application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Programming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Interface) для веб-приложения - это набор «ручек» 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endpoints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), к которым фронтенд обращается за данными. 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Мы создадим простейший менеджер задач (To-Do List).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1C2045C-60E8-A25F-D5CE-EC35993D92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82452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443EAA9-AB95-F0A5-2860-20CB138F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F88030E-C086-5BF6-AB31-E5168B7B6A2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Архитектура нашего мини-проекта: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Хранилище: Массив в оперативной памяти (временно, до изучения БД).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Метод GET 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tasks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Отдает весь список задач.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Метод POST 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tasks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Добавляет новую задачу в список.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1CE4B14-9D2A-CD18-C299-1A71E06554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32458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3B94D71-90EF-F479-AE6E-8D6A25949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9707ACD-9A90-390E-128C-29B6AB488B98}"/>
              </a:ext>
            </a:extLst>
          </p:cNvPr>
          <p:cNvSpPr/>
          <p:nvPr/>
        </p:nvSpPr>
        <p:spPr>
          <a:xfrm>
            <a:off x="320399" y="215026"/>
            <a:ext cx="8359961" cy="62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Полный код сервера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API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5295EA1-B808-65B6-C7B2-6D796AA24D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5DD1B5-AAA2-5BD6-15C1-FB3951CCB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95" y="685617"/>
            <a:ext cx="7208838" cy="427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313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3195F73-716A-A335-208E-D4B4F44F8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B6301C3-5314-DD3D-2B92-2BC5575631A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D9ED7C2-85FC-C121-C9C9-445FF6D477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8D409B-D951-183F-0CD2-9E27F3A49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52500"/>
            <a:ext cx="73152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41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4B5AD92-4064-30A0-14DD-FC1CA1AAA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630E4F4-094B-6A67-E463-6618CE105456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3454868-AC79-E054-804D-79BD853B83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3C58A7-7DBB-30B7-F375-FB81C6E7D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26" y="903111"/>
            <a:ext cx="7906529" cy="334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7745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9BFF9AD-DD28-9C46-4487-9B2591103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654B961-FBC7-E7E3-5719-45D9577C6921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B13F963-6505-D650-BE2B-4E6A55865C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FD148A-83BC-3C7C-62BD-E011101DB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67" y="1332089"/>
            <a:ext cx="8078865" cy="230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7142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F943407-6CF6-7869-005A-0AAD902A0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47ACC09-3AE1-9643-9E7D-9FD7AA0BDDB0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8C61EE0-72C9-8BC1-9C84-8BB5E468DE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4ADE0A-C627-287C-AAB9-49B54DFE2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43" y="502276"/>
            <a:ext cx="8049313" cy="430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780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6756697-C402-A512-113C-A555D541A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AE23F12-87FD-2868-5E40-03655978344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D5FD437-8FEB-45B2-07C4-1046C13F1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1E3C8B-E0B0-E120-5E3E-6EA2F903F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71450"/>
            <a:ext cx="72390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803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7A3D411-D657-1934-BEA3-105302CA3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A2B2A09-3DAB-9F7A-C008-2851F90CFEE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Важно: если мы остановим сервер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Ctrl+C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), все новые задачи исчезнут. Это подводит нас к необходимости использования файлов или баз данных (тема будущих лекций).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Статус-коды как язык общения: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200 OK - просто отдали данные.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201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Created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подтвердили создание ресурса.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400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Bad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Request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ошибка клиента (прислал пустую задачу).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4D9FE2C-37DE-F6A5-1BCE-0BD89844EE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18261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17B1BB4-1CCE-FE57-61B9-B30144624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569E472-FB27-7805-5FCB-739E39B022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Выводы: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A81C99E-214D-01FA-F5B8-7E5888C6BFAE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Роутинг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фундамент любого веб-приложения. Без него сервер остается просто «автоответчиком». На чистом Node.js мы реализуем его через анализ строки req.url.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GET и POST имеют принципиально разную природу в Node.js. GET-параметры доступны мгновенно в объекте URL, в то время как POST-данные нужно собирать по частям 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чанками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через события.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 - это стандарт. Современная веб-разработка практически полностью отказалась от передачи данных в виде простого текста или XML в пользу JSON.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Безопасность парсинга. Использование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try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...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при вызове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JSON.parse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- это не «хороший тон», а обязательное условие стабильности сервера. Одна ошибка в JSON-строке клиента не должна убивать весь бэкенд.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Статус-коды - часть интерфейса. Правильный выбор кода (201 вместо 200, 400 вместо 404) помогает фронтенд-разработчикам (и их скриптам) быстрее понимать, что произошло на сервере.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5BD3CDF-3483-3F77-4A96-8A7401BA8D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8141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5F55314-7898-4958-9480-F8FB4A5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63BED38-91CA-D9D6-6121-BF988F7C5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Контрольные вопросы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6682A93-D9C7-FBAA-14FF-26E9049451E6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извлечь значение параметра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id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из URL http://localhost:3000/user?id=10 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чем главная опасность использования req.url для прямого сравнения в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switch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если мы ожидаем параметры?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такое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chunk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 обработчике события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req.on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('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',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chunk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=&gt; ...) и какой у него тип данных по умолчанию?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Какой заголовок Content-Type должен отправить сервер, если он возвращает массив объектов в формате JSON?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произойдет с сервером Node.js, если выполнить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JSON.parse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('не-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-строка') без использования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try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...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чем разница между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JSON.parse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JSON.stringify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Какой HTTP-статус лучше всего подходит для успешного добавления новой задачи в To-Do List?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964D9A-BD29-A315-0A5D-43051D5DE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714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</TotalTime>
  <Words>1863</Words>
  <Application>Microsoft Office PowerPoint</Application>
  <PresentationFormat>Экран (16:9)</PresentationFormat>
  <Paragraphs>157</Paragraphs>
  <Slides>48</Slides>
  <Notes>48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4" baseType="lpstr">
      <vt:lpstr>Times New Roman</vt:lpstr>
      <vt:lpstr>Mulish SemiBold</vt:lpstr>
      <vt:lpstr>Mulish ExtraBold</vt:lpstr>
      <vt:lpstr>Arial</vt:lpstr>
      <vt:lpstr>Mulish Black</vt:lpstr>
      <vt:lpstr>Office Theme</vt:lpstr>
      <vt:lpstr>ДЕНЬ ОТКРЫТЫХ ДВЕРЕЙ</vt:lpstr>
      <vt:lpstr>Цель занятия:</vt:lpstr>
      <vt:lpstr>Учебные вопросы:</vt:lpstr>
      <vt:lpstr>1. Роутинг (Маршрутизация) на нативном Node.js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2. GET-запросы и параметры (Query Strings)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3. POST-запросы: Прием больших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4. Работа с JSON (Стандарт обмена данными)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5. Создание простейшего API (Практика)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Выводы: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Fido</dc:creator>
  <cp:lastModifiedBy>user</cp:lastModifiedBy>
  <cp:revision>18</cp:revision>
  <dcterms:modified xsi:type="dcterms:W3CDTF">2026-04-18T12:40:41Z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Экран (16:9)</vt:lpwstr>
  </property>
  <property fmtid="{D5CDD505-2E9C-101B-9397-08002B2CF9AE}" pid="4" name="Slides">
    <vt:i4>45</vt:i4>
  </property>
</Properties>
</file>