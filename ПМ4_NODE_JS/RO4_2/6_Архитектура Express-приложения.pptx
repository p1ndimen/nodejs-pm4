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Архитектура Express-приложения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Routes, Controllers и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Объяснять назначение routes, controllers и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Разделять маршрутизацию, HTTP-логику и бизнес-логику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Выносить обработчики маршрутов в controllers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Выносить операции с данными и правила приложения в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Передавать данные между route, controller и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Организовывать структуру Express-проекта по слоям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Понимать путь HTTP-запроса через архитектурные компоненты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97180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1347" y="1028700"/>
            <a:ext cx="186537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b="1" i="0" dirty="0" err="1">
                <a:solidFill>
                  <a:srgbClr val="172033"/>
                </a:solidFill>
                <a:latin typeface="Aptos"/>
              </a:rPr>
              <a:t>Зачем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разделять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приложение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слои</a:t>
            </a:r>
            <a:endParaRPr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619" y="1831241"/>
            <a:ext cx="1975104" cy="132343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Проблема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смешивания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маршрутизации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, HTTP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бизнес-логики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10127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3456432"/>
            <a:ext cx="1865376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b="1" i="0">
                <a:solidFill>
                  <a:srgbClr val="172033"/>
                </a:solidFill>
                <a:latin typeface="Aptos"/>
              </a:rPr>
              <a:t>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895344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Endpoints и связь HTTP-запроса с controller</a:t>
            </a:r>
          </a:p>
        </p:txBody>
      </p:sp>
      <p:sp>
        <p:nvSpPr>
          <p:cNvPr id="12" name="Oval 11"/>
          <p:cNvSpPr/>
          <p:nvPr/>
        </p:nvSpPr>
        <p:spPr>
          <a:xfrm>
            <a:off x="58247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1" y="1417320"/>
            <a:ext cx="1865376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b="1" i="0">
                <a:solidFill>
                  <a:srgbClr val="172033"/>
                </a:solidFill>
                <a:latin typeface="Aptos"/>
              </a:rPr>
              <a:t>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856232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Получение данных из req и формирование res</a:t>
            </a:r>
          </a:p>
        </p:txBody>
      </p:sp>
      <p:sp>
        <p:nvSpPr>
          <p:cNvPr id="15" name="Oval 14"/>
          <p:cNvSpPr/>
          <p:nvPr/>
        </p:nvSpPr>
        <p:spPr>
          <a:xfrm>
            <a:off x="8339328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71232" y="3456432"/>
            <a:ext cx="1865376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b="1" i="0">
                <a:solidFill>
                  <a:srgbClr val="172033"/>
                </a:solidFill>
                <a:latin typeface="Aptos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895344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Бизнес-логика и работа с данными независимо от HTTP</a:t>
            </a:r>
          </a:p>
        </p:txBody>
      </p:sp>
      <p:sp>
        <p:nvSpPr>
          <p:cNvPr id="18" name="Oval 17"/>
          <p:cNvSpPr/>
          <p:nvPr/>
        </p:nvSpPr>
        <p:spPr>
          <a:xfrm>
            <a:off x="108539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21240" y="1299997"/>
            <a:ext cx="1865376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b="1" i="0" dirty="0" err="1">
                <a:solidFill>
                  <a:srgbClr val="172033"/>
                </a:solidFill>
                <a:latin typeface="Aptos"/>
              </a:rPr>
              <a:t>Взаимодействие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слоёв</a:t>
            </a:r>
            <a:endParaRPr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21240" y="1885008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Полный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путь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запроса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структура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проекта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Зачем разделять приложение на слои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От работающего кода к понятной архитектуре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 не навязывает архитектуру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предоставляет маршрутизацию, middleware и работу с HTTP-запросами и ответами.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Фреймворк не требует создавать папки controllers или services.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Разделение на routes, controllers и services является архитектурным соглашением разработчиков.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Такой подход становится полезным, когда приложение начинает расти.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Главная цель — разделить разные обязанности между разными модулями.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sz="16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sz="1600"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sz="1700" b="1" i="0" dirty="0">
                <a:solidFill>
                  <a:srgbClr val="172033"/>
                </a:solidFill>
                <a:latin typeface="Aptos"/>
              </a:rPr>
              <a:t>Routes, controllers и services —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архитектурные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роли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специальные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классы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Express.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Когда вся логика находится в маршруте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600" b="1" i="0" dirty="0">
                <a:solidFill>
                  <a:srgbClr val="14B8A6"/>
                </a:solidFill>
                <a:latin typeface="Consolas"/>
              </a:rPr>
              <a:t> </a:t>
            </a:r>
            <a:endParaRPr sz="16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('/:id', (req, res) =&gt; {
 const id = Number(req.params.id);
 const product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products.find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 =&gt; p.id === id);
 if (!product) {
 return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(404).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message: 'Product not found'
 });
 }
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смешано в одном обработчике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Описание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GET /:id.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Получение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id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req.params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Преобразование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в Number.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Проверка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результата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поиска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Выбор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статуса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Формирование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sz="16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sz="1600"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sz="1700" b="1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небольшого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примера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это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допустимо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мере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роста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обработчики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становятся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перегруженными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От толстого маршрута к трём слоям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3BBBCD-AEA9-A9D5-ECED-31247574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Разделяем три ответственности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 err="1">
                <a:solidFill>
                  <a:srgbClr val="64748B"/>
                </a:solidFill>
                <a:latin typeface="Aptos"/>
              </a:rPr>
              <a:t>Определяют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метод</a:t>
            </a:r>
            <a:r>
              <a:rPr b="0" i="0" dirty="0">
                <a:solidFill>
                  <a:srgbClr val="64748B"/>
                </a:solidFill>
                <a:latin typeface="Aptos"/>
              </a:rPr>
              <a:t>, URL и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функцию</a:t>
            </a:r>
            <a:r>
              <a:rPr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которой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нужно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передать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Controllers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Работают с req и res: получают данные запроса и формируют HTTP-ответ.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120032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Выполняют бизнес-операции и не должны зависеть от объектов req и 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Кто за что отвечает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302266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Слой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Основная ответственность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Знает о HTTP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Какой endpoint вызывает какую функцию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Controller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Получение запроса и отправка ответа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Бизнес-логика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и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операции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с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данными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Архитектура Route → Controller → Service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3BA4B2-45FC-FC67-F54B-EB273C595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Маршрут знает URL, HTTP-метод и нужный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Роль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 описывает доступный endpoint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связывает HTTP-метод и URL с функцией-обработчиком.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разделения архитектуры обработчиком обычно становится функция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 не должен содержать большой объём бизнес-логики.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 routes удобно рассматривать как карту API конкретного ресурса.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Route без бизнес-логики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2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('/',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('/:id',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('/',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router.patch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('/:id',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updateProduct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router.delete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('/:id',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deleteProduct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Route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показывает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структуру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связан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getProducts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/:id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связан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getProductById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именно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Подробная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логика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вынесена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маршрутизации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Перегруженный и компактный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172033"/>
                </a:solidFill>
                <a:latin typeface="Aptos"/>
              </a:rPr>
              <a:t>Перегруженный</a:t>
            </a:r>
            <a:endParaRPr sz="18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req.params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Ищет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правила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Компактный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Определяет HTTP-метод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Определяет URL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Подключает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Указывает controller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Легко показывает структуру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productRoutes.js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005840"/>
            <a:ext cx="10652760" cy="566013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E2E8F0"/>
                </a:solidFill>
                <a:latin typeface="Consolas"/>
              </a:rPr>
              <a:t>import express from 'express';
import {</a:t>
            </a:r>
            <a:r>
              <a:rPr lang="ru-RU" sz="16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ru-RU" sz="16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ru-RU" sz="16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createProduct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ru-RU" sz="16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updateProduct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,</a:t>
            </a:r>
            <a:r>
              <a:rPr lang="ru-RU" sz="16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deleteProduct</a:t>
            </a:r>
            <a:r>
              <a:rPr lang="ru-RU" sz="16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} from '../controllers/productController.js';
</a:t>
            </a:r>
            <a:endParaRPr lang="ru-RU" sz="1600" b="0" i="0" dirty="0">
              <a:solidFill>
                <a:srgbClr val="E2E8F0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E2E8F0"/>
                </a:solidFill>
                <a:latin typeface="Consolas"/>
              </a:rPr>
              <a:t>const router =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express.Router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();
</a:t>
            </a:r>
            <a:endParaRPr lang="ru-RU" sz="1600" b="0" i="0" dirty="0">
              <a:solidFill>
                <a:srgbClr val="E2E8F0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6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('/',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('/:id',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router.post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('/',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createProduct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router.patch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('/:id',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updateProduct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router.delete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('/:id',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deleteProduct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);
export default router;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Route остаётся частью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Routes создаются через express.Router().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Маршруты по-прежнему используют HTTP-методы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подключать route-level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использовать параметры пути.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Изменяется не механизм Express, а организация собственного кода.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Controllers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Контроллер связывает HTTP-запрос с логикой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Роль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— функция обработки HTTP-запроса, которая получает данные из req, вызывает необходимую логику приложения и формирует ответ через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знает о req и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получает params, query и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вызывает функции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выбирает подходящий HTTP-статус.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формирует JSON-ответ для клиента.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Простой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b="1" i="0" dirty="0">
                <a:solidFill>
                  <a:srgbClr val="14B8A6"/>
                </a:solidFill>
                <a:latin typeface="Consolas"/>
              </a:rPr>
              <a:t> </a:t>
            </a:r>
            <a:endParaRPr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export function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(req, res) {
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(products);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экспортируется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отдельного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Route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 и res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автоматически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напрямую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Следующим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шагом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операцию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перенесём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получает id из запроса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b="1" i="0" dirty="0">
                <a:solidFill>
                  <a:srgbClr val="14B8A6"/>
                </a:solidFill>
                <a:latin typeface="Consolas"/>
              </a:rPr>
              <a:t> </a:t>
            </a:r>
            <a:endParaRPr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export function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(req, res) {
 const id = Number(req.params.id);
 const product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findProductById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(id);
 if (!product) {
 return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(404).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
 message: 'Product not found'
 });
 }
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req.params.id.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число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findProductById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интерпретирует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результат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логично оставить в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930599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Задача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Чтение route params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req.params.id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Чтение query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req.query.category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Чтение 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Выбор HTTP-статуса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res.status(201)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Формирование ответа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res.json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(result)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не должен становиться новым app.js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Простое перемещение всего кода из route в controller не решает архитектурную проблему.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controller содержит большие вычисления и правила, он снова становится перегруженным.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Бизнес-операции лучше вынести ещё на один уровень.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этого используется service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sz="1700" b="1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координировать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содержать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всю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бизнес-логику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Controller как граница между HTTP и бизнес-логикой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E6E251-283B-4701-E452-B312D0AD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Выносим бизнес-операции из HTTP-слоя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— модуль с функциями бизнес-логики, которые выполняют операции приложения и не должны зависеть от Express req и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получает обычные JavaScript-значения.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может искать, создавать или изменять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возвращает результат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не должен формировать HTTP-ответ.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Позже service сможет работать с PostgreSQL вместо массива.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и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2563EB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Получает req и 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2563EB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Работает с HTTP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2563EB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Извлекает входные данные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2563EB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Выбирает HTTP-статус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2563EB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Отправляет ответ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Получает обычные аргументы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Не зависит от HTTP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Выполняет бизнес-операцию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Работает с данными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Возвращает результат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Service для получения товаров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b="1" i="0" dirty="0">
                <a:solidFill>
                  <a:srgbClr val="14B8A6"/>
                </a:solidFill>
                <a:latin typeface="Consolas"/>
              </a:rPr>
              <a:t> </a:t>
            </a:r>
            <a:endParaRPr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getAllProducts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 {
 return products;
}
export 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findProductById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(id) {
 return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products.find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
 product =&gt; product.id === id
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 и 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вход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findProductById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поступает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число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операцию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поиска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Результат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вызывающему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коду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вызывает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b="1" i="0" dirty="0">
                <a:solidFill>
                  <a:srgbClr val="14B8A6"/>
                </a:solidFill>
                <a:latin typeface="Consolas"/>
              </a:rPr>
              <a:t> </a:t>
            </a:r>
            <a:endParaRPr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(req, res) {
 const id = Number(req.params.id);
 const product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findProductById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(id);
 if (!product) {
 return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(404).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message: 'Product not found'
 });
 }
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подготовленное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undefined.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решает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сформировать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Кто знает о req и res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DDFB94-7C8B-2AD7-5797-A5ACBFA59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Service для создания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b="1" i="0" dirty="0">
                <a:solidFill>
                  <a:srgbClr val="14B8A6"/>
                </a:solidFill>
                <a:latin typeface="Consolas"/>
              </a:rPr>
              <a:t> </a:t>
            </a:r>
            <a:endParaRPr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addProduct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(data) {
 const product = {
 id: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products.length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 + 1,
 ...data
 };
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products.push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(product);
 return product;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Функция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источник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создания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b="1" i="0" dirty="0">
                <a:solidFill>
                  <a:srgbClr val="14B8A6"/>
                </a:solidFill>
                <a:latin typeface="Consolas"/>
              </a:rPr>
              <a:t> </a:t>
            </a:r>
            <a:endParaRPr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(req, res) {
 const product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addProduct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устанавливает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201.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JSON-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 /api/products через три слоя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Route выбирает createProduct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 err="1">
                <a:solidFill>
                  <a:srgbClr val="64748B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64748B"/>
                </a:solidFill>
                <a:latin typeface="Aptos"/>
              </a:rPr>
              <a:t>: POST /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api</a:t>
            </a:r>
            <a:r>
              <a:rPr b="0" i="0" dirty="0">
                <a:solidFill>
                  <a:srgbClr val="64748B"/>
                </a:solidFill>
                <a:latin typeface="Aptos"/>
              </a:rPr>
              <a:t>/products.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Код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маршрута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и controller: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router.post</a:t>
            </a:r>
            <a:r>
              <a:rPr b="0" i="0" dirty="0">
                <a:solidFill>
                  <a:srgbClr val="64748B"/>
                </a:solidFill>
                <a:latin typeface="Aptos"/>
              </a:rPr>
              <a:t>('/',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createProduct</a:t>
            </a:r>
            <a:r>
              <a:rPr b="0" i="0" dirty="0">
                <a:solidFill>
                  <a:srgbClr val="64748B"/>
                </a:solidFill>
                <a:latin typeface="Aptos"/>
              </a:rPr>
              <a:t>); export function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createProduct</a:t>
            </a:r>
            <a:r>
              <a:rPr b="0" i="0" dirty="0">
                <a:solidFill>
                  <a:srgbClr val="64748B"/>
                </a:solidFill>
                <a:latin typeface="Aptos"/>
              </a:rPr>
              <a:t>(req, res) { const product =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addProduct</a:t>
            </a:r>
            <a:r>
              <a:rPr b="0" i="0" dirty="0">
                <a:solidFill>
                  <a:srgbClr val="64748B"/>
                </a:solidFill>
                <a:latin typeface="Aptos"/>
              </a:rPr>
              <a:t>(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64748B"/>
                </a:solidFill>
                <a:latin typeface="Aptos"/>
              </a:rPr>
              <a:t>);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res.status</a:t>
            </a:r>
            <a:r>
              <a:rPr b="0" i="0" dirty="0">
                <a:solidFill>
                  <a:srgbClr val="64748B"/>
                </a:solidFill>
                <a:latin typeface="Aptos"/>
              </a:rPr>
              <a:t>(201).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json</a:t>
            </a:r>
            <a:r>
              <a:rPr b="0" i="0" dirty="0">
                <a:solidFill>
                  <a:srgbClr val="64748B"/>
                </a:solidFill>
                <a:latin typeface="Aptos"/>
              </a:rPr>
              <a:t>(product); }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Controller получает req.body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Controller извлекает данные нового товара из тела HTTP-запроса.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Service создаёт товар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Service выполняет операцию создания товара.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Service возвращает объект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Результат: { id: 6, name: 'SSD 1TB', price: 45000 }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Controller отправляет статус 201 и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Каждый слой выполняет только свою часть операции.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Взаимодействие слоёв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Полный путь запроса через routes, controllers и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путь HTTP-запроса через слои 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FBFFB5-09CA-A6B2-EC78-CB3907A2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Пример: GET /api/products/15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>
                <a:solidFill>
                  <a:srgbClr val="172033"/>
                </a:solidFill>
                <a:latin typeface="Aptos"/>
              </a:rPr>
              <a:t>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 dirty="0" err="1">
                <a:solidFill>
                  <a:srgbClr val="64748B"/>
                </a:solidFill>
                <a:latin typeface="Aptos"/>
              </a:rPr>
              <a:t>router.get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('/:id',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getProductById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) </a:t>
            </a:r>
            <a:r>
              <a:rPr sz="2000" b="0" i="0" dirty="0" err="1">
                <a:solidFill>
                  <a:srgbClr val="64748B"/>
                </a:solidFill>
                <a:latin typeface="Aptos"/>
              </a:rPr>
              <a:t>выбирает</a:t>
            </a:r>
            <a:r>
              <a:rPr sz="2000" b="0" i="0" dirty="0">
                <a:solidFill>
                  <a:srgbClr val="64748B"/>
                </a:solidFill>
                <a:latin typeface="Aptos"/>
              </a:rPr>
              <a:t> controller.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>
                <a:solidFill>
                  <a:srgbClr val="172033"/>
                </a:solidFill>
                <a:latin typeface="Aptos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Получает id из req.params и преобразует его в Number.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findProductById(id) выполняет поиск товара.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Получает результат service и выбирает статус ответа.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Клиент получает JSON товара или сообщение 404.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Направление зависимостей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Route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импортирует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импортирует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импортирует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route.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импортировать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Нижний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слой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зависеть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деталей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верхнего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слоя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sz="16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sz="1600"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b="1" i="0" dirty="0">
                <a:solidFill>
                  <a:srgbClr val="172033"/>
                </a:solidFill>
                <a:latin typeface="Aptos"/>
              </a:rPr>
              <a:t>Route → Controller → Service, а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результат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обратном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направлении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Направление зависимостей и возврат результата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58A9AC-615E-F0D4-11BD-453B8BDFB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Где пока хранить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данном этапе курса товары могут оставаться обычным массивом JavaScript.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Массив можно временно хранить внутри service или отдельного модуля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Главная цель занятия — не база данных, а разделение ответственности.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РО 4.3 service будет обращаться к PostgreSQL и ORM.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Routes и controllers при этом потребуется менять значительно меньше.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Сегодня и после подключения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172033"/>
                </a:solidFill>
                <a:latin typeface="Aptos"/>
              </a:rPr>
              <a:t>Сейчас</a:t>
            </a:r>
            <a:endParaRPr sz="20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6412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массивом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find()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ищет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товар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push()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товар</a:t>
            </a:r>
            <a:endParaRPr sz="20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исчезают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перезапуска</a:t>
            </a:r>
            <a:endParaRPr sz="20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Позже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6412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Service обращается к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ORM выполняет запрос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Данные сохраняются постоянно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Route и controller почти не меняются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Структура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express-shop/
├── controllers/
│ └── productController.js
├── routes/
│ └── productRoutes.js
├── services/
│ └── productService.js
├── app.js
├──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package.json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
└── package-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lock.json</a:t>
            </a:r>
            <a:endParaRPr sz="2000" b="0" i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Структура проекта: routes, controllers, services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D84B7E-7752-CDDE-9FA3-1B794A0BE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Файлы Product-модуля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750654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Файл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Что содержит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productRoutes.js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HTTP-методы и URL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productController.js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req, res и HTTP-статусы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productService.js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Операции с товарами и бизнес-логика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Middleware и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подключение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productRoutes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Связь app.js и Product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2420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2000" b="1" i="0" dirty="0">
                <a:solidFill>
                  <a:srgbClr val="14B8A6"/>
                </a:solidFill>
                <a:latin typeface="Consolas"/>
              </a:rPr>
              <a:t> </a:t>
            </a:r>
            <a:endParaRPr sz="2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import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from './routes/productRoutes.js';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('/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/products',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84464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74736" y="2017612"/>
            <a:ext cx="3319272" cy="363894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app.js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импортирует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напрямую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Главное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services.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уровень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взаимодействует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соседним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уровнем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Преимущества разделения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Файлы становятся короче и имеют более понятное назначение.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Проще находить код конкретной операции.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Бизнес-логику можно использовать вне HTTP-обработчика.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Services легче тестировать отдельно от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Замена способа хранения данных меньше влияет на остальные части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Команде проще параллельно работать над разными слоями.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нужно создавать лишние слои заранее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Архитектура должна помогать понимать приложение, а не усложнять его.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маленького учебного проекта достаточно routes, controllers и services.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создавать дополнительные абстракции без практической необходимости.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Структуру можно расширять постепенно по мере появления новых задач.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sz="14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400"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sz="1400"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b="1" i="0" dirty="0" err="1">
                <a:solidFill>
                  <a:srgbClr val="172033"/>
                </a:solidFill>
                <a:latin typeface="Aptos"/>
              </a:rPr>
              <a:t>Цель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архитектуры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—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разделить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ответственность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увеличить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количество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файлов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6993"/>
            <a:ext cx="1019556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Разделите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существующий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Product Router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routes, controller и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31081"/>
            <a:ext cx="4864607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 dirty="0" err="1">
                <a:solidFill>
                  <a:srgbClr val="2563EB"/>
                </a:solidFill>
                <a:latin typeface="Aptos"/>
              </a:rPr>
              <a:t>Задание</a:t>
            </a:r>
            <a:endParaRPr sz="20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414016"/>
            <a:ext cx="4937759" cy="343658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Оставить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в productRoutes.js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endpoints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productController.js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Перенести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работу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с req и res в controller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productService.js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Перенести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изменение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товаров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в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Проверить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GET, POST, PATCH и DELETE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клиент</a:t>
            </a:r>
            <a:endParaRPr sz="20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31081"/>
            <a:ext cx="4864607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 dirty="0" err="1">
                <a:solidFill>
                  <a:srgbClr val="14B8A6"/>
                </a:solidFill>
                <a:latin typeface="Aptos"/>
              </a:rPr>
              <a:t>Критерии</a:t>
            </a:r>
            <a:r>
              <a:rPr sz="2000" b="1" i="0" dirty="0">
                <a:solidFill>
                  <a:srgbClr val="14B8A6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4B8A6"/>
                </a:solidFill>
                <a:latin typeface="Aptos"/>
              </a:rPr>
              <a:t>проверки</a:t>
            </a:r>
            <a:endParaRPr sz="20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5936" y="2414016"/>
            <a:ext cx="4937759" cy="20541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Routes не содержат бизнес-логику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Controller работает с req и 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Service не использует req и res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Существующие URL API не изменились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маршруты продолжают работать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69702"/>
            <a:ext cx="4572000" cy="707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>
                <a:solidFill>
                  <a:srgbClr val="172033"/>
                </a:solidFill>
                <a:latin typeface="Aptos"/>
              </a:rPr>
              <a:t>1.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Зачем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разделять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Express-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приложение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routes, controllers и services?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00638"/>
            <a:ext cx="4572000" cy="707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2. Являются ли controllers и services встроенными механизмами Express?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5461"/>
            <a:ext cx="457200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3. За что отвечает слой routes?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16397"/>
            <a:ext cx="457200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4. Что должен делать controller?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93446"/>
            <a:ext cx="4572000" cy="707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5. Почему controller знает об объектах req и res?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1451121"/>
            <a:ext cx="457200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>
                <a:solidFill>
                  <a:srgbClr val="172033"/>
                </a:solidFill>
                <a:latin typeface="Aptos"/>
              </a:rPr>
              <a:t>6.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Какую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задачу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service?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1919709"/>
            <a:ext cx="4572000" cy="707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>
                <a:solidFill>
                  <a:srgbClr val="172033"/>
                </a:solidFill>
                <a:latin typeface="Aptos"/>
              </a:rPr>
              <a:t>7.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Почему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service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принимать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req и res?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31574"/>
            <a:ext cx="4572000" cy="707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>
                <a:solidFill>
                  <a:srgbClr val="172033"/>
                </a:solidFill>
                <a:latin typeface="Aptos"/>
              </a:rPr>
              <a:t>8. В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каком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направлении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идут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зависимости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между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слоями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891" y="3416397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36435"/>
            <a:ext cx="4572000" cy="70788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>
                <a:solidFill>
                  <a:srgbClr val="172033"/>
                </a:solidFill>
                <a:latin typeface="Aptos"/>
              </a:rPr>
              <a:t>9.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потребуется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изменить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в service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подключения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PostgreSQL?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891" y="415862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50113"/>
            <a:ext cx="4572000" cy="1015663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>
                <a:solidFill>
                  <a:srgbClr val="172033"/>
                </a:solidFill>
                <a:latin typeface="Aptos"/>
              </a:rPr>
              <a:t>10.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Почему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разделение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ответственности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облегчает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тестирование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сопровождение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75111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требует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конкретной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структуры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проекта</a:t>
            </a:r>
            <a:r>
              <a:rPr b="1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приложение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удобно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разделять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ответственности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74899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Routes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описывают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endpoints и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связывают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их</a:t>
            </a:r>
            <a:r>
              <a:rPr b="1" i="0">
                <a:solidFill>
                  <a:srgbClr val="172033"/>
                </a:solidFill>
                <a:latin typeface="Aptos"/>
              </a:rPr>
              <a:t> с controllers.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36187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Controllers работают с HTTP-запросом и HTTP-ответом.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97475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Services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выполняют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бизнес-операции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зависят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req и res.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13611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Типичное направление вызовов: Route → Controller → Service.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861995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Результат возвращается Service → Controller → Client.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271879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Такое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разделение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уменьшает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связанность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кода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подготавливает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приложение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подключению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базы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Архитектура приложения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2976</Words>
  <Application>Microsoft Office PowerPoint</Application>
  <PresentationFormat>Широкоэкранный</PresentationFormat>
  <Paragraphs>449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Express-приложения: routes, controllers, services</dc:title>
  <dc:subject>Разделение ответственности между маршрутизацией, обработкой HTTP и бизнес-логикой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2026-09-20T11:43:15Z</dcterms:modified>
  <cp:category/>
</cp:coreProperties>
</file>