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Разработка REST API и CRUD-операций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полноценный API для ресурсов интернет-магазина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38978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Объяснять назначение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Проектировать URL вокруг ресурсов приложения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00850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Связывать CRUD-операции с HTTP-методами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3287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коллекции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отдельные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ресурсы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0479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Реализовывать CRUD через routes, controllers и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Возвращать подходящие HTTP-коды состояния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00850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Проверять REST API через HTTP-клиент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971800"/>
            <a:ext cx="10058400" cy="3657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" y="1417320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>
                <a:solidFill>
                  <a:srgbClr val="172033"/>
                </a:solidFill>
                <a:latin typeface="Aptos"/>
              </a:rPr>
              <a:t>REST API и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ресурсы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7432" y="1856232"/>
            <a:ext cx="1975104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 dirty="0" err="1">
                <a:solidFill>
                  <a:srgbClr val="64748B"/>
                </a:solidFill>
                <a:latin typeface="Aptos"/>
              </a:rPr>
              <a:t>Как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проектировать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API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вокруг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сущностей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приложения</a:t>
            </a:r>
            <a:endParaRPr sz="14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10127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3456432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CRUD и HTTP-методы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895344"/>
            <a:ext cx="1975104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ptos"/>
              </a:rPr>
              <a:t>Create, Read, Update, Delete и их связь с HTTP</a:t>
            </a:r>
          </a:p>
        </p:txBody>
      </p:sp>
      <p:sp>
        <p:nvSpPr>
          <p:cNvPr id="12" name="Oval 11"/>
          <p:cNvSpPr/>
          <p:nvPr/>
        </p:nvSpPr>
        <p:spPr>
          <a:xfrm>
            <a:off x="58247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1417320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Проектирование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856232"/>
            <a:ext cx="1975104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ptos"/>
              </a:rPr>
              <a:t>Коллекции, отдельные ресурсы и понятные URL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8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2" y="3456432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Реализация CRUD в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3895344"/>
            <a:ext cx="1975104" cy="5232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ptos"/>
              </a:rPr>
              <a:t>Routes, controllers и services для Product API</a:t>
            </a:r>
          </a:p>
        </p:txBody>
      </p:sp>
      <p:sp>
        <p:nvSpPr>
          <p:cNvPr id="18" name="Oval 17"/>
          <p:cNvSpPr/>
          <p:nvPr/>
        </p:nvSpPr>
        <p:spPr>
          <a:xfrm>
            <a:off x="108539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5832" y="1417320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Ответы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8" y="1856232"/>
            <a:ext cx="1975104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Aptos"/>
              </a:rPr>
              <a:t>HTTP-коды, JSON и проверка полного CRUD-цикла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REST API и ресурсы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API как интерфейс между frontend и серверной частью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API — программный интерфейс, через который одна часть системы может обращаться к функциям и данным другой части системы.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не должен напрямую обращаться к серверным файлам или базе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отправляет запросы к определённым endpoints.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обрабатывает запрос и возвращает ответ.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браузерных приложений обмен часто выполняется по HTTP.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Данные между frontend и backend обычно передаются в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REST API — HTTP API,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организованный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вокруг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использующий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стандартную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семантику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выполнения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операций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над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ними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API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рассматривает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имеет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понятный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показывает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требуемую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операцию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код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представление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результата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же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нескольких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операций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6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6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sz="1700" b="1" i="0" dirty="0">
                <a:solidFill>
                  <a:srgbClr val="172033"/>
                </a:solidFill>
                <a:latin typeface="Aptos"/>
              </a:rPr>
              <a:t>В REST API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действие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обычно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выражается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методом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а URL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обозначает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Ресурсы интернет-магазина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 err="1">
                <a:solidFill>
                  <a:srgbClr val="64748B"/>
                </a:solidFill>
                <a:latin typeface="Aptos"/>
              </a:rPr>
              <a:t>Товары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магазина</a:t>
            </a:r>
            <a:r>
              <a:rPr b="0" i="0" dirty="0">
                <a:solidFill>
                  <a:srgbClr val="64748B"/>
                </a:solidFill>
                <a:latin typeface="Aptos"/>
              </a:rPr>
              <a:t>: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название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цена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категория</a:t>
            </a:r>
            <a:r>
              <a:rPr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наличие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Категории, по которым организуются товары.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92333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Заказы покупателей и информация об их состоянии.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Пользователи приложения и связанные с ними данные.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REST API как набор ресурсов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E8E33-E088-3C14-80B7-F9EF8179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URL как действие и URL как ресурс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Менее</a:t>
            </a:r>
            <a:r>
              <a:rPr sz="2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72033"/>
                </a:solidFill>
                <a:latin typeface="Aptos"/>
              </a:rPr>
              <a:t>удачный</a:t>
            </a:r>
            <a:r>
              <a:rPr sz="2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72033"/>
                </a:solidFill>
                <a:latin typeface="Aptos"/>
              </a:rPr>
              <a:t>подход</a:t>
            </a:r>
            <a:endParaRPr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getProducts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getProductById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/15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createProduct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updateProduct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/15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POST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deleteProduct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Ресурсный подход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GET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GET /api/products/15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POST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PATCH /api/products/15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DELETE /api/products/15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в URL используют существительные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обозначает ресурс, с которым работает клиент.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HTTP-метод уже описывает действие над ресурсом.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products обозначает коллекцию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products/15 обозначает конкретный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Такой API легче читать и использовать.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i="0" dirty="0" err="1">
                <a:solidFill>
                  <a:srgbClr val="2563EB"/>
                </a:solidFill>
                <a:latin typeface="Aptos"/>
              </a:rPr>
              <a:t>Главная</a:t>
            </a:r>
            <a:r>
              <a:rPr sz="16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2563EB"/>
                </a:solidFill>
                <a:latin typeface="Aptos"/>
              </a:rPr>
              <a:t>идея</a:t>
            </a:r>
            <a:endParaRPr sz="1600" b="1" i="0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600"/>
              </a:spcBef>
            </a:pPr>
            <a:r>
              <a:rPr sz="1700" b="1" i="0" dirty="0">
                <a:solidFill>
                  <a:srgbClr val="172033"/>
                </a:solidFill>
                <a:latin typeface="Aptos"/>
              </a:rPr>
              <a:t>GET, POST, PATCH и DELETE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уже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говорят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нужно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сделать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поэтому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create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delete в URL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обычно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172033"/>
                </a:solidFill>
                <a:latin typeface="Aptos"/>
              </a:rPr>
              <a:t>нужны</a:t>
            </a:r>
            <a:r>
              <a:rPr sz="1700"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CRUD и HTTP-методы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Четыре базовые операции над данными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CRUD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описывает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базовые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операции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данными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независимо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конкретной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технологии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Create —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создание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нового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Read —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получение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одного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или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нескольких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ресурсов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Update —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изменение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существующего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Delete —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удаление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существующего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CRUD и HTTP-методы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B04068-9565-E757-4EAD-566CCC9AB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CRUD для ресурса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367701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CRUD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HTTP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Endpoint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Create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Создать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список товаров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один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PATCH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Частично изменить товар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Удалить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товар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Read: получение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используется для чтения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 возвращает коллекцию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GET /api/products/15 возвращает один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Получение данных не должно само по себе изменять ресурс.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выбора конкретного объекта используется параметр маршрута.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Получение одного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"id": 15,
  "name": "SSD 1TB",
  "price": 45000,
  "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45936" y="2414016"/>
            <a:ext cx="4937759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запрашивает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конкретный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products/15.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Create: создание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 обычно используется для создания нового элемента коллекции.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URL указывает коллекцию /api/products.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Данные нового товара передаются в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 создаёт новый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Созданный объект можно вернуть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успешного создания обычно используется статус 201 Created.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Создание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Запрос: POST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"name": "Mechanical Keyboard",
  "price": 32000,
  "category": "Accessories",
  "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16,
  "name": "Mechanical Keyboard",
  "price": 32000,
  "category": "Accessories",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56398"/>
            <a:ext cx="36576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2944" y="4123944"/>
            <a:ext cx="3730752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а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назначенным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PUT и 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>
                <a:solidFill>
                  <a:srgbClr val="172033"/>
                </a:solidFill>
                <a:latin typeface="Aptos"/>
              </a:rPr>
              <a:t>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040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Ориентирован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замену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представления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состояние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обновления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PUT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идемпотентным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5132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Применяет частичные изменения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Можно передать только изменяемые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Удобен для форм редактирования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В учебном Product API используем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POST, GET, PATCH и DELETE для одного ресурса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FE8FC2-24C8-CF33-4E74-25EA196FE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Частичное изменение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Запрос: PATCH /api/products/15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"price": 42000,
  "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": false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{
  "id": 15,
  "name": "SSD 1TB",
  "price": 42000,
 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": false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56398"/>
            <a:ext cx="36576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2944" y="4123944"/>
            <a:ext cx="3730752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PATCH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отправляя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заново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весь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Delete: удаление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DELETE используется для удаления выбранного ресурса.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Идентификатор обычно находится в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DELETE /api/products/15 означает удаление товара с id 15.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сначала должен определить, существует ли такой ресурс.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удаления можно вернуть результат операции или ответ без тела.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Удаление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DELETE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{
  "id": 15,
  "name": "SSD 1TB",
  "price": 42000,
  "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": false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45936" y="2414016"/>
            <a:ext cx="4937759" cy="12439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учебном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API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Другой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распространённый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вариант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— 204 No Content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Проектирование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Коллекции, отдельные ресурсы и единая структура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Коллекция и отдельный ресурс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Коллекция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/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Обозначает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набор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товаров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GET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список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POST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добавляет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новый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элемент</a:t>
            </a:r>
            <a:endParaRPr sz="18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Отдельный ресурс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/api/products/:id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Обозначает конкретный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получает один объект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изменяет объект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DELETE удаляет объект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Идентификатор ресурса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товар должен иметь уникальный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id позволяет обратиться к конкретному ресурсу.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URL используется динамический сегмент :id.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помещает фактическое значение в req.params.id.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Перед поиском строковое значение можно преобразовать в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Маршруты Product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('/',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router.post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('/',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router.patch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updateProduct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router.delete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('/:id',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deleteProduct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0572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обслуживает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коллекцией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/:id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конкретным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метод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определяет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нужную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CRUD-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операцию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Route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обработку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соответствующему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REST API нескольких ресурсов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/api/products — товары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/api/categories — категории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/api/orders — заказы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/api/users — пользователи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каждого ресурса можно создать собственный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Внутри каждого Router используется одинаковая логика проектирования CRUD.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Коллекция и отдельный ресурс в REST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831DD-ADE5-6009-E7F3-C18B53AD3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Реализация CRUD в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Product API через routes, controllers и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CRUD через Route → Controller → Service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DDF08E-2E68-3B48-A6C1-83DE3D12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Начальные данные productService.js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let products = [
  {
    id: 1,
    name: 'Keyboard',
    price: 15000,
  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: true
  },
  {
    id: 2,
    name: 'Mouse',
    price: 8000,
  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: true
  }
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Read в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getAllProducts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() {
  return products;
}
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findProductById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(id) {
  return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products.find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
    product =&gt; product.id === id
  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0949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getAllProducts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коллекцию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findProductById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ищет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req и 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Create в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addProduct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(data) {
  const product = {
    id: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products.length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 + 1,
    ...data
  };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products.push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(product);
  return product;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47554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добавляется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Update в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updateProductById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(id, changes) {
  const product =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products.find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
    product =&gt; product.id === id
  );
  if (!product) return null;
 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Object.assign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(product, changes);
  return product;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3480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Сначала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changes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PATCH-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Object.assign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свойства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обновлённый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 в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deleteProductById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(id) {
  const index =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products.findIndex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
    product =&gt; product.id === id
  );
  if (index === -1) return null;
  const [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deletedProduct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] =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products.splice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(index, 1);
  return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deletedProduct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findIndex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определяет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позицию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-1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означает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найден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splice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элемент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массива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Controllers для чтения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(req, res) {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getAllProducts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());
}
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(req, res) {
  const id = Number(req.params.id);
  const product =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findProductById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(id);
  if (!product) {
    return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(404).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({
      message: 'Product not found'
    });
  }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177439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Поиск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данных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существующего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отсутствующего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sz="1400" b="0" i="0" dirty="0">
                <a:solidFill>
                  <a:srgbClr val="172033"/>
                </a:solidFill>
                <a:latin typeface="Aptos"/>
              </a:rPr>
              <a:t> 404.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создания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(req, res) {
  const product =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addProduct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);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(201).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поступают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статусом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201 Created.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POST-запроса при создании товара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B0A71-8981-59D9-9E19-EE84163C3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изменения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updateProduct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(req, res) {
  const id = Number(req.params.id);
  const product =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updateProductById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(id,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);
  if (!product) {
    return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(404).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({
      message: 'Product not found'
    });
  }
  </a:t>
            </a:r>
            <a:r>
              <a:rPr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F8FAFC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05724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берётся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req.params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берутся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обновление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успехе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обновлённый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удаления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deleteProduct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(req, res) {
  const id = Number(req.params.id);
  const product =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deleteProductById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(id);
  if (!product) {
    return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(404).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({
      message: 'Product not found'
    });
  }
  </a:t>
            </a:r>
            <a:r>
              <a:rPr sz="20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F8FAFC"/>
                </a:solidFill>
                <a:latin typeface="Consolas"/>
              </a:rPr>
              <a:t>(product);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3857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удаляемого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Service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отсутствует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учебном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API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успешный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ответ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удалённый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Полный CRUD-цикл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>
                <a:solidFill>
                  <a:srgbClr val="172033"/>
                </a:solidFill>
                <a:latin typeface="Aptos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Aptos"/>
              </a:rPr>
              <a:t>POST /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api</a:t>
            </a:r>
            <a:r>
              <a:rPr b="0" i="0" dirty="0">
                <a:solidFill>
                  <a:srgbClr val="64748B"/>
                </a:solidFill>
                <a:latin typeface="Aptos"/>
              </a:rPr>
              <a:t>/products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создаёт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новый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его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новым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id.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Aptos"/>
              </a:rPr>
              <a:t>GET /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api</a:t>
            </a:r>
            <a:r>
              <a:rPr b="0" i="0" dirty="0">
                <a:solidFill>
                  <a:srgbClr val="64748B"/>
                </a:solidFill>
                <a:latin typeface="Aptos"/>
              </a:rPr>
              <a:t>/products/:id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получить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4748B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PATCH /api/products/:id изменяет выбранные свойства товара.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Read after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Повторный GET позволяет убедиться, что изменения сохранены.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DELETE /api/products/:id удаляет товар.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Read after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0" i="0">
                <a:solidFill>
                  <a:srgbClr val="64748B"/>
                </a:solidFill>
                <a:latin typeface="Aptos"/>
              </a:rPr>
              <a:t>Повторный GET для удалённого id должен вернуть 404.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Ответы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Статусы HTTP помогают клиенту понять результат операции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HTTP-коды Product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566831"/>
              </p:ext>
            </p:extLst>
          </p:nvPr>
        </p:nvGraphicFramePr>
        <p:xfrm>
          <a:off x="749808" y="1417320"/>
          <a:ext cx="10680192" cy="480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Код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Название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Когда используем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Успешное получение или изменение с телом ответа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Created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Новый ресурс успешно создан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204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No Content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Операция выполнена, тело ответа не требуется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Bad Request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Запрос содержит некорректные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Not Found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Запрошенный ресурс не существует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Internal Server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Ошибка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на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стороне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сервера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HTTP-статусы полного CRUD API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56A3BB-4D0F-F099-F428-7CB55B728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HTTP-код и JSON выполняют разные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HTTP-код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Показывает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общий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запроса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200 —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операция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успешна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201 —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создан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404 —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найден</a:t>
            </a:r>
            <a:endParaRPr sz="18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frontend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быстро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определить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тип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результата</a:t>
            </a:r>
            <a:endParaRPr sz="18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Передаёт данные результата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Может содержать созданный или изменённый объект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Может содержать сообщение об ошибке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Используется JavaScript-кодом frontend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Структура определяется нашим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проверьте CRUD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 err="1">
                <a:solidFill>
                  <a:srgbClr val="172033"/>
                </a:solidFill>
                <a:latin typeface="Aptos"/>
              </a:rPr>
              <a:t>Выполните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жизненный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цикл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14016"/>
            <a:ext cx="4937759" cy="29459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POST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Запомнить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полученный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GET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/products/:id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цену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PATCH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/products/:id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Повторно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получить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новую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цену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DELETE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/products/:id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Проверить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GET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удалённого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товара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46470"/>
            <a:ext cx="4864607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4B8A6"/>
                </a:solidFill>
                <a:latin typeface="Aptos"/>
              </a:rPr>
              <a:t>Критерии</a:t>
            </a:r>
            <a:r>
              <a:rPr b="1" i="0" dirty="0">
                <a:solidFill>
                  <a:srgbClr val="14B8A6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4B8A6"/>
                </a:solidFill>
                <a:latin typeface="Aptos"/>
              </a:rPr>
              <a:t>проверки</a:t>
            </a:r>
            <a:endParaRPr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5936" y="2414016"/>
            <a:ext cx="4937759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POST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GET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товар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PATCH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переданные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поля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DELETE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нужный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удаления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GET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38978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REST API?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9914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2. Какие четыре операции входят в CRUD?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62351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3. Какой HTTP-метод обычно используется для создания ресурса?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3287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4. Чем отличаются GET /api/products и GET /api/products/15?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24223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5. Почему действие create не требуется добавлять в URL?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38978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6. Чем PATCH отличается от PUT?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1415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7. Какой статус обычно возвращается после успешного создания ресурса?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00850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8. Что означает статус 404?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3287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9. Как распределяется CRUD-логика между Route, Controller и Service?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24223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10. Как проверить полный CRUD-цикл ресурса?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13611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REST API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организует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взаимодействие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вокруг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ресурсов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74899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CRUD включает Create, Read, Update и Delete.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36187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HTTP-метод определяет операцию над ресурсом.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58975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Коллекция products доступна через /api/products, отдельный товар — через /api/products/:id.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175111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Routes определяют endpoints, controllers работают с HTTP, services выполняют операции с данными.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86199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HTTP-коды сообщают клиенту результат выполнения запроса.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271879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Полный CRUD API позволяет frontend создавать, получать, изменять и удалять данные.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REST API и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3281</Words>
  <Application>Microsoft Office PowerPoint</Application>
  <PresentationFormat>Широкоэкранный</PresentationFormat>
  <Paragraphs>459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REST API и CRUD-операций</dc:title>
  <dc:subject>Проектирование REST API и реализация CRUD для ресурсов Express-приложения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2026-09-20T12:35:57Z</dcterms:modified>
  <cp:category/>
</cp:coreProperties>
</file>