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 dirty="0" err="1">
                <a:solidFill>
                  <a:srgbClr val="172033"/>
                </a:solidFill>
                <a:latin typeface="Aptos"/>
              </a:rPr>
              <a:t>Введение</a:t>
            </a:r>
            <a:r>
              <a:rPr sz="3600" b="1" i="0" dirty="0">
                <a:solidFill>
                  <a:srgbClr val="172033"/>
                </a:solidFill>
                <a:latin typeface="Aptos"/>
              </a:rPr>
              <a:t> в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Создание серверного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Объяснять назначение Express.js и его место в backend-разработке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Node.js-проект для серверного приложения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Устанавливать и подключать 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и запускать HTTP-сервер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простые GET-маршруты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Использовать объекты req и 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Возвращать текстовые и JSON-ответы клиенту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88036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13816" y="275234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57276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Назначение Express.js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00253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Роль Express в Node.js и fullstack-приложении</a:t>
            </a:r>
          </a:p>
        </p:txBody>
      </p:sp>
      <p:sp>
        <p:nvSpPr>
          <p:cNvPr id="9" name="Oval 8"/>
          <p:cNvSpPr/>
          <p:nvPr/>
        </p:nvSpPr>
        <p:spPr>
          <a:xfrm>
            <a:off x="3328415" y="2752344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331012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Создание Express-проекта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73989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Инициализация проекта, package.json, ES Modules и установка зависимостей</a:t>
            </a:r>
          </a:p>
        </p:txBody>
      </p:sp>
      <p:sp>
        <p:nvSpPr>
          <p:cNvPr id="12" name="Oval 11"/>
          <p:cNvSpPr/>
          <p:nvPr/>
        </p:nvSpPr>
        <p:spPr>
          <a:xfrm>
            <a:off x="5843016" y="275234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57276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Создание и запуск сервера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00253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Объект приложения, порт, app.listen() и запуск процесса Node.js</a:t>
            </a:r>
          </a:p>
        </p:txBody>
      </p:sp>
      <p:sp>
        <p:nvSpPr>
          <p:cNvPr id="15" name="Oval 14"/>
          <p:cNvSpPr/>
          <p:nvPr/>
        </p:nvSpPr>
        <p:spPr>
          <a:xfrm>
            <a:off x="8357616" y="2752344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80" y="331012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Маршруты, Request и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092413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 dirty="0" err="1">
                <a:solidFill>
                  <a:srgbClr val="64748B"/>
                </a:solidFill>
                <a:latin typeface="Aptos"/>
              </a:rPr>
              <a:t>Обработка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 HTTP-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запросов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 и 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формирование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ответов</a:t>
            </a:r>
            <a:endParaRPr sz="12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72216" y="275234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157276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Первое API на 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00253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JSON, несколько маршрутов и проверка работы приложения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Назначение Express.js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Зачем нужен Express, если Node.js уже умеет работать с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 frontend к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работает в браузере и отвечает за пользовательский интерфейс.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работает на сервере и принимает запросы от клиентского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выполняет бизнес-логику, обращается к базе данных и проверяет права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и backend взаимодействуют через HTTP-запросы и HTTP-ответы.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нашем курсе серверная часть будет разрабатываться на Node.js и Express.js.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Express станет основой REST API будущего fullstack-приложения.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уже предоставляет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Node.js позволяет выполнять JavaScript вне браузера.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Встроенный модуль http позволяет открыть сетевой порт и принимать HTTP-запросы.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Разработчик может самостоятельно анализировать URL и HTTP-метод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вручную устанавливать статус ответа, заголовки и отправлять данные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Следовательно, Express не является обязательным условием создания HTTP-сервера.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Проблема возникает не в возможности создать сервер, а в удобстве разработки и сопровождения приложения.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Сервер на чистом Node.js и на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Node.js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Низкоуровневая работа с запросом и ответом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Ручная проверка URL и HTTP-методов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Ручная организация маршрутизации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Больше технического кода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Полезен для понимания устройства HTTP-сервера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Удобный API поверх возможностей Node.js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Готовая система маршрутизации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Удобная работа с req и 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Поддержка цепочек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Меньше служебного кода в прикладном приложении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 dirty="0">
                <a:solidFill>
                  <a:srgbClr val="172033"/>
                </a:solidFill>
                <a:latin typeface="Aptos"/>
              </a:rPr>
              <a:t>Node.js и Express.js: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уровни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серверного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приложения</a:t>
            </a:r>
            <a:endParaRPr sz="3000" b="1" i="0" dirty="0">
              <a:solidFill>
                <a:srgbClr val="172033"/>
              </a:solidFill>
              <a:latin typeface="Apto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110454-A43B-F65F-1C22-24DB6D8B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Express.js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Express.js — минималистичный веб-фреймворк для Node.js, предоставляющий средства маршрутизации, обработки HTTP-запросов и построения серверных приложений.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работает внутри процесса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Приложение Express остаётся обычным JavaScript-приложением.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использует стандартные объекты HTTP-запроса и ответа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Фреймворк добавляет удобные методы и механизм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часто используется для создания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Место Express.js в fullstack-приложении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5B1D68-4101-1077-78F8-C05FDD5F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задачи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Определяет, какой код выполнить для конкретного HTTP-метода и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Предоставляет удобный доступ к данным входящего HTTP-запроса.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Помогает сформировать текстовый, JSON или другой HTTP-ответ.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Позволяет выполнять дополнительную обработку запроса до получения ответа.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 — это не готовое приложение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Express предоставляет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Механизм маршрутизации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Работу с HTTP-запросами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Работу с HTTP-ответами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Систему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Базу для построения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Разработчик проектирует сам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Структуру базы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Бизнес-логику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Модель пользователей и ролей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Структуру проекта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Правила обработки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Создание Express-проекта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Подготовка каталога, package.json, модульной системы и зависимостей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необходимо для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Node.js — среда выполнения серверного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npm — менеджер пакетов, устанавливаемый вместе с Node.js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Visual Studio Code — редактор исходного кода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Терминал PowerShell, Command Prompt или встроенный терминал VS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Браузер или HTTP-клиент для проверки запросов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Отдельная папка для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Шаг 1. Создаём каталог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44475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1389888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Создать рабочую папку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389888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Каждое Node.js-приложение удобно хранить в отдельном каталоге.
mkdir express-intro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8600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231136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Перейти в каталог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231136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Последующие команды npm будут выполняться относительно текущей папки.
cd express-intro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272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072384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Открыть каталог в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072384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Команда доступна, если VS Code добавлен в PATH.
code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Шаг 2. Инициализируем Node.js-проект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44475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1389888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 dirty="0" err="1">
                <a:solidFill>
                  <a:srgbClr val="172033"/>
                </a:solidFill>
                <a:latin typeface="Aptos"/>
              </a:rPr>
              <a:t>Выполнить</a:t>
            </a:r>
            <a:r>
              <a:rPr sz="15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72033"/>
                </a:solidFill>
                <a:latin typeface="Aptos"/>
              </a:rPr>
              <a:t>npm</a:t>
            </a:r>
            <a:r>
              <a:rPr sz="15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72033"/>
                </a:solidFill>
                <a:latin typeface="Aptos"/>
              </a:rPr>
              <a:t>init</a:t>
            </a:r>
            <a:endParaRPr sz="15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77639" y="1389888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Команда создаёт описание Node.js-проекта.
npm init -y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8600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231136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Проверить package.json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231136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Файл появится в корне текущего каталога.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272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072384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Использовать проект как npm-проект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072384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Теперь npm сможет сохранять зависимости и команды запуска приложения.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находится в package.json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{
  "name": "express-intro",
  "version": "1.0.0",
  "main": "index.js",
  "scripts": {},
  "license": "ISC"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name — имя проекта в экосистеме npm.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version — версия приложения или пакета.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main — исторически используемая точка входа пакета; запуск приложения мы настроим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scripts — команды, которые можно запускать через npm.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После установки Express появится раздел dependencies.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Шаг 3. Включаем ES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{
  "name": "express-intro",
  "version": "1.0.0",
  "type": "module"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Поле "type": "module" сообщает Node.js, что файлы .js проекта используют систему ECMAScript Modules.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После этого библиотеки можно подключать через синтаксис import.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В курсе будем использовать современную запись import и export.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Без этой настройки аналогичный проект часто использует CommonJS и функцию require().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Шаг 4. Устанавливаем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npm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 install express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npm скачивает Express и необходимые ему зависимости.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В проекте создаётся каталог node_modules.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В package.json Express записывается в раздел dependencies.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package-lock.json фиксирует конкретное дерево установленных зависимостей.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После установки Express можно импортировать в исходный код приложения.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Файлы после установки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403464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Элемент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Работа разработчика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package.json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Описание проекта и список зависимостей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Редактируется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package-lock.json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Фиксация установленных версий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Обычно вручную не редактируется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node_modules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Файлы установленных npm-пакетов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Вручную не редактируются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Исходный код нашего сервера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Создаётся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разработчиком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Структура первого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express-intro/
├──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node_modules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
├── app.js
├──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package.json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└── package-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lock.json</a:t>
            </a:r>
            <a:endParaRPr sz="2000" b="0" i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На первом занятии всё приложение можно разместить в одном файле app.js.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Так проще увидеть полный жизненный цикл небольшого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Позже маршруты, контроллеры и сервисы будут разделены по отдельным файлам.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Каталог node_modules не следует вручную переносить между компьютерами — зависимости восстанавливаются командой npm install.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Создание и запуск сервера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Импорт Express, объект app, порт и прослушивание соединений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Первое Express-приложение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import express from "express";
const app = express();
const PORT = 3000;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("Hello Express!");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app.listen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(PORT, () =&gt; {
  console.log(`Server: http://localhost:${PORT}`);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1. Подключаем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import express from "express";
const app = express();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Первая строка импортирует установленный npm-пакет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Вызов express() создаёт экземпляр Express-приложения.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Переменная app становится центральным объектом серверной части.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Через app мы будем подключать маршруты, middleware и запускать сервер.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2. Выбираем порт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const PORT = 3000;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HTTP-сервер должен прослушивать определённый TCP-порт.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В учебных Node.js-приложениях часто используют порт 3000.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При локальной разработке адрес будет иметь вид http://localhost:3000.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localhost обозначает текущий компьютер, на котором запущено приложение.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Позже номер порта будем получать из переменных окружения.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3. Запускаем сервер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app.listen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(PORT, () =&gt; {
  console.log(`Server: http://localhost:${PORT}`);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app.listen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запускает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начинает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ожидать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входящие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соединения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указанном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порту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обратного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вызова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успешного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запуска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прослушивания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запуска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процесс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Node.js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завершается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потому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продолжает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ожидать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новые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запросы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Запуск приложения из терминала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44475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1389888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Открыть терминал в каталоге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389888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Текущей папкой должен быть каталог, содержащий app.js.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8600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231136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Запустить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231136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Node.js загрузит app.js и выполнит код приложения.
node app.js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272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072384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Проверить сообщение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072384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В терминале должен появиться адрес http://localhost:3000.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684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3913632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Открыть адрес в браузере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913632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Браузер отправит HTTP-запрос серверу.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80974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754880"/>
            <a:ext cx="242316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Остановить сервер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754880"/>
            <a:ext cx="704088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В терминале процесс можно завершить сочетанием Ctrl+C.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после запуска app.listen()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F90471-C511-F189-580C-425237EB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Маршруты, Request и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Express понимает, какой код выполнить для HTTP-запроса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маршрут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("Hello Express!");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54327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app.get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регистрирует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обработчик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методом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GET.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Строка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"/"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обозначает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корневой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URL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(req, res) =&gt; {}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когда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соответствует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этому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маршруту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req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представляет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входящий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клиента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res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формирования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отправки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HTTP-запроса через Express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196B61-D674-E20C-3588-1F13B38C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Объекты req и 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req —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32343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 dirty="0" err="1">
                <a:solidFill>
                  <a:srgbClr val="64748B"/>
                </a:solidFill>
                <a:latin typeface="Aptos"/>
              </a:rPr>
              <a:t>Представляет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входящий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HTTP-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запрос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.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Через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него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приложение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сведения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о URL,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параметрах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заголовках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и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переданных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клиентом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данных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res —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32343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2000" dirty="0" err="1">
                <a:solidFill>
                  <a:srgbClr val="64748B"/>
                </a:solidFill>
                <a:latin typeface="Aptos"/>
              </a:rPr>
              <a:t>Представляет</a:t>
            </a:r>
            <a:r>
              <a:rPr sz="2000" dirty="0">
                <a:solidFill>
                  <a:srgbClr val="64748B"/>
                </a:solidFill>
                <a:latin typeface="Aptos"/>
              </a:rPr>
              <a:t> HTTP-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ответ</a:t>
            </a:r>
            <a:r>
              <a:rPr sz="2000" dirty="0">
                <a:solidFill>
                  <a:srgbClr val="64748B"/>
                </a:solidFill>
                <a:latin typeface="Aptos"/>
              </a:rPr>
              <a:t>.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Через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него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приложение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задаёт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статус</a:t>
            </a:r>
            <a:r>
              <a:rPr sz="2000" dirty="0">
                <a:solidFill>
                  <a:srgbClr val="64748B"/>
                </a:solidFill>
                <a:latin typeface="Aptos"/>
              </a:rPr>
              <a:t> и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отправляет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клиенту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текст</a:t>
            </a:r>
            <a:r>
              <a:rPr sz="2000" dirty="0">
                <a:solidFill>
                  <a:srgbClr val="64748B"/>
                </a:solidFill>
                <a:latin typeface="Aptos"/>
              </a:rPr>
              <a:t>, JSON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или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другое</a:t>
            </a:r>
            <a:r>
              <a:rPr sz="2000" dirty="0">
                <a:solidFill>
                  <a:srgbClr val="64748B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64748B"/>
                </a:solidFill>
                <a:latin typeface="Aptos"/>
              </a:rPr>
              <a:t>содержимое</a:t>
            </a:r>
            <a:r>
              <a:rPr sz="200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Отправляем текстовый ответ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("/about",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Учебный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интернет-магазин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");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GET-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адрес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/about.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находит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подходящими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методом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путём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res.send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отобразить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полученное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содержимое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Несколько URL — несколько обработчиков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Пример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14B8A6"/>
                </a:solidFill>
                <a:latin typeface="Aptos"/>
              </a:rPr>
              <a:t>Разбор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108960"/>
            <a:ext cx="4864608" cy="2578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73152" rtlCol="0" anchor="ctr"/>
          <a:lstStyle/>
          <a:p>
            <a:r>
              <a:rPr sz="13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Главная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");
});
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("/about", (req, res) =&gt; {
 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("О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проекте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");
});
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("/contacts", (req, res) =&gt; {
 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Контакты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");
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3108960"/>
            <a:ext cx="4800600" cy="12439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сопоставляет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входящий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зарегистрированным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Поэтому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могут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запускать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функции-обработчики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Из чего состоит маршрут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46189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Элемент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HTTP-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метод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Определяет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тип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операции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Путь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/about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Определяет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адрес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ресурса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Обработчик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(req, res) =&gt; {}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Содержит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выполняемый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код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Ответ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res.send(...)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Возвращает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результат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клиенту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Первое API на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Передаём структурированные данные между backend и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серверу нужен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Frontend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обычно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получать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готовый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текст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страницы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структурированные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JavaScript 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браузере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умеет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преобразовывать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JSON 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обычные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объекты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массивы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JSON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удобно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передавать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Объекты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товаров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пользователей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заказов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представить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в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REST API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нашего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интернет-магазина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основном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возвращать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b="1" i="0" dirty="0">
                <a:solidFill>
                  <a:srgbClr val="172033"/>
                </a:solidFill>
                <a:latin typeface="Aptos"/>
              </a:rPr>
              <a:t>Backend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предоставляет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, а frontend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решает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показать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их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пользователю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Возвращаем JSON-объект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/status",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status: "ok",
    message: "Server is running"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res.json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принимает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JavaScript-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сериализует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JSON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легко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обрабатывать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frontend-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Префикс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часто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программного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Возвращаем массив товаров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Пример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 dirty="0" err="1">
                <a:solidFill>
                  <a:srgbClr val="14B8A6"/>
                </a:solidFill>
                <a:latin typeface="Aptos"/>
              </a:rPr>
              <a:t>Разбор</a:t>
            </a:r>
            <a:endParaRPr sz="17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32688" y="3108960"/>
            <a:ext cx="4864608" cy="2578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73152" rtlCol="0" anchor="ctr"/>
          <a:lstStyle/>
          <a:p>
            <a:r>
              <a:rPr sz="1400" b="0" i="0" dirty="0">
                <a:solidFill>
                  <a:srgbClr val="E2E8F0"/>
                </a:solidFill>
                <a:latin typeface="Consolas"/>
              </a:rPr>
              <a:t>const products = [
  { id: 1, name: "Keyboard", price: 15000 },
  { id: 2, name: "Mouse", price: 8000 }
];
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3108960"/>
            <a:ext cx="4800600" cy="12439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находятся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памяти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следующих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разделах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PostgreSQL.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res.send() и res.json()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172033"/>
                </a:solidFill>
                <a:latin typeface="Aptos"/>
              </a:rPr>
              <a:t>res.send</a:t>
            </a:r>
            <a:r>
              <a:rPr sz="2000" b="1" i="0" dirty="0">
                <a:solidFill>
                  <a:srgbClr val="172033"/>
                </a:solidFill>
                <a:latin typeface="Aptos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5132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Универсальная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содержимого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Удобен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простого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текста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Подходит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небольших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учебных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ответов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: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res.send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("Hello")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res.json()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5132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Ориентирован на JSON-ответ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Удобен для объектов и массивов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Основной вариант для REST API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Пример: res.json({ status: "ok" 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Статус HTTP-ответа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03308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Название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Когда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встречается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Запрос успешно обработан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Created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Ресурс успешно создан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Bad Request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Клиент передал некорректные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Not Found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Маршрут или ресурс не найден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Internal Server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Ошибка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на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стороне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сервера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Явно задаём HTTP-статус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/status",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(200).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status: "ok"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res.status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status()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продолжить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цепочку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вызовов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200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означает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Корректные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позволяют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frontend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отличать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ошибки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Первое знакомство с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69902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Middleware —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участвующая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обработке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между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моментом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получения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сервером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формированием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окончательного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() —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встроенный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middleware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Он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предназначен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разбора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JSON в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теле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входящих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запросов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сегодняшнем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приложении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с GET-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маршрутами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он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ещё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почти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нужен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работе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с POST и PATCH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запросами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станет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доступно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подробно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изучим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отдельной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лекции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Первое небольшое API целиком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import express from "express";
const app = express();
const PORT = 3000;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("Internet Shop API");
});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/status",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 status: "ok" });
});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app.listen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(PORT, () =&gt; {
  console.log(`Server: http://localhost:${PORT}`);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Цикл разработки и проверки Express-приложения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FD941E-187D-3F63-AA7B-C2901BA9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89888"/>
            <a:ext cx="10680192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80126"/>
            <a:ext cx="1024128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Дополните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собственными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маршрутами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проверьте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их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работу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08960"/>
            <a:ext cx="4800600" cy="164378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GET / —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вернуть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название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endParaRPr sz="16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GET /about —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вернуть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описание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проекта</a:t>
            </a:r>
            <a:endParaRPr sz="16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/status —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вернуть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JSON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со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статусом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сервера</a:t>
            </a:r>
            <a:endParaRPr sz="16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/products —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вернуть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минимум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двух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товаров</a:t>
            </a:r>
            <a:endParaRPr sz="16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82512" y="3108960"/>
            <a:ext cx="4800600" cy="138525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Приложение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запускается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без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ошибок</a:t>
            </a:r>
            <a:endParaRPr sz="16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URL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вызывает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свой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обработчик</a:t>
            </a:r>
            <a:endParaRPr sz="16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Текстовые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используют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res.send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API-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возвращают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033"/>
                </a:solidFill>
                <a:latin typeface="Aptos"/>
              </a:rPr>
              <a:t>корректный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1. Какую роль Express.js выполняет в Node.js-приложении?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2. Почему HTTP-сервер можно создать без Express.js?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3. Для чего выполняется команда npm init -y?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4. Что хранится в файле package.json?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5. Для чего в package.json используется поле "type": "module"?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6. Что создаёт вызов express()?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7. Для чего используется метод app.listen()?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8. Из каких основных частей состоит маршрут Express?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9. Чем отличаются объекты req и res?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10. Когда целесообразно использовать res.json()?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Express.js работает поверх Node.js и упрощает создание серверных приложений.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Express устанавливается как зависимость npm-проекта.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Объект app является центральным объектом Express-приложения.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app.listen() запускает HTTP-сервер и открывает порт для входящих соединений.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Маршрут связывает HTTP-метод и URL с функцией-обработчиком.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94741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req представляет запрос клиента, а res используется для формирования ответа.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49580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REST API обычно передаёт frontend структурированные данные в формате JSON.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3106</Words>
  <Application>Microsoft Office PowerPoint</Application>
  <PresentationFormat>Широкоэкранный</PresentationFormat>
  <Paragraphs>465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Express.js. Создание серверного приложения</dc:title>
  <dc:subject>Express.js: назначение, установка и создание первого серверного приложения</dc:subject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2026-09-20T08:58:03Z</dcterms:modified>
  <cp:category/>
</cp:coreProperties>
</file>